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charts/chart7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8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75" y="4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E8E8FF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E8E8FF"/>
                </a:solidFill>
                <a:latin typeface="Arial"/>
              </a:rPr>
              <a:t>Distribution of Restaurant Ratings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&lt;5</c:v>
                </c:pt>
                <c:pt idx="1">
                  <c:v>5–6</c:v>
                </c:pt>
                <c:pt idx="2">
                  <c:v>6–7</c:v>
                </c:pt>
                <c:pt idx="3">
                  <c:v>7–7.5</c:v>
                </c:pt>
                <c:pt idx="4">
                  <c:v>7.5–8</c:v>
                </c:pt>
                <c:pt idx="5">
                  <c:v>8–8.5</c:v>
                </c:pt>
                <c:pt idx="6">
                  <c:v>8.5–9</c:v>
                </c:pt>
                <c:pt idx="7">
                  <c:v>9–10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85</c:v>
                </c:pt>
                <c:pt idx="2">
                  <c:v>210</c:v>
                </c:pt>
                <c:pt idx="3">
                  <c:v>480</c:v>
                </c:pt>
                <c:pt idx="4">
                  <c:v>650</c:v>
                </c:pt>
                <c:pt idx="5">
                  <c:v>620</c:v>
                </c:pt>
                <c:pt idx="6">
                  <c:v>380</c:v>
                </c:pt>
                <c:pt idx="7">
                  <c:v>120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ACD-4556-B022-B7F2751693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A1A2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2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2121E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E8E8FF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E8E8FF"/>
                </a:solidFill>
                <a:latin typeface="Arial"/>
              </a:rPr>
              <a:t>Distribution of Price Levels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Restaurants</c:v>
                </c:pt>
              </c:strCache>
            </c:strRef>
          </c:tx>
          <c:spPr>
            <a:solidFill>
              <a:srgbClr val="6060A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6060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116-46AC-BDA6-830401C3AEC6}"/>
              </c:ext>
            </c:extLst>
          </c:dPt>
          <c:dPt>
            <c:idx val="1"/>
            <c:invertIfNegative val="0"/>
            <c:bubble3D val="0"/>
            <c:spPr>
              <a:solidFill>
                <a:srgbClr val="FF6B3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116-46AC-BDA6-830401C3AEC6}"/>
              </c:ext>
            </c:extLst>
          </c:dPt>
          <c:dPt>
            <c:idx val="2"/>
            <c:invertIfNegative val="0"/>
            <c:bubble3D val="0"/>
            <c:spPr>
              <a:solidFill>
                <a:srgbClr val="00D4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116-46AC-BDA6-830401C3AEC6}"/>
              </c:ext>
            </c:extLst>
          </c:dPt>
          <c:dPt>
            <c:idx val="3"/>
            <c:invertIfNegative val="0"/>
            <c:bubble3D val="0"/>
            <c:spPr>
              <a:solidFill>
                <a:srgbClr val="4ADE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116-46AC-BDA6-830401C3AEC6}"/>
              </c:ext>
            </c:extLst>
          </c:dPt>
          <c:dPt>
            <c:idx val="4"/>
            <c:invertIfNegative val="0"/>
            <c:bubble3D val="0"/>
            <c:spPr>
              <a:solidFill>
                <a:srgbClr val="F472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116-46AC-BDA6-830401C3AEC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E8E8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 (Unpriced)</c:v>
                </c:pt>
                <c:pt idx="1">
                  <c:v>1 ($)</c:v>
                </c:pt>
                <c:pt idx="2">
                  <c:v>2 ($$)</c:v>
                </c:pt>
                <c:pt idx="3">
                  <c:v>3 ($$$)</c:v>
                </c:pt>
                <c:pt idx="4">
                  <c:v>4 ($$$$)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820</c:v>
                </c:pt>
                <c:pt idx="1">
                  <c:v>2400</c:v>
                </c:pt>
                <c:pt idx="2">
                  <c:v>700</c:v>
                </c:pt>
                <c:pt idx="3">
                  <c:v>150</c:v>
                </c:pt>
                <c:pt idx="4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116-46AC-BDA6-830401C3AEC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A1A2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2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2121E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E8E8FF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E8E8FF"/>
                </a:solidFill>
                <a:latin typeface="Arial"/>
              </a:rPr>
              <a:t>Top 10 Restaurant Categories by Count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CE1-4C92-8650-730218FD4B2F}"/>
              </c:ext>
            </c:extLst>
          </c:dPt>
          <c:dPt>
            <c:idx val="1"/>
            <c:invertIfNegative val="0"/>
            <c:bubble3D val="0"/>
            <c:spPr>
              <a:solidFill>
                <a:srgbClr val="00D4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CE1-4C92-8650-730218FD4B2F}"/>
              </c:ext>
            </c:extLst>
          </c:dPt>
          <c:dPt>
            <c:idx val="2"/>
            <c:invertIfNegative val="0"/>
            <c:bubble3D val="0"/>
            <c:spPr>
              <a:solidFill>
                <a:srgbClr val="4ADE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CE1-4C92-8650-730218FD4B2F}"/>
              </c:ext>
            </c:extLst>
          </c:dPt>
          <c:dPt>
            <c:idx val="3"/>
            <c:invertIfNegative val="0"/>
            <c:bubble3D val="0"/>
            <c:spPr>
              <a:solidFill>
                <a:srgbClr val="FACC1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DCE1-4C92-8650-730218FD4B2F}"/>
              </c:ext>
            </c:extLst>
          </c:dPt>
          <c:dPt>
            <c:idx val="4"/>
            <c:invertIfNegative val="0"/>
            <c:bubble3D val="0"/>
            <c:spPr>
              <a:solidFill>
                <a:srgbClr val="F472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DCE1-4C92-8650-730218FD4B2F}"/>
              </c:ext>
            </c:extLst>
          </c:dPt>
          <c:dPt>
            <c:idx val="5"/>
            <c:invertIfNegative val="0"/>
            <c:bubble3D val="0"/>
            <c:spPr>
              <a:solidFill>
                <a:srgbClr val="A78B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DCE1-4C92-8650-730218FD4B2F}"/>
              </c:ext>
            </c:extLst>
          </c:dPt>
          <c:dPt>
            <c:idx val="6"/>
            <c:invertIfNegative val="0"/>
            <c:bubble3D val="0"/>
            <c:spPr>
              <a:solidFill>
                <a:srgbClr val="34D39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DCE1-4C92-8650-730218FD4B2F}"/>
              </c:ext>
            </c:extLst>
          </c:dPt>
          <c:dPt>
            <c:idx val="7"/>
            <c:invertIfNegative val="0"/>
            <c:bubble3D val="0"/>
            <c:spPr>
              <a:solidFill>
                <a:srgbClr val="FB718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DCE1-4C92-8650-730218FD4B2F}"/>
              </c:ext>
            </c:extLst>
          </c:dPt>
          <c:dPt>
            <c:idx val="8"/>
            <c:invertIfNegative val="0"/>
            <c:bubble3D val="0"/>
            <c:spPr>
              <a:solidFill>
                <a:srgbClr val="38BDF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DCE1-4C92-8650-730218FD4B2F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DCE1-4C92-8650-730218FD4B2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E8E8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Coffee Shop</c:v>
                </c:pt>
                <c:pt idx="1">
                  <c:v>Burger Joint</c:v>
                </c:pt>
                <c:pt idx="2">
                  <c:v>Restaurant</c:v>
                </c:pt>
                <c:pt idx="3">
                  <c:v>Middle Eastern</c:v>
                </c:pt>
                <c:pt idx="4">
                  <c:v>Dessert Shop</c:v>
                </c:pt>
                <c:pt idx="5">
                  <c:v>Breakfast Spot</c:v>
                </c:pt>
                <c:pt idx="6">
                  <c:v>Fast Food</c:v>
                </c:pt>
                <c:pt idx="7">
                  <c:v>Bakery</c:v>
                </c:pt>
                <c:pt idx="8">
                  <c:v>Tea Room</c:v>
                </c:pt>
                <c:pt idx="9">
                  <c:v>Shawarma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2050</c:v>
                </c:pt>
                <c:pt idx="1">
                  <c:v>640</c:v>
                </c:pt>
                <c:pt idx="2">
                  <c:v>460</c:v>
                </c:pt>
                <c:pt idx="3">
                  <c:v>420</c:v>
                </c:pt>
                <c:pt idx="4">
                  <c:v>350</c:v>
                </c:pt>
                <c:pt idx="5">
                  <c:v>340</c:v>
                </c:pt>
                <c:pt idx="6">
                  <c:v>310</c:v>
                </c:pt>
                <c:pt idx="7">
                  <c:v>295</c:v>
                </c:pt>
                <c:pt idx="8">
                  <c:v>280</c:v>
                </c:pt>
                <c:pt idx="9">
                  <c:v>270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DCE1-4C92-8650-730218FD4B2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1A1A2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2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2121E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E8E8FF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E8E8FF"/>
                </a:solidFill>
                <a:latin typeface="Arial"/>
              </a:rPr>
              <a:t>Top Rated Restaurant Categories (Average Rating)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Rating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311-4DCE-96F8-0DD4053B1563}"/>
              </c:ext>
            </c:extLst>
          </c:dPt>
          <c:dPt>
            <c:idx val="1"/>
            <c:invertIfNegative val="0"/>
            <c:bubble3D val="0"/>
            <c:spPr>
              <a:solidFill>
                <a:srgbClr val="00D4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311-4DCE-96F8-0DD4053B1563}"/>
              </c:ext>
            </c:extLst>
          </c:dPt>
          <c:dPt>
            <c:idx val="2"/>
            <c:invertIfNegative val="0"/>
            <c:bubble3D val="0"/>
            <c:spPr>
              <a:solidFill>
                <a:srgbClr val="4ADE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311-4DCE-96F8-0DD4053B1563}"/>
              </c:ext>
            </c:extLst>
          </c:dPt>
          <c:dPt>
            <c:idx val="3"/>
            <c:invertIfNegative val="0"/>
            <c:bubble3D val="0"/>
            <c:spPr>
              <a:solidFill>
                <a:srgbClr val="FACC1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311-4DCE-96F8-0DD4053B1563}"/>
              </c:ext>
            </c:extLst>
          </c:dPt>
          <c:dPt>
            <c:idx val="4"/>
            <c:invertIfNegative val="0"/>
            <c:bubble3D val="0"/>
            <c:spPr>
              <a:solidFill>
                <a:srgbClr val="F472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311-4DCE-96F8-0DD4053B1563}"/>
              </c:ext>
            </c:extLst>
          </c:dPt>
          <c:dPt>
            <c:idx val="5"/>
            <c:invertIfNegative val="0"/>
            <c:bubble3D val="0"/>
            <c:spPr>
              <a:solidFill>
                <a:srgbClr val="A78B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311-4DCE-96F8-0DD4053B1563}"/>
              </c:ext>
            </c:extLst>
          </c:dPt>
          <c:dPt>
            <c:idx val="6"/>
            <c:invertIfNegative val="0"/>
            <c:bubble3D val="0"/>
            <c:spPr>
              <a:solidFill>
                <a:srgbClr val="34D39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311-4DCE-96F8-0DD4053B1563}"/>
              </c:ext>
            </c:extLst>
          </c:dPt>
          <c:dPt>
            <c:idx val="7"/>
            <c:invertIfNegative val="0"/>
            <c:bubble3D val="0"/>
            <c:spPr>
              <a:solidFill>
                <a:srgbClr val="FB718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311-4DCE-96F8-0DD4053B1563}"/>
              </c:ext>
            </c:extLst>
          </c:dPt>
          <c:dPt>
            <c:idx val="8"/>
            <c:invertIfNegative val="0"/>
            <c:bubble3D val="0"/>
            <c:spPr>
              <a:solidFill>
                <a:srgbClr val="38BDF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311-4DCE-96F8-0DD4053B1563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A311-4DCE-96F8-0DD4053B156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E8E8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Restaurant &amp; Juice Bar</c:v>
                </c:pt>
                <c:pt idx="1">
                  <c:v>Gelato &amp; Ice Cream Parlor</c:v>
                </c:pt>
                <c:pt idx="2">
                  <c:v>Souvenir &amp; Coffee Shop</c:v>
                </c:pt>
                <c:pt idx="3">
                  <c:v>Juice Bar &amp; Snack Place</c:v>
                </c:pt>
                <c:pt idx="4">
                  <c:v>Korean &amp; Japanese Rest.</c:v>
                </c:pt>
                <c:pt idx="5">
                  <c:v>Cafe &amp; Bakery</c:v>
                </c:pt>
                <c:pt idx="6">
                  <c:v>Chicken &amp; Fast Food</c:v>
                </c:pt>
                <c:pt idx="7">
                  <c:v>Persian &amp; Middle Eastern</c:v>
                </c:pt>
                <c:pt idx="8">
                  <c:v>Filipino Restaurant</c:v>
                </c:pt>
                <c:pt idx="9">
                  <c:v>Thai Restaurant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9.4</c:v>
                </c:pt>
                <c:pt idx="1">
                  <c:v>9.1999999999999993</c:v>
                </c:pt>
                <c:pt idx="2">
                  <c:v>9.15</c:v>
                </c:pt>
                <c:pt idx="3">
                  <c:v>9.1</c:v>
                </c:pt>
                <c:pt idx="4">
                  <c:v>9.08</c:v>
                </c:pt>
                <c:pt idx="5">
                  <c:v>9.0500000000000007</c:v>
                </c:pt>
                <c:pt idx="6">
                  <c:v>9.02</c:v>
                </c:pt>
                <c:pt idx="7">
                  <c:v>9</c:v>
                </c:pt>
                <c:pt idx="8">
                  <c:v>8.98</c:v>
                </c:pt>
                <c:pt idx="9">
                  <c:v>8.9499999999999993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311-4DCE-96F8-0DD4053B156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1A1A2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2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2121E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E8E8FF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E8E8FF"/>
                </a:solidFill>
                <a:latin typeface="Arial"/>
              </a:rPr>
              <a:t>Top 10 Neighborhoods by Restaurant Count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Restaurants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ECB-48BF-8531-1269D73A897E}"/>
              </c:ext>
            </c:extLst>
          </c:dPt>
          <c:dPt>
            <c:idx val="1"/>
            <c:invertIfNegative val="0"/>
            <c:bubble3D val="0"/>
            <c:spPr>
              <a:solidFill>
                <a:srgbClr val="00D4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ECB-48BF-8531-1269D73A897E}"/>
              </c:ext>
            </c:extLst>
          </c:dPt>
          <c:dPt>
            <c:idx val="2"/>
            <c:invertIfNegative val="0"/>
            <c:bubble3D val="0"/>
            <c:spPr>
              <a:solidFill>
                <a:srgbClr val="4ADE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ECB-48BF-8531-1269D73A897E}"/>
              </c:ext>
            </c:extLst>
          </c:dPt>
          <c:dPt>
            <c:idx val="3"/>
            <c:invertIfNegative val="0"/>
            <c:bubble3D val="0"/>
            <c:spPr>
              <a:solidFill>
                <a:srgbClr val="FACC1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ECB-48BF-8531-1269D73A897E}"/>
              </c:ext>
            </c:extLst>
          </c:dPt>
          <c:dPt>
            <c:idx val="4"/>
            <c:invertIfNegative val="0"/>
            <c:bubble3D val="0"/>
            <c:spPr>
              <a:solidFill>
                <a:srgbClr val="F472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ECB-48BF-8531-1269D73A897E}"/>
              </c:ext>
            </c:extLst>
          </c:dPt>
          <c:dPt>
            <c:idx val="5"/>
            <c:invertIfNegative val="0"/>
            <c:bubble3D val="0"/>
            <c:spPr>
              <a:solidFill>
                <a:srgbClr val="A78B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ECB-48BF-8531-1269D73A897E}"/>
              </c:ext>
            </c:extLst>
          </c:dPt>
          <c:dPt>
            <c:idx val="6"/>
            <c:invertIfNegative val="0"/>
            <c:bubble3D val="0"/>
            <c:spPr>
              <a:solidFill>
                <a:srgbClr val="34D39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ECB-48BF-8531-1269D73A897E}"/>
              </c:ext>
            </c:extLst>
          </c:dPt>
          <c:dPt>
            <c:idx val="7"/>
            <c:invertIfNegative val="0"/>
            <c:bubble3D val="0"/>
            <c:spPr>
              <a:solidFill>
                <a:srgbClr val="FB718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ECB-48BF-8531-1269D73A897E}"/>
              </c:ext>
            </c:extLst>
          </c:dPt>
          <c:dPt>
            <c:idx val="8"/>
            <c:invertIfNegative val="0"/>
            <c:bubble3D val="0"/>
            <c:spPr>
              <a:solidFill>
                <a:srgbClr val="38BDF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0ECB-48BF-8531-1269D73A897E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0ECB-48BF-8531-1269D73A897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E8E8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Hiteen</c:v>
                </c:pt>
                <c:pt idx="1">
                  <c:v>Dhahrat Laban</c:v>
                </c:pt>
                <c:pt idx="2">
                  <c:v>Al Malqa</c:v>
                </c:pt>
                <c:pt idx="3">
                  <c:v>Qurtubah</c:v>
                </c:pt>
                <c:pt idx="4">
                  <c:v>Tuwaiq</c:v>
                </c:pt>
                <c:pt idx="5">
                  <c:v>Al Narjis</c:v>
                </c:pt>
                <c:pt idx="6">
                  <c:v>Al Sulaimaniyah</c:v>
                </c:pt>
                <c:pt idx="7">
                  <c:v>Al Yasmeen</c:v>
                </c:pt>
                <c:pt idx="8">
                  <c:v>Al Qairawan</c:v>
                </c:pt>
                <c:pt idx="9">
                  <c:v>Al Rimal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365</c:v>
                </c:pt>
                <c:pt idx="1">
                  <c:v>328</c:v>
                </c:pt>
                <c:pt idx="2">
                  <c:v>315</c:v>
                </c:pt>
                <c:pt idx="3">
                  <c:v>275</c:v>
                </c:pt>
                <c:pt idx="4">
                  <c:v>265</c:v>
                </c:pt>
                <c:pt idx="5">
                  <c:v>220</c:v>
                </c:pt>
                <c:pt idx="6">
                  <c:v>210</c:v>
                </c:pt>
                <c:pt idx="7">
                  <c:v>180</c:v>
                </c:pt>
                <c:pt idx="8">
                  <c:v>170</c:v>
                </c:pt>
                <c:pt idx="9">
                  <c:v>160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0ECB-48BF-8531-1269D73A897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1A1A2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2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2121E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E8E8FF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E8E8FF"/>
                </a:solidFill>
                <a:latin typeface="Arial"/>
              </a:rPr>
              <a:t>Median Rating by Price Level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Rating</c:v>
                </c:pt>
              </c:strCache>
            </c:strRef>
          </c:tx>
          <c:spPr>
            <a:solidFill>
              <a:srgbClr val="6060A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6060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A13-4AE6-9309-87509913D1F3}"/>
              </c:ext>
            </c:extLst>
          </c:dPt>
          <c:dPt>
            <c:idx val="1"/>
            <c:invertIfNegative val="0"/>
            <c:bubble3D val="0"/>
            <c:spPr>
              <a:solidFill>
                <a:srgbClr val="FF6B3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A13-4AE6-9309-87509913D1F3}"/>
              </c:ext>
            </c:extLst>
          </c:dPt>
          <c:dPt>
            <c:idx val="2"/>
            <c:invertIfNegative val="0"/>
            <c:bubble3D val="0"/>
            <c:spPr>
              <a:solidFill>
                <a:srgbClr val="00D4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A13-4AE6-9309-87509913D1F3}"/>
              </c:ext>
            </c:extLst>
          </c:dPt>
          <c:dPt>
            <c:idx val="3"/>
            <c:invertIfNegative val="0"/>
            <c:bubble3D val="0"/>
            <c:spPr>
              <a:solidFill>
                <a:srgbClr val="4ADE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A13-4AE6-9309-87509913D1F3}"/>
              </c:ext>
            </c:extLst>
          </c:dPt>
          <c:dPt>
            <c:idx val="4"/>
            <c:invertIfNegative val="0"/>
            <c:bubble3D val="0"/>
            <c:spPr>
              <a:solidFill>
                <a:srgbClr val="F472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A13-4AE6-9309-87509913D1F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E8E8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 (Unpriced)</c:v>
                </c:pt>
                <c:pt idx="1">
                  <c:v>1 ($)</c:v>
                </c:pt>
                <c:pt idx="2">
                  <c:v>2 ($$)</c:v>
                </c:pt>
                <c:pt idx="3">
                  <c:v>3 ($$$)</c:v>
                </c:pt>
                <c:pt idx="4">
                  <c:v>4 ($$$$)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7.95</c:v>
                </c:pt>
                <c:pt idx="1">
                  <c:v>7.92</c:v>
                </c:pt>
                <c:pt idx="2">
                  <c:v>7.88</c:v>
                </c:pt>
                <c:pt idx="3">
                  <c:v>7.72</c:v>
                </c:pt>
                <c:pt idx="4">
                  <c:v>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A13-4AE6-9309-87509913D1F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.5"/>
          <c:min val="7"/>
        </c:scaling>
        <c:delete val="0"/>
        <c:axPos val="l"/>
        <c:majorGridlines>
          <c:spPr>
            <a:ln w="12700" cap="flat">
              <a:solidFill>
                <a:srgbClr val="1A1A2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2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2121E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E8E8FF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E8E8FF"/>
                </a:solidFill>
                <a:latin typeface="Arial"/>
              </a:rPr>
              <a:t>Median Ratings Across Top 10 Neighborhoods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Rating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196-44BF-9743-D735C94F48C3}"/>
              </c:ext>
            </c:extLst>
          </c:dPt>
          <c:dPt>
            <c:idx val="1"/>
            <c:invertIfNegative val="0"/>
            <c:bubble3D val="0"/>
            <c:spPr>
              <a:solidFill>
                <a:srgbClr val="00D4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196-44BF-9743-D735C94F48C3}"/>
              </c:ext>
            </c:extLst>
          </c:dPt>
          <c:dPt>
            <c:idx val="2"/>
            <c:invertIfNegative val="0"/>
            <c:bubble3D val="0"/>
            <c:spPr>
              <a:solidFill>
                <a:srgbClr val="4ADE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196-44BF-9743-D735C94F48C3}"/>
              </c:ext>
            </c:extLst>
          </c:dPt>
          <c:dPt>
            <c:idx val="3"/>
            <c:invertIfNegative val="0"/>
            <c:bubble3D val="0"/>
            <c:spPr>
              <a:solidFill>
                <a:srgbClr val="FACC1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196-44BF-9743-D735C94F48C3}"/>
              </c:ext>
            </c:extLst>
          </c:dPt>
          <c:dPt>
            <c:idx val="4"/>
            <c:invertIfNegative val="0"/>
            <c:bubble3D val="0"/>
            <c:spPr>
              <a:solidFill>
                <a:srgbClr val="F472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196-44BF-9743-D735C94F48C3}"/>
              </c:ext>
            </c:extLst>
          </c:dPt>
          <c:dPt>
            <c:idx val="5"/>
            <c:invertIfNegative val="0"/>
            <c:bubble3D val="0"/>
            <c:spPr>
              <a:solidFill>
                <a:srgbClr val="A78B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196-44BF-9743-D735C94F48C3}"/>
              </c:ext>
            </c:extLst>
          </c:dPt>
          <c:dPt>
            <c:idx val="6"/>
            <c:invertIfNegative val="0"/>
            <c:bubble3D val="0"/>
            <c:spPr>
              <a:solidFill>
                <a:srgbClr val="34D39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196-44BF-9743-D735C94F48C3}"/>
              </c:ext>
            </c:extLst>
          </c:dPt>
          <c:dPt>
            <c:idx val="7"/>
            <c:invertIfNegative val="0"/>
            <c:bubble3D val="0"/>
            <c:spPr>
              <a:solidFill>
                <a:srgbClr val="FB718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196-44BF-9743-D735C94F48C3}"/>
              </c:ext>
            </c:extLst>
          </c:dPt>
          <c:dPt>
            <c:idx val="8"/>
            <c:invertIfNegative val="0"/>
            <c:bubble3D val="0"/>
            <c:spPr>
              <a:solidFill>
                <a:srgbClr val="38BDF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196-44BF-9743-D735C94F48C3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A196-44BF-9743-D735C94F48C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E8E8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Al Qairawan</c:v>
                </c:pt>
                <c:pt idx="1">
                  <c:v>Al Malqa</c:v>
                </c:pt>
                <c:pt idx="2">
                  <c:v>Al Narjis</c:v>
                </c:pt>
                <c:pt idx="3">
                  <c:v>Al Sulaimaniyah</c:v>
                </c:pt>
                <c:pt idx="4">
                  <c:v>Hiteen</c:v>
                </c:pt>
                <c:pt idx="5">
                  <c:v>Dhahrat Laban</c:v>
                </c:pt>
                <c:pt idx="6">
                  <c:v>Al Yasmeen</c:v>
                </c:pt>
                <c:pt idx="7">
                  <c:v>Al Rimal</c:v>
                </c:pt>
                <c:pt idx="8">
                  <c:v>Tuwaiq</c:v>
                </c:pt>
                <c:pt idx="9">
                  <c:v>Qurtubah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8.1999999999999993</c:v>
                </c:pt>
                <c:pt idx="1">
                  <c:v>8.18</c:v>
                </c:pt>
                <c:pt idx="2">
                  <c:v>8.0500000000000007</c:v>
                </c:pt>
                <c:pt idx="3">
                  <c:v>8</c:v>
                </c:pt>
                <c:pt idx="4">
                  <c:v>7.9</c:v>
                </c:pt>
                <c:pt idx="5">
                  <c:v>7.88</c:v>
                </c:pt>
                <c:pt idx="6">
                  <c:v>7.85</c:v>
                </c:pt>
                <c:pt idx="7">
                  <c:v>7.82</c:v>
                </c:pt>
                <c:pt idx="8">
                  <c:v>7.8</c:v>
                </c:pt>
                <c:pt idx="9">
                  <c:v>7.78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196-44BF-9743-D735C94F48C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.4"/>
          <c:min val="7.5"/>
        </c:scaling>
        <c:delete val="0"/>
        <c:axPos val="l"/>
        <c:majorGridlines>
          <c:spPr>
            <a:ln w="12700" cap="flat">
              <a:solidFill>
                <a:srgbClr val="1A1A2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2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2121E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E8E8FF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E8E8FF"/>
                </a:solidFill>
                <a:latin typeface="Arial"/>
              </a:rPr>
              <a:t>Feature Importance (Random Forest)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F472B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72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283-49A5-A789-98E0D2159F2A}"/>
              </c:ext>
            </c:extLst>
          </c:dPt>
          <c:dPt>
            <c:idx val="1"/>
            <c:invertIfNegative val="0"/>
            <c:bubble3D val="0"/>
            <c:spPr>
              <a:solidFill>
                <a:srgbClr val="FACC1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283-49A5-A789-98E0D2159F2A}"/>
              </c:ext>
            </c:extLst>
          </c:dPt>
          <c:dPt>
            <c:idx val="2"/>
            <c:invertIfNegative val="0"/>
            <c:bubble3D val="0"/>
            <c:spPr>
              <a:solidFill>
                <a:srgbClr val="4ADE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283-49A5-A789-98E0D2159F2A}"/>
              </c:ext>
            </c:extLst>
          </c:dPt>
          <c:dPt>
            <c:idx val="3"/>
            <c:invertIfNegative val="0"/>
            <c:bubble3D val="0"/>
            <c:spPr>
              <a:solidFill>
                <a:srgbClr val="00D4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283-49A5-A789-98E0D2159F2A}"/>
              </c:ext>
            </c:extLst>
          </c:dPt>
          <c:dPt>
            <c:idx val="4"/>
            <c:invertIfNegative val="0"/>
            <c:bubble3D val="0"/>
            <c:spPr>
              <a:solidFill>
                <a:srgbClr val="FF6B3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283-49A5-A789-98E0D2159F2A}"/>
              </c:ext>
            </c:extLst>
          </c:dPt>
          <c:dPt>
            <c:idx val="5"/>
            <c:invertIfNegative val="0"/>
            <c:bubble3D val="0"/>
            <c:spPr>
              <a:solidFill>
                <a:srgbClr val="FF6B3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283-49A5-A789-98E0D2159F2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E8E8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total_tips</c:v>
                </c:pt>
                <c:pt idx="1">
                  <c:v>rating</c:v>
                </c:pt>
                <c:pt idx="2">
                  <c:v>total_ratings</c:v>
                </c:pt>
                <c:pt idx="3">
                  <c:v>category</c:v>
                </c:pt>
                <c:pt idx="4">
                  <c:v>neighborhoods</c:v>
                </c:pt>
                <c:pt idx="5">
                  <c:v>total_photos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0.08</c:v>
                </c:pt>
                <c:pt idx="1">
                  <c:v>0.12</c:v>
                </c:pt>
                <c:pt idx="2">
                  <c:v>0.15</c:v>
                </c:pt>
                <c:pt idx="3">
                  <c:v>0.2</c:v>
                </c:pt>
                <c:pt idx="4">
                  <c:v>0.21</c:v>
                </c:pt>
                <c:pt idx="5">
                  <c:v>0.24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283-49A5-A789-98E0D2159F2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1A1A2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1A1A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060A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2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2121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2294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07070D"/>
          </a:solidFill>
          <a:ln w="12700">
            <a:solidFill>
              <a:srgbClr val="07070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583680" y="0"/>
            <a:ext cx="36576" cy="5143500"/>
          </a:xfrm>
          <a:prstGeom prst="rect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12280" y="45720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0" y="45720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818120" y="45720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321040" y="45720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12280" y="118872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0" y="118872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818120" y="118872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321040" y="118872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812280" y="192024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0" y="192024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818120" y="192024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21040" y="192024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812280" y="265176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315200" y="265176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818120" y="265176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321040" y="265176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812280" y="338328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315200" y="338328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818120" y="338328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321040" y="338328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812280" y="411480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315200" y="411480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818120" y="411480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321040" y="4114800"/>
            <a:ext cx="73152" cy="73152"/>
          </a:xfrm>
          <a:prstGeom prst="ellipse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4320" y="64008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6B35"/>
                </a:solidFill>
              </a:rPr>
              <a:t>UNIT 3 FINAL PROJECT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1005840"/>
            <a:ext cx="6126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Riyadh Restaurant</a:t>
            </a:r>
            <a:endParaRPr lang="en-US" sz="4600" dirty="0"/>
          </a:p>
        </p:txBody>
      </p:sp>
      <p:sp>
        <p:nvSpPr>
          <p:cNvPr id="31" name="Text 29"/>
          <p:cNvSpPr/>
          <p:nvPr/>
        </p:nvSpPr>
        <p:spPr>
          <a:xfrm>
            <a:off x="274320" y="1874520"/>
            <a:ext cx="6126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 Data Analysis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274320" y="260604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060A0"/>
                </a:solidFill>
              </a:rPr>
              <a:t>A comprehensive study of 5,000+ food &amp; dining venues across Riyadh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060A0"/>
                </a:solidFill>
              </a:rPr>
              <a:t>using Foursquare data sourced from Kaggle.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3520440"/>
            <a:ext cx="1371600" cy="7772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74320" y="35661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5,000+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27432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060A0"/>
                </a:solidFill>
              </a:rPr>
              <a:t>Venues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783080" y="3520440"/>
            <a:ext cx="1371600" cy="7772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783080" y="35661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27K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78308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060A0"/>
                </a:solidFill>
              </a:rPr>
              <a:t>Raw Records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291840" y="3520440"/>
            <a:ext cx="1371600" cy="7772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291840" y="35661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72%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32918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060A0"/>
                </a:solidFill>
              </a:rPr>
              <a:t>Best Model Acc.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800600" y="3520440"/>
            <a:ext cx="1371600" cy="7772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800600" y="35661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8006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060A0"/>
                </a:solidFill>
              </a:rPr>
              <a:t>Top Categories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858000" y="274320"/>
            <a:ext cx="20116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28"/>
            </a:solidFill>
            <a:prstDash val="solid"/>
          </a:ln>
          <a:effectLst>
            <a:softEdge rad="127000"/>
          </a:effectLst>
        </p:spPr>
        <p:txBody>
          <a:bodyPr/>
          <a:lstStyle/>
          <a:p>
            <a:endParaRPr lang="en-US"/>
          </a:p>
        </p:txBody>
      </p:sp>
      <p:pic>
        <p:nvPicPr>
          <p:cNvPr id="4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320040"/>
            <a:ext cx="1920240" cy="1920240"/>
          </a:xfrm>
          <a:prstGeom prst="rect">
            <a:avLst/>
          </a:prstGeom>
        </p:spPr>
      </p:pic>
      <p:sp>
        <p:nvSpPr>
          <p:cNvPr id="47" name="Shape 44"/>
          <p:cNvSpPr/>
          <p:nvPr/>
        </p:nvSpPr>
        <p:spPr>
          <a:xfrm>
            <a:off x="274320" y="4224528"/>
            <a:ext cx="6126480" cy="804672"/>
          </a:xfrm>
          <a:prstGeom prst="rect">
            <a:avLst/>
          </a:prstGeom>
          <a:solidFill>
            <a:srgbClr val="0F0F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274320" y="4224528"/>
            <a:ext cx="45720" cy="80467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384048" y="426110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060A0"/>
                </a:solidFill>
              </a:rPr>
              <a:t>Student</a:t>
            </a:r>
            <a:endParaRPr lang="en-US" sz="750" dirty="0"/>
          </a:p>
        </p:txBody>
      </p:sp>
      <p:sp>
        <p:nvSpPr>
          <p:cNvPr id="50" name="Text 47"/>
          <p:cNvSpPr/>
          <p:nvPr/>
        </p:nvSpPr>
        <p:spPr>
          <a:xfrm>
            <a:off x="384048" y="446227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Abdulrahman Bajunaid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3246120" y="4279392"/>
            <a:ext cx="0" cy="658368"/>
          </a:xfrm>
          <a:prstGeom prst="line">
            <a:avLst/>
          </a:prstGeom>
          <a:noFill/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9"/>
          <p:cNvSpPr/>
          <p:nvPr/>
        </p:nvSpPr>
        <p:spPr>
          <a:xfrm>
            <a:off x="3429000" y="4261104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060A0"/>
                </a:solidFill>
              </a:rPr>
              <a:t>Instructor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3429000" y="446227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FF"/>
                </a:solidFill>
              </a:rPr>
              <a:t>Khulud Alshammari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5303520" y="4279392"/>
            <a:ext cx="0" cy="658368"/>
          </a:xfrm>
          <a:prstGeom prst="line">
            <a:avLst/>
          </a:prstGeom>
          <a:noFill/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/>
          <p:nvPr/>
        </p:nvSpPr>
        <p:spPr>
          <a:xfrm>
            <a:off x="5486400" y="426110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060A0"/>
                </a:solidFill>
              </a:rPr>
              <a:t>Teaching Assistant</a:t>
            </a:r>
            <a:endParaRPr lang="en-US" sz="750" dirty="0"/>
          </a:p>
        </p:txBody>
      </p:sp>
      <p:sp>
        <p:nvSpPr>
          <p:cNvPr id="56" name="Text 53"/>
          <p:cNvSpPr/>
          <p:nvPr/>
        </p:nvSpPr>
        <p:spPr>
          <a:xfrm>
            <a:off x="5486400" y="446227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DE80"/>
                </a:solidFill>
              </a:rPr>
              <a:t>Abdullah Alharbi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274320" y="49194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2A2A40"/>
                </a:solidFill>
              </a:rPr>
              <a:t>Tuwaiq Academy  ·  Unit 3 Final Project  ·  Dataset: mohammedaldakhil/27k-riyadh-places-raw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1828800" cy="2286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28600" y="868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6B35"/>
                </a:solidFill>
              </a:rPr>
              <a:t>SOURCE &amp; SCOPE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28600" y="1188720"/>
            <a:ext cx="3931920" cy="45720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11887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6B35"/>
                </a:solidFill>
              </a:rPr>
              <a:t>📦 Source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7160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</a:rPr>
              <a:t>Kaggle — mohammedaldakhil/27k-riyadh-places-raw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8600" y="1737360"/>
            <a:ext cx="3931920" cy="45720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7373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6B35"/>
                </a:solidFill>
              </a:rPr>
              <a:t>🗃 Raw Size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7160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</a:rPr>
              <a:t>27,000+ Riyadh places (all categories)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2286000"/>
            <a:ext cx="3931920" cy="45720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2860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6B35"/>
                </a:solidFill>
              </a:rPr>
              <a:t>🍽 Filtered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371600" y="2286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</a:rPr>
              <a:t>~5,000 food &amp; dining venues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8600" y="2834640"/>
            <a:ext cx="3931920" cy="45720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8346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6B35"/>
                </a:solidFill>
              </a:rPr>
              <a:t>📍 Location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71600" y="28346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</a:rPr>
              <a:t>Riyadh, Saudi Arabia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28600" y="3383280"/>
            <a:ext cx="3931920" cy="45720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0040" y="3383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6B35"/>
                </a:solidFill>
              </a:rPr>
              <a:t>🔑 Identifier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71600" y="3383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</a:rPr>
              <a:t>fsq_id (Foursquare unique ID)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28600" y="3931920"/>
            <a:ext cx="3931920" cy="45720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0040" y="3931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6B35"/>
                </a:solidFill>
              </a:rPr>
              <a:t>📅 Collected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371600" y="3931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</a:rPr>
              <a:t>Foursquare API — date_created field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343400" y="868680"/>
            <a:ext cx="1828800" cy="2286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343400" y="868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6B35"/>
                </a:solidFill>
              </a:rPr>
              <a:t>KEY COLUMNS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343400" y="1188720"/>
            <a:ext cx="4480560" cy="320040"/>
          </a:xfrm>
          <a:prstGeom prst="rect">
            <a:avLst/>
          </a:prstGeom>
          <a:solidFill>
            <a:srgbClr val="1212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434840" y="11887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0936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Venue display name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343400" y="1545336"/>
            <a:ext cx="4480560" cy="320040"/>
          </a:xfrm>
          <a:prstGeom prst="rect">
            <a:avLst/>
          </a:prstGeom>
          <a:solidFill>
            <a:srgbClr val="0F0F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434840" y="154533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309360" y="154533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Type of food venue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343400" y="1901952"/>
            <a:ext cx="4480560" cy="320040"/>
          </a:xfrm>
          <a:prstGeom prst="rect">
            <a:avLst/>
          </a:prstGeom>
          <a:solidFill>
            <a:srgbClr val="1212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434840" y="190195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latitude / longitude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309360" y="190195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GPS coordinates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343400" y="2258568"/>
            <a:ext cx="4480560" cy="320040"/>
          </a:xfrm>
          <a:prstGeom prst="rect">
            <a:avLst/>
          </a:prstGeom>
          <a:solidFill>
            <a:srgbClr val="0F0F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434840" y="225856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rating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309360" y="225856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Foursquare score (0–10)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343400" y="2615184"/>
            <a:ext cx="4480560" cy="320040"/>
          </a:xfrm>
          <a:prstGeom prst="rect">
            <a:avLst/>
          </a:prstGeom>
          <a:solidFill>
            <a:srgbClr val="1212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434840" y="261518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309360" y="2615184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Dollar signs: $, $$, $$$, $$$$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343400" y="2971800"/>
            <a:ext cx="4480560" cy="320040"/>
          </a:xfrm>
          <a:prstGeom prst="rect">
            <a:avLst/>
          </a:prstGeom>
          <a:solidFill>
            <a:srgbClr val="0F0F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434840" y="2971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total_ratings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30936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Number of user ratings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343400" y="3328416"/>
            <a:ext cx="4480560" cy="320040"/>
          </a:xfrm>
          <a:prstGeom prst="rect">
            <a:avLst/>
          </a:prstGeom>
          <a:solidFill>
            <a:srgbClr val="1212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434840" y="33284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total_photos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309360" y="33284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Photo count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343400" y="3685032"/>
            <a:ext cx="4480560" cy="320040"/>
          </a:xfrm>
          <a:prstGeom prst="rect">
            <a:avLst/>
          </a:prstGeom>
          <a:solidFill>
            <a:srgbClr val="0F0F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434840" y="368503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total_tips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309360" y="368503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Tip/review count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343400" y="4041648"/>
            <a:ext cx="4480560" cy="320040"/>
          </a:xfrm>
          <a:prstGeom prst="rect">
            <a:avLst/>
          </a:prstGeom>
          <a:solidFill>
            <a:srgbClr val="1212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434840" y="4041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neighborhoods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6309360" y="404164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Assigned district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343400" y="4398264"/>
            <a:ext cx="4480560" cy="320040"/>
          </a:xfrm>
          <a:prstGeom prst="rect">
            <a:avLst/>
          </a:prstGeom>
          <a:solidFill>
            <a:srgbClr val="0F0F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434840" y="439826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price_level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309360" y="4398264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Encoded 0–4 from price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Cleaning &amp; Preparation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822960"/>
            <a:ext cx="4206240" cy="1261872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457200" cy="4572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28600" y="822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35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8686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FF"/>
                </a:solidFill>
              </a:rPr>
              <a:t>Handle Empty Lists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1752" y="1207008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tips and tastes stored '[]' as string — not counted as null by default. Replaced with NaN.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1752" y="1527048"/>
            <a:ext cx="4059936" cy="457200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93192" y="1527048"/>
            <a:ext cx="3922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df['tips'] = df['tips'].replace('[]', np.nan)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df['tastes'] = df['tastes'].replace('[]', np.nan)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28600" y="2212848"/>
            <a:ext cx="4206240" cy="1261872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28600" y="2212848"/>
            <a:ext cx="457200" cy="457200"/>
          </a:xfrm>
          <a:prstGeom prst="rect">
            <a:avLst/>
          </a:prstGeom>
          <a:solidFill>
            <a:srgbClr val="00D4FF">
              <a:alpha val="20000"/>
            </a:srgbClr>
          </a:solidFill>
          <a:ln w="635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28600" y="22128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585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FF"/>
                </a:solidFill>
              </a:rPr>
              <a:t>Fix Negative Photos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" y="2596896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total_photos min was –16 which is logically impossible. Clipped to zero.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1752" y="2916936"/>
            <a:ext cx="4059936" cy="457200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93192" y="2916936"/>
            <a:ext cx="3922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df.loc[df['total_photos'] &lt; 0, 'total_photos'] = 0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28600" y="3602736"/>
            <a:ext cx="4206240" cy="1261872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28600" y="3602736"/>
            <a:ext cx="457200" cy="457200"/>
          </a:xfrm>
          <a:prstGeom prst="rect">
            <a:avLst/>
          </a:prstGeom>
          <a:solidFill>
            <a:srgbClr val="4ADE80">
              <a:alpha val="20000"/>
            </a:srgbClr>
          </a:solidFill>
          <a:ln w="635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28600" y="36027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DE80"/>
                </a:solidFill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364845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FF"/>
                </a:solidFill>
              </a:rPr>
              <a:t>Fill Zero Tips/Photos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01752" y="3986784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Missing total_tips and total_photos treated as 0 (no activity = zero count).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01752" y="4306824"/>
            <a:ext cx="4059936" cy="457200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93192" y="4306824"/>
            <a:ext cx="3922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df['total_tips'] = df['total_tips'].fillna(0)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df['total_photos'] = df['total_photos'].fillna(0)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663440" y="822960"/>
            <a:ext cx="4206240" cy="1261872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63440" y="822960"/>
            <a:ext cx="457200" cy="457200"/>
          </a:xfrm>
          <a:prstGeom prst="rect">
            <a:avLst/>
          </a:prstGeom>
          <a:solidFill>
            <a:srgbClr val="FACC15">
              <a:alpha val="20000"/>
            </a:srgbClr>
          </a:solidFill>
          <a:ln w="63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63440" y="822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ACC15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66360" y="8686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FF"/>
                </a:solidFill>
              </a:rPr>
              <a:t>Filter Food Venues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36592" y="1207008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Filtered 27K records to ~5,000 using 35 food-related keywords in the category column.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736592" y="1527048"/>
            <a:ext cx="4059936" cy="457200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28032" y="1527048"/>
            <a:ext cx="3922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food_kw = ['restaurant','cafe','coffee','pizza',...]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df_r = df[df['category'].str.contains('|'.join(food_kw))]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663440" y="2212848"/>
            <a:ext cx="4206240" cy="1261872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663440" y="2212848"/>
            <a:ext cx="457200" cy="457200"/>
          </a:xfrm>
          <a:prstGeom prst="rect">
            <a:avLst/>
          </a:prstGeom>
          <a:solidFill>
            <a:srgbClr val="F472B6">
              <a:alpha val="20000"/>
            </a:srgbClr>
          </a:solidFill>
          <a:ln w="635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663440" y="22128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72B6"/>
                </a:solidFill>
              </a:rPr>
              <a:t>05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166360" y="22585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FF"/>
                </a:solidFill>
              </a:rPr>
              <a:t>Encode Price Level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2596896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Counted '$' signs in price column to create numeric price_level (0–4).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36592" y="2916936"/>
            <a:ext cx="4059936" cy="457200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28032" y="2916936"/>
            <a:ext cx="3922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df_r['price_level'] = df['price'].str.count(r'\$')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663440" y="3602736"/>
            <a:ext cx="4206240" cy="1261872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663440" y="3602736"/>
            <a:ext cx="457200" cy="457200"/>
          </a:xfrm>
          <a:prstGeom prst="rect">
            <a:avLst/>
          </a:prstGeom>
          <a:solidFill>
            <a:srgbClr val="A78BFA">
              <a:alpha val="20000"/>
            </a:srgbClr>
          </a:solidFill>
          <a:ln w="63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663440" y="36027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78BFA"/>
                </a:solidFill>
              </a:rPr>
              <a:t>06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66360" y="364845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FF"/>
                </a:solidFill>
              </a:rPr>
              <a:t>Spatial Join — Neighborhoods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736592" y="3986784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Used GeoPandas sjoin with Riyadh districts GeoJSON. Fallback nearest-neighbor for unmatched.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736592" y="4306824"/>
            <a:ext cx="4059936" cy="457200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828032" y="4306824"/>
            <a:ext cx="3922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joined = gpd.sjoin(gdf, riyadh_districts, how='left', predicate='within')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Fallback: gpd.sjoin_nearest(...)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· Rating Distribution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5303520" cy="356616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630520770"/>
              </p:ext>
            </p:extLst>
          </p:nvPr>
        </p:nvGraphicFramePr>
        <p:xfrm>
          <a:off x="497771" y="923544"/>
          <a:ext cx="4765177" cy="31272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868680"/>
            <a:ext cx="1828800" cy="2286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760720" y="868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6B35"/>
                </a:solidFill>
              </a:rPr>
              <a:t>KEY STATISTICS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760720" y="1188720"/>
            <a:ext cx="3108960" cy="68580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0" y="1216152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7.82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903720" y="1261872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60A0"/>
                </a:solidFill>
              </a:rPr>
              <a:t>Mean Rating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760720" y="1993392"/>
            <a:ext cx="3108960" cy="68580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760720" y="2020824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7.90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903720" y="2066544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60A0"/>
                </a:solidFill>
              </a:rPr>
              <a:t>Median Rating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760720" y="2798064"/>
            <a:ext cx="3108960" cy="68580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0" y="2825496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7.5–8.5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903720" y="2871216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60A0"/>
                </a:solidFill>
              </a:rPr>
              <a:t>Most common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760720" y="3602736"/>
            <a:ext cx="3108960" cy="68580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760720" y="3630168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472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 3%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903720" y="3675888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60A0"/>
                </a:solidFill>
              </a:rPr>
              <a:t>Below 6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228600" y="4572000"/>
            <a:ext cx="36576" cy="4114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265176" y="4572000"/>
            <a:ext cx="8650224" cy="411480"/>
          </a:xfrm>
          <a:prstGeom prst="rect">
            <a:avLst/>
          </a:prstGeom>
          <a:solidFill>
            <a:srgbClr val="0F0F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365760" y="457200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090C8"/>
                </a:solidFill>
              </a:rPr>
              <a:t>Most restaurants in Riyadh are rated between 7 and 9, with mean 7.82 and median 7.90 — a balanced distribution. Ratings below 6 are uncommon, suggesting the city's dining scene generally maintains above-average quality.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228600" y="4133088"/>
            <a:ext cx="8686800" cy="384048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320040" y="4133088"/>
            <a:ext cx="8549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sns.histplot(df_restaurants['rating'], bins=20, kde=True)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plt.axvline(mean_rating, color='red', linestyle='--', label=f'Mean: {mean_rating:.2f}')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plt.axvline(median_rating, color='blue', linestyle='-', label=f'Median: {median_rating:.2f}')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· Price Level Distribution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5303520" cy="356616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248108741"/>
              </p:ext>
            </p:extLst>
          </p:nvPr>
        </p:nvGraphicFramePr>
        <p:xfrm>
          <a:off x="320040" y="790830"/>
          <a:ext cx="512064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868680"/>
            <a:ext cx="1828800" cy="2286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760720" y="868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6B35"/>
                </a:solidFill>
              </a:rPr>
              <a:t>BREAKDOWN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760720" y="1188720"/>
            <a:ext cx="3108960" cy="56692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760720" y="1188720"/>
            <a:ext cx="54864" cy="566928"/>
          </a:xfrm>
          <a:prstGeom prst="rect">
            <a:avLst/>
          </a:prstGeom>
          <a:solidFill>
            <a:srgbClr val="6060A0"/>
          </a:solidFill>
          <a:ln w="12700">
            <a:solidFill>
              <a:srgbClr val="6060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897880" y="121615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</a:rPr>
              <a:t>0 — Unpriced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955280" y="1216152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060A0"/>
                </a:solidFill>
              </a:rPr>
              <a:t>~820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760720" y="1847088"/>
            <a:ext cx="3108960" cy="56692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760720" y="1847088"/>
            <a:ext cx="54864" cy="5669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897880" y="18745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</a:rPr>
              <a:t>1 — $ (Budget)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955280" y="187452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35"/>
                </a:solidFill>
              </a:rPr>
              <a:t>~2,400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760720" y="2505456"/>
            <a:ext cx="3108960" cy="56692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5760720" y="2505456"/>
            <a:ext cx="54864" cy="56692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897880" y="253288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</a:rPr>
              <a:t>2 — $$ (Mid)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955280" y="2532888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4FF"/>
                </a:solidFill>
              </a:rPr>
              <a:t>~700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760720" y="3163824"/>
            <a:ext cx="3108960" cy="56692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5760720" y="3163824"/>
            <a:ext cx="54864" cy="56692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897880" y="3191256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</a:rPr>
              <a:t>3 — $$$ (Premium)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955280" y="3191256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ADE80"/>
                </a:solidFill>
              </a:rPr>
              <a:t>~150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760720" y="3822192"/>
            <a:ext cx="3108960" cy="56692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760720" y="3822192"/>
            <a:ext cx="54864" cy="566928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897880" y="3849624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</a:rPr>
              <a:t>4 — $$$$ (Luxury)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955280" y="3849624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72B6"/>
                </a:solidFill>
              </a:rPr>
              <a:t>&lt;10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28600" y="4572000"/>
            <a:ext cx="36576" cy="4114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265176" y="4572000"/>
            <a:ext cx="8650224" cy="411480"/>
          </a:xfrm>
          <a:prstGeom prst="rect">
            <a:avLst/>
          </a:prstGeom>
          <a:solidFill>
            <a:srgbClr val="0F0F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365760" y="457200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090C8"/>
                </a:solidFill>
              </a:rPr>
              <a:t>Price level 1 ($) dominates with ~2,400 restaurants — nearly 3× any other tier. Premium dining ($$$ and $$$$) represents less than 4% of all venues. Riyadh's food scene is strongly skewed toward affordable dining.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228600" y="4284501"/>
            <a:ext cx="8686800" cy="292608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320040" y="4206240"/>
            <a:ext cx="8549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sns.countplot(x='price_level', data=df_restaurants)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· Top 10 Restaurant Categories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8686800" cy="35204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473189785"/>
              </p:ext>
            </p:extLst>
          </p:nvPr>
        </p:nvGraphicFramePr>
        <p:xfrm>
          <a:off x="320040" y="848496"/>
          <a:ext cx="85039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228600" y="4572000"/>
            <a:ext cx="36576" cy="4114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65176" y="4572000"/>
            <a:ext cx="8650224" cy="411480"/>
          </a:xfrm>
          <a:prstGeom prst="rect">
            <a:avLst/>
          </a:prstGeom>
          <a:solidFill>
            <a:srgbClr val="0F0F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65760" y="457200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090C8"/>
                </a:solidFill>
              </a:rPr>
              <a:t>Coffee Shop is the most common category with ~2,050 venues — more than 3× Burger Joint (~640). Restaurant and Middle Eastern Restaurant follow at ~460 and ~420. The dominance of Coffee Shops highlights the strong café culture in Riyadh.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28600" y="4206240"/>
            <a:ext cx="8686800" cy="292608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20040" y="4206240"/>
            <a:ext cx="8549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top_categories = df_restaurants['category'].value_counts().head(10)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sns.barplot(y=top_categories.index, x=top_categories.values)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· Top Rated Restaurant Categories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8686800" cy="35204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496729696"/>
              </p:ext>
            </p:extLst>
          </p:nvPr>
        </p:nvGraphicFramePr>
        <p:xfrm>
          <a:off x="320040" y="818841"/>
          <a:ext cx="85039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228600" y="4572000"/>
            <a:ext cx="36576" cy="4114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65176" y="4572000"/>
            <a:ext cx="8650224" cy="411480"/>
          </a:xfrm>
          <a:prstGeom prst="rect">
            <a:avLst/>
          </a:prstGeom>
          <a:solidFill>
            <a:srgbClr val="0F0F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65760" y="457200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090C8"/>
                </a:solidFill>
              </a:rPr>
              <a:t>The top-rated category is Restaurant &amp; Juice Bar at ~9.4. All 10 categories score between 9.0–9.4 — a very narrow range. Every top-rated category is a multi-tag combination, suggesting venues offering more than one concept tend to rate higher. Popularity ≠ quality.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28600" y="4206240"/>
            <a:ext cx="8686800" cy="292608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20040" y="4206240"/>
            <a:ext cx="8549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category_rating = df_restaurants.groupby('category')['rating'].mean().sort_values(ascending=False).head(10)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sns.barplot(y=category_rating.index, x=category_rating.values)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· Top Neighborhoods by Restaurant Count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5760720" cy="35204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975284378"/>
              </p:ext>
            </p:extLst>
          </p:nvPr>
        </p:nvGraphicFramePr>
        <p:xfrm>
          <a:off x="320040" y="844377"/>
          <a:ext cx="557784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172200" y="868680"/>
            <a:ext cx="1828800" cy="2286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172200" y="868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6B35"/>
                </a:solidFill>
              </a:rPr>
              <a:t>TOP 3 INSIGHTS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172200" y="1188720"/>
            <a:ext cx="2651760" cy="7772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172200" y="1188720"/>
            <a:ext cx="54864" cy="77724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309360" y="12344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6B35"/>
                </a:solidFill>
              </a:rPr>
              <a:t>🏆 #1 Hiteen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309360" y="153619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365 restaurants — most dense dining district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172200" y="2103120"/>
            <a:ext cx="2651760" cy="7772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172200" y="2103120"/>
            <a:ext cx="54864" cy="777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309360" y="21488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4FF"/>
                </a:solidFill>
              </a:rPr>
              <a:t>🥈 #2 Dhahrat Laban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309360" y="245059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328 venues — strong in northern Riyadh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172200" y="3017520"/>
            <a:ext cx="2651760" cy="7772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6172200" y="3017520"/>
            <a:ext cx="54864" cy="7772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309360" y="30632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DE80"/>
                </a:solidFill>
              </a:rPr>
              <a:t>🥉 #3 Al Malqa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309360" y="336499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315 venues — highest food variety index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6172200" y="4023360"/>
            <a:ext cx="2651760" cy="41148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263640" y="405079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ACC15"/>
                </a:solidFill>
              </a:rPr>
              <a:t>Gap: 365 → 160 (200+ diff)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28600" y="4572000"/>
            <a:ext cx="36576" cy="4114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265176" y="4572000"/>
            <a:ext cx="8650224" cy="411480"/>
          </a:xfrm>
          <a:prstGeom prst="rect">
            <a:avLst/>
          </a:prstGeom>
          <a:solidFill>
            <a:srgbClr val="0F0F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365760" y="457200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090C8"/>
                </a:solidFill>
              </a:rPr>
              <a:t>The gap of 200+ restaurants between Hiteen and Al Rimal shows dining activity is heavily concentrated in the northern and northwestern districts of Riyadh.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20040" y="4206240"/>
            <a:ext cx="8549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top_neigh = df_restaurants['neighborhoods'].value_counts().head(10)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sns.barplot(y=top_neigh.index, x=top_neigh.values)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· Rating by Price Level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5303520" cy="356616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2269447209"/>
              </p:ext>
            </p:extLst>
          </p:nvPr>
        </p:nvGraphicFramePr>
        <p:xfrm>
          <a:off x="320040" y="770235"/>
          <a:ext cx="512064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868680"/>
            <a:ext cx="1828800" cy="2286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760720" y="868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6B35"/>
                </a:solidFill>
              </a:rPr>
              <a:t>KEY FINDING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760720" y="1188720"/>
            <a:ext cx="3108960" cy="182880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852160" y="126187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 ≠ Quality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852160" y="1783080"/>
            <a:ext cx="2880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8E8FF"/>
                </a:solidFill>
              </a:rPr>
              <a:t>Levels 0, 1, 2 </a:t>
            </a:r>
            <a:r>
              <a:rPr lang="en-US" sz="900" dirty="0">
                <a:solidFill>
                  <a:srgbClr val="00D4FF"/>
                </a:solidFill>
              </a:rPr>
              <a:t>share nearly identical medians around 7.9–8.0
</a:t>
            </a:r>
            <a:r>
              <a:rPr lang="en-US" sz="900" dirty="0">
                <a:solidFill>
                  <a:srgbClr val="E8E8FF"/>
                </a:solidFill>
              </a:rPr>
              <a:t>Level 3 ($$$) </a:t>
            </a:r>
            <a:r>
              <a:rPr lang="en-US" sz="900" dirty="0">
                <a:solidFill>
                  <a:srgbClr val="4ADE80"/>
                </a:solidFill>
              </a:rPr>
              <a:t>shows slightly lower median near 7.7
</a:t>
            </a:r>
            <a:r>
              <a:rPr lang="en-US" sz="900" dirty="0">
                <a:solidFill>
                  <a:srgbClr val="E8E8FF"/>
                </a:solidFill>
              </a:rPr>
              <a:t>Level 4 </a:t>
            </a:r>
            <a:r>
              <a:rPr lang="en-US" sz="900" dirty="0">
                <a:solidFill>
                  <a:srgbClr val="F472B6"/>
                </a:solidFill>
              </a:rPr>
              <a:t>has only 1 observation — statistically insignificant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760720" y="3154680"/>
            <a:ext cx="3108960" cy="59436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852160" y="32004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ACC15"/>
                </a:solidFill>
              </a:rPr>
              <a:t>Correlation: price_level ↔ rating = ~0.02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28600" y="4572000"/>
            <a:ext cx="36576" cy="4114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65176" y="4572000"/>
            <a:ext cx="8650224" cy="411480"/>
          </a:xfrm>
          <a:prstGeom prst="rect">
            <a:avLst/>
          </a:prstGeom>
          <a:solidFill>
            <a:srgbClr val="0F0F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365760" y="457200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090C8"/>
                </a:solidFill>
              </a:rPr>
              <a:t>Higher prices do not correspond to higher ratings in Riyadh. Budget and mid-range restaurants achieve comparable customer satisfaction to premium venues — price is not a reliable quality signal.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28600" y="4206240"/>
            <a:ext cx="8686800" cy="292608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320040" y="4206240"/>
            <a:ext cx="8549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sns.boxplot(x=df_restaurants['price_level'], y=df_restaurants['rating'])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· Ratings Across Top Neighborhoods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8686800" cy="320040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graphicFrame>
        <p:nvGraphicFramePr>
          <p:cNvPr id="5" name="Chart 0"/>
          <p:cNvGraphicFramePr/>
          <p:nvPr/>
        </p:nvGraphicFramePr>
        <p:xfrm>
          <a:off x="320040" y="914400"/>
          <a:ext cx="850392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228600" y="4206240"/>
            <a:ext cx="4206240" cy="347472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4206240"/>
            <a:ext cx="45720" cy="34747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38328" y="42062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6B35"/>
                </a:solidFill>
              </a:rPr>
              <a:t>Al Qairawan leads: 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691640" y="42062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Highest median ~8.2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663440" y="4206240"/>
            <a:ext cx="4206240" cy="347472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663440" y="4206240"/>
            <a:ext cx="45720" cy="347472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773168" y="42062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472B6"/>
                </a:solidFill>
              </a:rPr>
              <a:t>Al Yasmeen outlier: 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126480" y="42062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Widest spread, lowest outlier at ~4.7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28600" y="4617720"/>
            <a:ext cx="4206240" cy="347472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228600" y="4617720"/>
            <a:ext cx="45720" cy="347472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338328" y="46177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D4FF"/>
                </a:solidFill>
              </a:rPr>
              <a:t>Hiteen most dense: 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1691640" y="46177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Modest median 7.9 despite #1 in count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663440" y="4617720"/>
            <a:ext cx="4206240" cy="347472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663440" y="4617720"/>
            <a:ext cx="45720" cy="347472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773168" y="46177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DE80"/>
                </a:solidFill>
              </a:rPr>
              <a:t>Overall uniform: 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126480" y="46177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All medians within 0.4 points of each other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28600" y="4892040"/>
            <a:ext cx="8686800" cy="256032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320040" y="4892040"/>
            <a:ext cx="8549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sns.boxplot(data=df_restaurants[df['neighborhoods'].isin(top_neigh)], x='neighborhoods', y='rating')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· Correlation Between Key Variables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10782" y="1286759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rating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96382" y="1652519"/>
            <a:ext cx="868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382382" y="1286759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price_level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6382" y="2246879"/>
            <a:ext cx="868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price_level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753982" y="1286759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total_photos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6382" y="2841239"/>
            <a:ext cx="868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total_photos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125582" y="1286759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total_ratings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6382" y="3435599"/>
            <a:ext cx="868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total_ratings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10782" y="1652519"/>
            <a:ext cx="1371600" cy="594360"/>
          </a:xfrm>
          <a:prstGeom prst="rect">
            <a:avLst/>
          </a:prstGeom>
          <a:solidFill>
            <a:srgbClr val="1A1A4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10782" y="165251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060A0"/>
                </a:solidFill>
              </a:rPr>
              <a:t>1.00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382382" y="1652519"/>
            <a:ext cx="1371600" cy="59436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382382" y="165251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04060"/>
                </a:solidFill>
              </a:rPr>
              <a:t>0.02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53982" y="1652519"/>
            <a:ext cx="1371600" cy="594360"/>
          </a:xfrm>
          <a:prstGeom prst="rect">
            <a:avLst/>
          </a:prstGeom>
          <a:solidFill>
            <a:srgbClr val="1A3A5A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753982" y="165251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</a:rPr>
              <a:t>0.28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125582" y="1652519"/>
            <a:ext cx="1371600" cy="594360"/>
          </a:xfrm>
          <a:prstGeom prst="rect">
            <a:avLst/>
          </a:prstGeom>
          <a:solidFill>
            <a:srgbClr val="1A3A5A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125582" y="165251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</a:rPr>
              <a:t>0.25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010782" y="2246879"/>
            <a:ext cx="1371600" cy="59436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10782" y="224687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04060"/>
                </a:solidFill>
              </a:rPr>
              <a:t>0.02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382382" y="2246879"/>
            <a:ext cx="1371600" cy="594360"/>
          </a:xfrm>
          <a:prstGeom prst="rect">
            <a:avLst/>
          </a:prstGeom>
          <a:solidFill>
            <a:srgbClr val="1A1A4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382382" y="224687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060A0"/>
                </a:solidFill>
              </a:rPr>
              <a:t>1.00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753982" y="2246879"/>
            <a:ext cx="1371600" cy="594360"/>
          </a:xfrm>
          <a:prstGeom prst="rect">
            <a:avLst/>
          </a:prstGeom>
          <a:solidFill>
            <a:srgbClr val="1A1A4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753982" y="224687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060A0"/>
                </a:solidFill>
              </a:rPr>
              <a:t>-0.03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125582" y="2246879"/>
            <a:ext cx="1371600" cy="59436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5582" y="224687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04060"/>
                </a:solidFill>
              </a:rPr>
              <a:t>-0.01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010782" y="2841239"/>
            <a:ext cx="1371600" cy="594360"/>
          </a:xfrm>
          <a:prstGeom prst="rect">
            <a:avLst/>
          </a:prstGeom>
          <a:solidFill>
            <a:srgbClr val="1A3A5A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010782" y="284123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</a:rPr>
              <a:t>0.28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382382" y="2841239"/>
            <a:ext cx="1371600" cy="594360"/>
          </a:xfrm>
          <a:prstGeom prst="rect">
            <a:avLst/>
          </a:prstGeom>
          <a:solidFill>
            <a:srgbClr val="1A1A4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382382" y="284123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060A0"/>
                </a:solidFill>
              </a:rPr>
              <a:t>-0.03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753982" y="2841239"/>
            <a:ext cx="1371600" cy="594360"/>
          </a:xfrm>
          <a:prstGeom prst="rect">
            <a:avLst/>
          </a:prstGeom>
          <a:solidFill>
            <a:srgbClr val="1A1A4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753982" y="284123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060A0"/>
                </a:solidFill>
              </a:rPr>
              <a:t>1.00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125582" y="2841239"/>
            <a:ext cx="1371600" cy="594360"/>
          </a:xfrm>
          <a:prstGeom prst="rect">
            <a:avLst/>
          </a:prstGeom>
          <a:solidFill>
            <a:srgbClr val="8B1A0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125582" y="284123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B35"/>
                </a:solidFill>
              </a:rPr>
              <a:t>0.61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10782" y="3435599"/>
            <a:ext cx="1371600" cy="594360"/>
          </a:xfrm>
          <a:prstGeom prst="rect">
            <a:avLst/>
          </a:prstGeom>
          <a:solidFill>
            <a:srgbClr val="1A3A5A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010782" y="343559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</a:rPr>
              <a:t>0.25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382382" y="3435599"/>
            <a:ext cx="1371600" cy="59436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382382" y="343559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04060"/>
                </a:solidFill>
              </a:rPr>
              <a:t>-0.01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753982" y="3435599"/>
            <a:ext cx="1371600" cy="594360"/>
          </a:xfrm>
          <a:prstGeom prst="rect">
            <a:avLst/>
          </a:prstGeom>
          <a:solidFill>
            <a:srgbClr val="8B1A0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753982" y="343559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B35"/>
                </a:solidFill>
              </a:rPr>
              <a:t>0.61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125582" y="3435599"/>
            <a:ext cx="1371600" cy="594360"/>
          </a:xfrm>
          <a:prstGeom prst="rect">
            <a:avLst/>
          </a:prstGeom>
          <a:solidFill>
            <a:srgbClr val="1A1A4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125582" y="3435599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060A0"/>
                </a:solidFill>
              </a:rPr>
              <a:t>1.00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583680" y="868680"/>
            <a:ext cx="1828800" cy="2286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583680" y="868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6B35"/>
                </a:solidFill>
              </a:rPr>
              <a:t>FINDINGS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583680" y="1188720"/>
            <a:ext cx="2331720" cy="74980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83680" y="1234440"/>
            <a:ext cx="69033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0.61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223760" y="124358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E8FF"/>
                </a:solidFill>
              </a:rPr>
              <a:t>total_photos ↔ total_ratings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223760" y="152704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Both reflect popularity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583680" y="2057400"/>
            <a:ext cx="2331720" cy="74980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583679" y="2103120"/>
            <a:ext cx="719163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0.28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7223760" y="21122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E8FF"/>
                </a:solidFill>
              </a:rPr>
              <a:t>rating ↔ total_photos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223760" y="239572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Visible places rate higher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583680" y="2926080"/>
            <a:ext cx="2331720" cy="74980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583680" y="2971800"/>
            <a:ext cx="69033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0.25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7223760" y="298094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E8FF"/>
                </a:solidFill>
              </a:rPr>
              <a:t>rating ↔ total_ratings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223760" y="326440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More reviews → slightly higher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583680" y="3794760"/>
            <a:ext cx="2331720" cy="74980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583679" y="3840480"/>
            <a:ext cx="69033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472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0.02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7223760" y="384962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E8FF"/>
                </a:solidFill>
              </a:rPr>
              <a:t>price_level ↔ rating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7223760" y="413308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Price has NO effect on rating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228600" y="4553712"/>
            <a:ext cx="8686800" cy="274320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320040" y="4553712"/>
            <a:ext cx="8549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sns.heatmap(df_restaurants[['rating','price_level','total_photos','total_ratings']].corr(), annot=True, cmap='coolwarm')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228600" y="4864608"/>
            <a:ext cx="36576" cy="25603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265176" y="4864608"/>
            <a:ext cx="8650224" cy="256032"/>
          </a:xfrm>
          <a:prstGeom prst="rect">
            <a:avLst/>
          </a:prstGeom>
          <a:solidFill>
            <a:srgbClr val="0F0F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365760" y="4864608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090C8"/>
                </a:solidFill>
              </a:rPr>
              <a:t>price_level has near-zero correlation with ALL variables. Photos and ratings count are the strongest predictors of each other (0.61), both reflecting venue popularity.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· Food Variety by Neighborhood &amp; Price Level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45920" y="70408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4FF"/>
                </a:solidFill>
              </a:rPr>
              <a:t>Price 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2926080" y="70408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4FF"/>
                </a:solidFill>
              </a:rPr>
              <a:t>Price 1 ($)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206240" y="70408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4FF"/>
                </a:solidFill>
              </a:rPr>
              <a:t>Price 2 ($$)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0" y="70408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4FF"/>
                </a:solidFill>
              </a:rPr>
              <a:t>Price 3 ($$$)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766560" y="70408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4FF"/>
                </a:solidFill>
              </a:rPr>
              <a:t>Price 4 ($$$$)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1440" y="105156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E8E8FF"/>
                </a:solidFill>
              </a:rPr>
              <a:t>Al Malqa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45920" y="1051560"/>
            <a:ext cx="1280160" cy="640080"/>
          </a:xfrm>
          <a:prstGeom prst="rect">
            <a:avLst/>
          </a:prstGeom>
          <a:solidFill>
            <a:srgbClr val="1A201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6459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4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26080" y="1051560"/>
            <a:ext cx="1280160" cy="640080"/>
          </a:xfrm>
          <a:prstGeom prst="rect">
            <a:avLst/>
          </a:prstGeom>
          <a:solidFill>
            <a:srgbClr val="4ADE5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92608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42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206240" y="1051560"/>
            <a:ext cx="1280160" cy="640080"/>
          </a:xfrm>
          <a:prstGeom prst="rect">
            <a:avLst/>
          </a:prstGeom>
          <a:solidFill>
            <a:srgbClr val="3A703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20624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17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0" y="1051560"/>
            <a:ext cx="1280160" cy="640080"/>
          </a:xfrm>
          <a:prstGeom prst="rect">
            <a:avLst/>
          </a:prstGeom>
          <a:solidFill>
            <a:srgbClr val="1A201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766560" y="1051560"/>
            <a:ext cx="1280160" cy="64008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76656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—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" y="16916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E8E8FF"/>
                </a:solidFill>
              </a:rPr>
              <a:t>Hiteen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645920" y="1691640"/>
            <a:ext cx="1280160" cy="640080"/>
          </a:xfrm>
          <a:prstGeom prst="rect">
            <a:avLst/>
          </a:prstGeom>
          <a:solidFill>
            <a:srgbClr val="1A201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645920" y="169164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926080" y="1691640"/>
            <a:ext cx="1280160" cy="640080"/>
          </a:xfrm>
          <a:prstGeom prst="rect">
            <a:avLst/>
          </a:prstGeom>
          <a:solidFill>
            <a:srgbClr val="4ADE5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926080" y="169164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36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206240" y="1691640"/>
            <a:ext cx="1280160" cy="640080"/>
          </a:xfrm>
          <a:prstGeom prst="rect">
            <a:avLst/>
          </a:prstGeom>
          <a:solidFill>
            <a:srgbClr val="2A502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206240" y="169164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14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0" y="1691640"/>
            <a:ext cx="1280160" cy="640080"/>
          </a:xfrm>
          <a:prstGeom prst="rect">
            <a:avLst/>
          </a:prstGeom>
          <a:solidFill>
            <a:srgbClr val="1A201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86400" y="169164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766560" y="1691640"/>
            <a:ext cx="1280160" cy="64008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766560" y="169164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—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" y="233172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E8E8FF"/>
                </a:solidFill>
              </a:rPr>
              <a:t>Dhahrat Laban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645920" y="2331720"/>
            <a:ext cx="1280160" cy="640080"/>
          </a:xfrm>
          <a:prstGeom prst="rect">
            <a:avLst/>
          </a:prstGeom>
          <a:solidFill>
            <a:srgbClr val="1A201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645920" y="23317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926080" y="2331720"/>
            <a:ext cx="1280160" cy="640080"/>
          </a:xfrm>
          <a:prstGeom prst="rect">
            <a:avLst/>
          </a:prstGeom>
          <a:solidFill>
            <a:srgbClr val="4ADE5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926080" y="23317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36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206240" y="2331720"/>
            <a:ext cx="1280160" cy="640080"/>
          </a:xfrm>
          <a:prstGeom prst="rect">
            <a:avLst/>
          </a:prstGeom>
          <a:solidFill>
            <a:srgbClr val="2A502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206240" y="23317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13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0" y="2331720"/>
            <a:ext cx="1280160" cy="640080"/>
          </a:xfrm>
          <a:prstGeom prst="rect">
            <a:avLst/>
          </a:prstGeom>
          <a:solidFill>
            <a:srgbClr val="2A502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486400" y="23317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6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766560" y="2331720"/>
            <a:ext cx="1280160" cy="64008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766560" y="23317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—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1440" y="297180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E8E8FF"/>
                </a:solidFill>
              </a:rPr>
              <a:t>Al Narjis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645920" y="2971800"/>
            <a:ext cx="1280160" cy="640080"/>
          </a:xfrm>
          <a:prstGeom prst="rect">
            <a:avLst/>
          </a:prstGeom>
          <a:solidFill>
            <a:srgbClr val="1A201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645920" y="297180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2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926080" y="2971800"/>
            <a:ext cx="1280160" cy="640080"/>
          </a:xfrm>
          <a:prstGeom prst="rect">
            <a:avLst/>
          </a:prstGeom>
          <a:solidFill>
            <a:srgbClr val="4ADE5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926080" y="297180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31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4206240" y="2971800"/>
            <a:ext cx="1280160" cy="640080"/>
          </a:xfrm>
          <a:prstGeom prst="rect">
            <a:avLst/>
          </a:prstGeom>
          <a:solidFill>
            <a:srgbClr val="2A502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206240" y="297180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11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5486400" y="2971800"/>
            <a:ext cx="1280160" cy="640080"/>
          </a:xfrm>
          <a:prstGeom prst="rect">
            <a:avLst/>
          </a:prstGeom>
          <a:solidFill>
            <a:srgbClr val="1A201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486400" y="297180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3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6766560" y="2971800"/>
            <a:ext cx="1280160" cy="64008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766560" y="297180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—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91440" y="361188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E8E8FF"/>
                </a:solidFill>
              </a:rPr>
              <a:t>Al Sulaimaniyah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1645920" y="3611880"/>
            <a:ext cx="1280160" cy="640080"/>
          </a:xfrm>
          <a:prstGeom prst="rect">
            <a:avLst/>
          </a:prstGeom>
          <a:solidFill>
            <a:srgbClr val="1A201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645920" y="36118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3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2926080" y="3611880"/>
            <a:ext cx="1280160" cy="640080"/>
          </a:xfrm>
          <a:prstGeom prst="rect">
            <a:avLst/>
          </a:prstGeom>
          <a:solidFill>
            <a:srgbClr val="3A703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2926080" y="36118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28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4206240" y="3611880"/>
            <a:ext cx="1280160" cy="640080"/>
          </a:xfrm>
          <a:prstGeom prst="rect">
            <a:avLst/>
          </a:prstGeom>
          <a:solidFill>
            <a:srgbClr val="2A502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206240" y="36118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10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5486400" y="3611880"/>
            <a:ext cx="1280160" cy="640080"/>
          </a:xfrm>
          <a:prstGeom prst="rect">
            <a:avLst/>
          </a:prstGeom>
          <a:solidFill>
            <a:srgbClr val="1A2010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486400" y="36118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2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6766560" y="3611880"/>
            <a:ext cx="1280160" cy="64008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766560" y="36118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—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228600" y="4572000"/>
            <a:ext cx="36576" cy="4114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265176" y="4572000"/>
            <a:ext cx="8650224" cy="411480"/>
          </a:xfrm>
          <a:prstGeom prst="rect">
            <a:avLst/>
          </a:prstGeom>
          <a:solidFill>
            <a:srgbClr val="0F0F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365760" y="457200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090C8"/>
                </a:solidFill>
              </a:rPr>
              <a:t>Al Malqa leads with 42 unique categories at price level 1. Price level 1 ($) is consistently the most diverse tier across all top neighborhoods. Premium dining (level 3) offers minimal variety. Level 4 is completely absent — food diversity in Riyadh is an affordable phenomenon.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28600" y="4206240"/>
            <a:ext cx="8686800" cy="292608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320040" y="4206240"/>
            <a:ext cx="8549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variety_table = df_restaurants.groupby(['neighborhoods','price_level'])['category'].nunique().unstack()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sns.heatmap(variety_top5, cmap='YlOrRd', annot=True, fmt='.0f')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 Analysis · Restaurant Distribution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5852160" cy="3794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2560320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0" y="868680"/>
            <a:ext cx="1828800" cy="2286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0" y="868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6B35"/>
                </a:solidFill>
              </a:rPr>
              <a:t>SPATIAL FINDINGS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400800" y="1188720"/>
            <a:ext cx="2514600" cy="7772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00800" y="1188720"/>
            <a:ext cx="54864" cy="77724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10528" y="12161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6B35"/>
                </a:solidFill>
              </a:rPr>
              <a:t>Northern Cluster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510528" y="150876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Highest density — Hiteen, Al Malqa, Dhahrat Laban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400800" y="2103120"/>
            <a:ext cx="2514600" cy="7772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400800" y="2103120"/>
            <a:ext cx="54864" cy="77724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10528" y="21305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4FF"/>
                </a:solidFill>
              </a:rPr>
              <a:t>Central Core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10528" y="242316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Dense commercial activity near city center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400800" y="3017520"/>
            <a:ext cx="2514600" cy="7772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400800" y="3017520"/>
            <a:ext cx="54864" cy="7772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510528" y="30449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DE80"/>
                </a:solidFill>
              </a:rPr>
              <a:t>Outer Districts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10528" y="333756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Significantly fewer venues — less commercial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800" y="3931920"/>
            <a:ext cx="2514600" cy="7772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400800" y="3931920"/>
            <a:ext cx="54864" cy="777240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510528" y="39593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ACC15"/>
                </a:solidFill>
              </a:rPr>
              <a:t>Spatial Join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10528" y="425196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GeoPandas sjoin + nearest-neighbor fallback used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28600" y="4749114"/>
            <a:ext cx="8686800" cy="384048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20040" y="4749114"/>
            <a:ext cx="8549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riyadh.plot(ax=ax, color='#f5f5f5', edgecolor='black')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districts.plot(ax=ax, facecolor='none', edgecolor='gray', linewidth=0.3)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ax.scatter(df_restaurants['longitude'], df_restaurants['latitude'], color='red', s=6, alpha=0.35)</a:t>
            </a:r>
            <a:endParaRPr lang="en-US" sz="75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18030FB-1FE4-95EC-EDD1-C25C43AE2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65" y="758952"/>
            <a:ext cx="5469924" cy="3885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 · Price Level Classifier — Problem Setup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1828800" cy="2286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28600" y="84124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6B35"/>
                </a:solidFill>
              </a:rPr>
              <a:t>OBJECTIVE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28600" y="1115568"/>
            <a:ext cx="8686800" cy="96012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161288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8E8FF"/>
                </a:solidFill>
              </a:rPr>
              <a:t>Can we predict a restaurant's price level (1=$, 2=$$, 3=$$$) from its ratings, photos, reviews, location, and category?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8600" y="2141424"/>
            <a:ext cx="1828800" cy="2286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28600" y="214142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6B35"/>
                </a:solidFill>
              </a:rPr>
              <a:t>FEATURES USED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443176"/>
            <a:ext cx="4206240" cy="50292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28600" y="2443176"/>
            <a:ext cx="54864" cy="5029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8328" y="244317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2443176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4ADE80"/>
                </a:solidFill>
              </a:rPr>
              <a:t>Numerical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606040" y="2443176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Foursquare average score 0–10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28600" y="3010104"/>
            <a:ext cx="4206240" cy="50292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28600" y="3010104"/>
            <a:ext cx="54864" cy="5029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8328" y="301010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total_ratings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645920" y="3010104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4ADE80"/>
                </a:solidFill>
              </a:rPr>
              <a:t>Numerical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06040" y="3010104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Total number of user ratings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28600" y="3577032"/>
            <a:ext cx="4206240" cy="50292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8600" y="3577032"/>
            <a:ext cx="54864" cy="5029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38328" y="357703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total_photos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645920" y="3577032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4ADE80"/>
                </a:solidFill>
              </a:rPr>
              <a:t>Numerical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606040" y="3577032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Number of photos uploaded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63440" y="2443176"/>
            <a:ext cx="4206240" cy="50292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63440" y="2443176"/>
            <a:ext cx="54864" cy="5029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73168" y="244317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total_tips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80760" y="2443176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4ADE80"/>
                </a:solidFill>
              </a:rPr>
              <a:t>Numerical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040880" y="2443176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Number of user tips/reviews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63440" y="3010104"/>
            <a:ext cx="4206240" cy="50292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663440" y="3010104"/>
            <a:ext cx="54864" cy="5029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773168" y="301010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neighborhoods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080760" y="3010104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F6B35"/>
                </a:solidFill>
              </a:rPr>
              <a:t>Categorical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040880" y="3010104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District — LabelEncoded to integer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663440" y="3577032"/>
            <a:ext cx="4206240" cy="50292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663440" y="3577032"/>
            <a:ext cx="54864" cy="5029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73168" y="357703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080760" y="3577032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F6B35"/>
                </a:solidFill>
              </a:rPr>
              <a:t>Categorical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040880" y="3577032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Venue type — LabelEncoded to integer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28600" y="4198824"/>
            <a:ext cx="1828800" cy="2286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228600" y="419882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6B35"/>
                </a:solidFill>
              </a:rPr>
              <a:t>SETUP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28600" y="4473144"/>
            <a:ext cx="4206240" cy="292608"/>
          </a:xfrm>
          <a:prstGeom prst="rect">
            <a:avLst/>
          </a:prstGeom>
          <a:solidFill>
            <a:srgbClr val="0F0F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20040" y="4473144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6B35"/>
                </a:solidFill>
              </a:rPr>
              <a:t>Target: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143000" y="447314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price_level (1, 2, or 3) — removed level 0 (unspecified)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663440" y="4473144"/>
            <a:ext cx="4206240" cy="292608"/>
          </a:xfrm>
          <a:prstGeom prst="rect">
            <a:avLst/>
          </a:prstGeom>
          <a:solidFill>
            <a:srgbClr val="0F0F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754880" y="4473144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6B35"/>
                </a:solidFill>
              </a:rPr>
              <a:t>Split: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577840" y="447314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80% train / 20% test · random_state=42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28600" y="4820616"/>
            <a:ext cx="4206240" cy="292608"/>
          </a:xfrm>
          <a:prstGeom prst="rect">
            <a:avLst/>
          </a:prstGeom>
          <a:solidFill>
            <a:srgbClr val="0F0F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20040" y="4820616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6B35"/>
                </a:solidFill>
              </a:rPr>
              <a:t>Imbalance: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143000" y="482061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class_weight='balanced' applied to all 3 models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663440" y="4820616"/>
            <a:ext cx="4206240" cy="292608"/>
          </a:xfrm>
          <a:prstGeom prst="rect">
            <a:avLst/>
          </a:prstGeom>
          <a:solidFill>
            <a:srgbClr val="0F0F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754880" y="4820616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6B35"/>
                </a:solidFill>
              </a:rPr>
              <a:t>Encoding: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5577840" y="482061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LabelEncoder for neighborhoods + category columns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 · Model Results Comparison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2788920" cy="416052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" y="841248"/>
            <a:ext cx="278892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965960" y="960120"/>
            <a:ext cx="960120" cy="256032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965960" y="960120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FF6B35"/>
                </a:solidFill>
              </a:rPr>
              <a:t>BEST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20040" y="9144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FF"/>
                </a:solidFill>
              </a:rPr>
              <a:t>Random Forest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0040" y="132588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72%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20040" y="210312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060A0"/>
                </a:solidFill>
              </a:rPr>
              <a:t>Accuracy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65760" y="2487168"/>
            <a:ext cx="2514600" cy="182880"/>
          </a:xfrm>
          <a:prstGeom prst="rect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487168"/>
            <a:ext cx="1973275" cy="1828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6974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Low ($)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737360" y="269748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6B35"/>
                </a:solidFill>
              </a:rPr>
              <a:t>F1: 0.83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2514600" cy="182880"/>
          </a:xfrm>
          <a:prstGeom prst="rect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3054096"/>
            <a:ext cx="285293" cy="1828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326440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Mid ($$)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737360" y="326440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6B35"/>
                </a:solidFill>
              </a:rPr>
              <a:t>F1: 0.12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65760" y="3621024"/>
            <a:ext cx="2514600" cy="182880"/>
          </a:xfrm>
          <a:prstGeom prst="rect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3621024"/>
            <a:ext cx="118872" cy="1828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38313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High ($$$)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737360" y="383133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6B35"/>
                </a:solidFill>
              </a:rPr>
              <a:t>F1: 0.05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20040" y="420624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404060"/>
                </a:solidFill>
              </a:rPr>
              <a:t>Best overall. Strong on class 1 ($). Uses 100 estimators, balanced weights.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3154680" y="841248"/>
            <a:ext cx="2788920" cy="416052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154680" y="841248"/>
            <a:ext cx="2788920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92040" y="960120"/>
            <a:ext cx="960120" cy="256032"/>
          </a:xfrm>
          <a:prstGeom prst="rect">
            <a:avLst/>
          </a:prstGeom>
          <a:solidFill>
            <a:srgbClr val="00D4FF">
              <a:alpha val="20000"/>
            </a:srgbClr>
          </a:solidFill>
          <a:ln w="635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92040" y="960120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00D4FF"/>
                </a:solidFill>
              </a:rPr>
              <a:t>BALANCED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246120" y="9144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FF"/>
                </a:solidFill>
              </a:rPr>
              <a:t>Decision Tree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46120" y="132588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D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59%</a:t>
            </a:r>
            <a:endParaRPr lang="en-US" sz="4800" dirty="0"/>
          </a:p>
        </p:txBody>
      </p:sp>
      <p:sp>
        <p:nvSpPr>
          <p:cNvPr id="30" name="Text 28"/>
          <p:cNvSpPr/>
          <p:nvPr/>
        </p:nvSpPr>
        <p:spPr>
          <a:xfrm>
            <a:off x="3246120" y="210312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060A0"/>
                </a:solidFill>
              </a:rPr>
              <a:t>Accuracy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291840" y="2487168"/>
            <a:ext cx="2514600" cy="182880"/>
          </a:xfrm>
          <a:prstGeom prst="rect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91840" y="2487168"/>
            <a:ext cx="1521562" cy="1828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46120" y="26974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Low ($)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663440" y="269748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D4FF"/>
                </a:solidFill>
              </a:rPr>
              <a:t>F1: 0.64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291840" y="3054096"/>
            <a:ext cx="2514600" cy="182880"/>
          </a:xfrm>
          <a:prstGeom prst="rect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291840" y="3054096"/>
            <a:ext cx="903427" cy="1828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246120" y="326440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Mid ($$)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663440" y="326440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D4FF"/>
                </a:solidFill>
              </a:rPr>
              <a:t>F1: 0.38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291840" y="3621024"/>
            <a:ext cx="2514600" cy="182880"/>
          </a:xfrm>
          <a:prstGeom prst="rect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291840" y="3621024"/>
            <a:ext cx="523037" cy="1828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246120" y="38313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High ($$$)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663440" y="383133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D4FF"/>
                </a:solidFill>
              </a:rPr>
              <a:t>F1: 0.22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246120" y="420624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404060"/>
                </a:solidFill>
              </a:rPr>
              <a:t>Most balanced across classes. Better at predicting mid-range ($$).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080760" y="841248"/>
            <a:ext cx="2788920" cy="416052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080760" y="841248"/>
            <a:ext cx="2788920" cy="54864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7818120" y="960120"/>
            <a:ext cx="960120" cy="256032"/>
          </a:xfrm>
          <a:prstGeom prst="rect">
            <a:avLst/>
          </a:prstGeom>
          <a:solidFill>
            <a:srgbClr val="F472B6">
              <a:alpha val="20000"/>
            </a:srgbClr>
          </a:solidFill>
          <a:ln w="635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818120" y="960120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F472B6"/>
                </a:solidFill>
              </a:rPr>
              <a:t>WEAKEST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172200" y="9144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FF"/>
                </a:solidFill>
              </a:rPr>
              <a:t>Logistic Regression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172200" y="132588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472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18%</a:t>
            </a:r>
            <a:endParaRPr lang="en-US" sz="4800" dirty="0"/>
          </a:p>
        </p:txBody>
      </p:sp>
      <p:sp>
        <p:nvSpPr>
          <p:cNvPr id="50" name="Text 48"/>
          <p:cNvSpPr/>
          <p:nvPr/>
        </p:nvSpPr>
        <p:spPr>
          <a:xfrm>
            <a:off x="6172200" y="210312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060A0"/>
                </a:solidFill>
              </a:rPr>
              <a:t>Accuracy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6217920" y="2487168"/>
            <a:ext cx="2514600" cy="182880"/>
          </a:xfrm>
          <a:prstGeom prst="rect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217920" y="2487168"/>
            <a:ext cx="594360" cy="18288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172200" y="26974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Low ($)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589520" y="269748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472B6"/>
                </a:solidFill>
              </a:rPr>
              <a:t>F1: 0.25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217920" y="3054096"/>
            <a:ext cx="2514600" cy="182880"/>
          </a:xfrm>
          <a:prstGeom prst="rect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6217920" y="3054096"/>
            <a:ext cx="427939" cy="18288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6172200" y="326440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Mid ($$)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7589520" y="326440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472B6"/>
                </a:solidFill>
              </a:rPr>
              <a:t>F1: 0.18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217920" y="3621024"/>
            <a:ext cx="2514600" cy="182880"/>
          </a:xfrm>
          <a:prstGeom prst="rect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6217920" y="3621024"/>
            <a:ext cx="285293" cy="18288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6172200" y="38313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060A0"/>
                </a:solidFill>
              </a:rPr>
              <a:t>High ($$$)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7589520" y="383133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472B6"/>
                </a:solidFill>
              </a:rPr>
              <a:t>F1: 0.12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6172200" y="420624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404060"/>
                </a:solidFill>
              </a:rPr>
              <a:t>Features not linearly separable. Converged poorly at max_iter=2000.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228600" y="4700100"/>
            <a:ext cx="8686800" cy="438912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20040" y="4700100"/>
            <a:ext cx="8549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 = {'Random Forest': RandomForestClassifier(n_estimators=100, class_weight='balanced'),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'Decision Tree': DecisionTreeClassifier(class_weight='balanced'),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'Logistic Regression': LogisticRegression(class_weight='balanced', max_iter=2000)}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 · Feature Importance — Random Forest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5303520" cy="356616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graphicFrame>
        <p:nvGraphicFramePr>
          <p:cNvPr id="5" name="Chart 0"/>
          <p:cNvGraphicFramePr/>
          <p:nvPr/>
        </p:nvGraphicFramePr>
        <p:xfrm>
          <a:off x="320040" y="914400"/>
          <a:ext cx="512064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868680"/>
            <a:ext cx="1828800" cy="2286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760720" y="868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6B35"/>
                </a:solidFill>
              </a:rPr>
              <a:t>INTERPRETATION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760720" y="1188720"/>
            <a:ext cx="3154680" cy="5486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0" y="1216152"/>
            <a:ext cx="5486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B35"/>
                </a:solidFill>
              </a:rPr>
              <a:t>0.24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55080" y="121615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total_photos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355080" y="1444752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60A0"/>
                </a:solidFill>
              </a:rPr>
              <a:t>Most predictive — popular venues tend to be pricier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5760720" y="1810512"/>
            <a:ext cx="3154680" cy="5486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0" y="1837944"/>
            <a:ext cx="5486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</a:rPr>
              <a:t>0.21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355080" y="1837944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neighborhoods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355080" y="2066544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60A0"/>
                </a:solidFill>
              </a:rPr>
              <a:t>Location matters — district signals price tier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760720" y="2432304"/>
            <a:ext cx="3154680" cy="5486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0" y="2459736"/>
            <a:ext cx="5486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DE80"/>
                </a:solidFill>
              </a:rPr>
              <a:t>0.20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355080" y="2459736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355080" y="2688336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60A0"/>
                </a:solidFill>
              </a:rPr>
              <a:t>Venue type partially encodes price expectations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5760720" y="3054096"/>
            <a:ext cx="3154680" cy="5486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760720" y="3081528"/>
            <a:ext cx="5486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ACC15"/>
                </a:solidFill>
              </a:rPr>
              <a:t>0.15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355080" y="308152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total_ratings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355080" y="331012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60A0"/>
                </a:solidFill>
              </a:rPr>
              <a:t>Review volume weakly predicts price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5760720" y="3675888"/>
            <a:ext cx="3154680" cy="5486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5760720" y="3703320"/>
            <a:ext cx="5486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72B6"/>
                </a:solidFill>
              </a:rPr>
              <a:t>0.12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355080" y="3703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rating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355080" y="393192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60A0"/>
                </a:solidFill>
              </a:rPr>
              <a:t>Surprisingly weak — confirms price ≠ quality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5760720" y="4297680"/>
            <a:ext cx="3154680" cy="5486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0" y="4325112"/>
            <a:ext cx="5486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78BFA"/>
                </a:solidFill>
              </a:rPr>
              <a:t>0.08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355080" y="432511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total_tips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6355080" y="4553712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60A0"/>
                </a:solidFill>
              </a:rPr>
              <a:t>Least important — sparse data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228600" y="4572000"/>
            <a:ext cx="5486400" cy="292608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20040" y="4572000"/>
            <a:ext cx="8549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feat_imp = pd.Series(rf_model.feature_importances_, index=features).sort_values()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sns.barplot(y=feat_imp.index, x=feat_imp.values)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228600" y="4892040"/>
            <a:ext cx="36576" cy="25603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265176" y="4842612"/>
            <a:ext cx="5365914" cy="256032"/>
          </a:xfrm>
          <a:prstGeom prst="rect">
            <a:avLst/>
          </a:prstGeom>
          <a:solidFill>
            <a:srgbClr val="0F0F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365760" y="4892040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090C8"/>
                </a:solidFill>
              </a:rPr>
              <a:t>rating is the 5th most important feature out of 6 — confirming that prices are driven by popularity signals (photos, location) not quality ratings.</a:t>
            </a:r>
            <a:endParaRPr lang="en-US" sz="900" dirty="0"/>
          </a:p>
        </p:txBody>
      </p:sp>
      <p:sp>
        <p:nvSpPr>
          <p:cNvPr id="37" name="Shape 29">
            <a:extLst>
              <a:ext uri="{FF2B5EF4-FFF2-40B4-BE49-F238E27FC236}">
                <a16:creationId xmlns:a16="http://schemas.microsoft.com/office/drawing/2014/main" id="{06A61BA9-E9ED-1783-37B3-4465990348DF}"/>
              </a:ext>
            </a:extLst>
          </p:cNvPr>
          <p:cNvSpPr/>
          <p:nvPr/>
        </p:nvSpPr>
        <p:spPr>
          <a:xfrm>
            <a:off x="228600" y="4545432"/>
            <a:ext cx="5388603" cy="292608"/>
          </a:xfrm>
          <a:prstGeom prst="rect">
            <a:avLst/>
          </a:prstGeom>
          <a:solidFill>
            <a:srgbClr val="080810"/>
          </a:solidFill>
          <a:ln w="63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0">
            <a:extLst>
              <a:ext uri="{FF2B5EF4-FFF2-40B4-BE49-F238E27FC236}">
                <a16:creationId xmlns:a16="http://schemas.microsoft.com/office/drawing/2014/main" id="{A9F0DDBE-38C7-DF2E-E1E7-4C1EFBA238F8}"/>
              </a:ext>
            </a:extLst>
          </p:cNvPr>
          <p:cNvSpPr/>
          <p:nvPr/>
        </p:nvSpPr>
        <p:spPr>
          <a:xfrm>
            <a:off x="320040" y="454543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feat_imp = pd.Series(rf_model.feature_importances_, index=features).sort_values()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A0F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sns.barplot(y=feat_imp.index, x=feat_imp.values)</a:t>
            </a:r>
            <a:endParaRPr lang="en-US" sz="750" dirty="0"/>
          </a:p>
        </p:txBody>
      </p:sp>
      <p:sp>
        <p:nvSpPr>
          <p:cNvPr id="39" name="Text 33">
            <a:extLst>
              <a:ext uri="{FF2B5EF4-FFF2-40B4-BE49-F238E27FC236}">
                <a16:creationId xmlns:a16="http://schemas.microsoft.com/office/drawing/2014/main" id="{739DCD1B-E9B5-B82C-66A0-FA24559A79FB}"/>
              </a:ext>
            </a:extLst>
          </p:cNvPr>
          <p:cNvSpPr/>
          <p:nvPr/>
        </p:nvSpPr>
        <p:spPr>
          <a:xfrm>
            <a:off x="365760" y="4865472"/>
            <a:ext cx="527515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090C8"/>
                </a:solidFill>
              </a:rPr>
              <a:t>rating is the 5th most important feature out of 6 — confirming that prices are driven by popularity signals (photos, location) not quality ratings.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560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 · Key Finding — Why Models Struggled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822960"/>
            <a:ext cx="8686800" cy="1005840"/>
          </a:xfrm>
          <a:prstGeom prst="rect">
            <a:avLst/>
          </a:prstGeom>
          <a:solidFill>
            <a:srgbClr val="12121E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868680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6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price_level ↔ all features: correlation ≈ 0.02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28600" y="1965960"/>
            <a:ext cx="1828800" cy="2286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8600" y="1965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6B35"/>
                </a:solidFill>
              </a:rPr>
              <a:t>ROOT CAUSE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2240280"/>
            <a:ext cx="4251960" cy="233172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2331720"/>
            <a:ext cx="3977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E8E8FF"/>
                </a:solidFill>
              </a:rPr>
              <a:t>The EDA correlation heatmap revealed that price_level has near-zero correlation with every available feature. The model is trying to predict something the data does not clearly encode.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329184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060A0"/>
                </a:solidFill>
              </a:rPr>
              <a:t>Pricing in Riyadh is driven by intangibles not in this dataset: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84048" y="3639312"/>
            <a:ext cx="109728" cy="109728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6118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60A0"/>
                </a:solidFill>
              </a:rPr>
              <a:t>Restaurant brand or chain status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84048" y="3959352"/>
            <a:ext cx="109728" cy="109728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9319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60A0"/>
                </a:solidFill>
              </a:rPr>
              <a:t>Interior design and ambiance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84048" y="4279392"/>
            <a:ext cx="109728" cy="109728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42519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60A0"/>
                </a:solidFill>
              </a:rPr>
              <a:t>Location prestige within a neighborhood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4048" y="4599432"/>
            <a:ext cx="109728" cy="109728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4572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60A0"/>
                </a:solidFill>
              </a:rPr>
              <a:t>Menu offering and cuisine depth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1965960"/>
            <a:ext cx="1828800" cy="228600"/>
          </a:xfrm>
          <a:prstGeom prst="rect">
            <a:avLst/>
          </a:prstGeom>
          <a:solidFill>
            <a:srgbClr val="FF6B35">
              <a:alpha val="20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663440" y="1965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6B35"/>
                </a:solidFill>
              </a:rPr>
              <a:t>BEST MODEL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2240280"/>
            <a:ext cx="4251960" cy="233172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663440" y="2240280"/>
            <a:ext cx="425196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54880" y="230428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Random Forest — 72%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2743200"/>
            <a:ext cx="4251960" cy="292608"/>
          </a:xfrm>
          <a:prstGeom prst="rect">
            <a:avLst/>
          </a:prstGeom>
          <a:solidFill>
            <a:srgbClr val="1212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54880" y="27432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DE80"/>
                </a:solidFill>
              </a:rPr>
              <a:t>Reliable for: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897880" y="27432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Identifying budget ($) restaurants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663440" y="3063240"/>
            <a:ext cx="4251960" cy="292608"/>
          </a:xfrm>
          <a:prstGeom prst="rect">
            <a:avLst/>
          </a:prstGeom>
          <a:solidFill>
            <a:srgbClr val="0F0F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754880" y="306324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ACC15"/>
                </a:solidFill>
              </a:rPr>
              <a:t>Caution on: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897880" y="306324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Mid-range and premium predictions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3383280"/>
            <a:ext cx="4251960" cy="292608"/>
          </a:xfrm>
          <a:prstGeom prst="rect">
            <a:avLst/>
          </a:prstGeom>
          <a:solidFill>
            <a:srgbClr val="1212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54880" y="338328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6B35"/>
                </a:solidFill>
              </a:rPr>
              <a:t>Class 1 F1: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897880" y="338328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0.83 — strong on majority class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663440" y="3703320"/>
            <a:ext cx="4251960" cy="292608"/>
          </a:xfrm>
          <a:prstGeom prst="rect">
            <a:avLst/>
          </a:prstGeom>
          <a:solidFill>
            <a:srgbClr val="0F0F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754880" y="37033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472B6"/>
                </a:solidFill>
              </a:rPr>
              <a:t>Class 3 F1: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897880" y="370332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0.05 — nearly fails on premium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663440" y="4023360"/>
            <a:ext cx="4251960" cy="292608"/>
          </a:xfrm>
          <a:prstGeom prst="rect">
            <a:avLst/>
          </a:prstGeom>
          <a:solidFill>
            <a:srgbClr val="1212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54880" y="402336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D4FF"/>
                </a:solidFill>
              </a:rPr>
              <a:t>Best feature: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897880" y="40233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total_photos (importance: 0.24)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663440" y="4343400"/>
            <a:ext cx="4251960" cy="292608"/>
          </a:xfrm>
          <a:prstGeom prst="rect">
            <a:avLst/>
          </a:prstGeom>
          <a:solidFill>
            <a:srgbClr val="0F0F1E"/>
          </a:solidFill>
          <a:ln w="381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754880" y="4343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060A0"/>
                </a:solidFill>
              </a:rPr>
              <a:t>Conclusion: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897880" y="43434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060A0"/>
                </a:solidFill>
              </a:rPr>
              <a:t>More feature engineering needed for improvement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07070D"/>
          </a:solidFill>
          <a:ln w="12700">
            <a:solidFill>
              <a:srgbClr val="07070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583680" y="0"/>
            <a:ext cx="36576" cy="5143500"/>
          </a:xfrm>
          <a:prstGeom prst="rect">
            <a:avLst/>
          </a:prstGeom>
          <a:solidFill>
            <a:srgbClr val="1A1A28"/>
          </a:solidFill>
          <a:ln w="1270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8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Conclusions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28600" y="1005840"/>
            <a:ext cx="3017520" cy="111556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28600" y="1005840"/>
            <a:ext cx="54864" cy="111556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38328" y="1143000"/>
            <a:ext cx="384048" cy="384048"/>
          </a:xfrm>
          <a:prstGeom prst="rect">
            <a:avLst/>
          </a:prstGeom>
          <a:solidFill>
            <a:srgbClr val="FF6B35">
              <a:alpha val="25000"/>
            </a:srgbClr>
          </a:solidFill>
          <a:ln w="63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38328" y="1143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6B35"/>
                </a:solidFill>
              </a:rPr>
              <a:t>☕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22960" y="107899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B35"/>
                </a:solidFill>
              </a:rPr>
              <a:t>Café Culture Dominates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1463040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6060A0"/>
                </a:solidFill>
              </a:rPr>
              <a:t>Coffee Shop is the #1 category with 2,050 venues — 3× Burger Joint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83280" y="1005840"/>
            <a:ext cx="3017520" cy="111556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383280" y="1005840"/>
            <a:ext cx="54864" cy="1115568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493008" y="1143000"/>
            <a:ext cx="384048" cy="384048"/>
          </a:xfrm>
          <a:prstGeom prst="rect">
            <a:avLst/>
          </a:prstGeom>
          <a:solidFill>
            <a:srgbClr val="00D4FF">
              <a:alpha val="25000"/>
            </a:srgbClr>
          </a:solidFill>
          <a:ln w="635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93008" y="1143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D4FF"/>
                </a:solidFill>
              </a:rPr>
              <a:t>📍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977640" y="107899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FF"/>
                </a:solidFill>
              </a:rPr>
              <a:t>Northern Concentration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977640" y="1463040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6060A0"/>
                </a:solidFill>
              </a:rPr>
              <a:t>Hiteen, Dhahrat Laban, Al Malqa hold the highest dining density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28600" y="2267712"/>
            <a:ext cx="3017520" cy="111556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28600" y="2267712"/>
            <a:ext cx="54864" cy="111556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38328" y="2404872"/>
            <a:ext cx="384048" cy="384048"/>
          </a:xfrm>
          <a:prstGeom prst="rect">
            <a:avLst/>
          </a:prstGeom>
          <a:solidFill>
            <a:srgbClr val="4ADE80">
              <a:alpha val="25000"/>
            </a:srgbClr>
          </a:solidFill>
          <a:ln w="635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38328" y="2404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DE80"/>
                </a:solidFill>
              </a:rPr>
              <a:t>★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" y="234086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DE80"/>
                </a:solidFill>
              </a:rPr>
              <a:t>Price ≠ Quality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2960" y="2724912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6060A0"/>
                </a:solidFill>
              </a:rPr>
              <a:t>Budget restaurants achieve comparable ratings to premium venues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383280" y="2267712"/>
            <a:ext cx="3017520" cy="111556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383280" y="2267712"/>
            <a:ext cx="54864" cy="1115568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493008" y="2404872"/>
            <a:ext cx="384048" cy="384048"/>
          </a:xfrm>
          <a:prstGeom prst="rect">
            <a:avLst/>
          </a:prstGeom>
          <a:solidFill>
            <a:srgbClr val="FACC15">
              <a:alpha val="25000"/>
            </a:srgbClr>
          </a:solidFill>
          <a:ln w="63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93008" y="2404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ACC15"/>
                </a:solidFill>
              </a:rPr>
              <a:t>◉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977640" y="234086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ACC15"/>
                </a:solidFill>
              </a:rPr>
              <a:t>Popularity Correlation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977640" y="2724912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6060A0"/>
                </a:solidFill>
              </a:rPr>
              <a:t>Photos ↔ Ratings (0.61) — both signals of restaurant visibility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8600" y="3529584"/>
            <a:ext cx="3017520" cy="111556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28600" y="3529584"/>
            <a:ext cx="54864" cy="1115568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38328" y="3666744"/>
            <a:ext cx="384048" cy="384048"/>
          </a:xfrm>
          <a:prstGeom prst="rect">
            <a:avLst/>
          </a:prstGeom>
          <a:solidFill>
            <a:srgbClr val="F472B6">
              <a:alpha val="25000"/>
            </a:srgbClr>
          </a:solidFill>
          <a:ln w="635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38328" y="36667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472B6"/>
                </a:solidFill>
              </a:rPr>
              <a:t>◈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" y="360273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72B6"/>
                </a:solidFill>
              </a:rPr>
              <a:t>Variety = Affordable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22960" y="3986784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6060A0"/>
                </a:solidFill>
              </a:rPr>
              <a:t>Price level 1 is consistently most diverse — premium lacks variety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383280" y="3529584"/>
            <a:ext cx="3017520" cy="1115568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383280" y="3529584"/>
            <a:ext cx="54864" cy="11155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493008" y="3666744"/>
            <a:ext cx="384048" cy="384048"/>
          </a:xfrm>
          <a:prstGeom prst="rect">
            <a:avLst/>
          </a:prstGeom>
          <a:solidFill>
            <a:srgbClr val="A78BFA">
              <a:alpha val="25000"/>
            </a:srgbClr>
          </a:solidFill>
          <a:ln w="63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493008" y="36667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78BFA"/>
                </a:solidFill>
              </a:rPr>
              <a:t>⚙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977640" y="360273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78BFA"/>
                </a:solidFill>
              </a:rPr>
              <a:t>ML Limitation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977640" y="3986784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6060A0"/>
                </a:solidFill>
              </a:rPr>
              <a:t>72% RF accuracy — pricing driven by unmeasured intangibles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675120" y="3657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Project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</a:rPr>
              <a:t>Links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6675120" y="1097280"/>
            <a:ext cx="2331720" cy="10058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675120" y="11430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B35"/>
                </a:solidFill>
              </a:rPr>
              <a:t>📓 Notebook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675120" y="1481328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800" dirty="0">
                <a:solidFill>
                  <a:srgbClr val="6060A0"/>
                </a:solidFill>
              </a:rPr>
              <a:t>GitHub: AbdulrahmanB-25</a:t>
            </a:r>
            <a:endParaRPr lang="en-US" sz="8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800" dirty="0">
                <a:solidFill>
                  <a:srgbClr val="6060A0"/>
                </a:solidFill>
              </a:rPr>
              <a:t>/EDA_Project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675120" y="2286000"/>
            <a:ext cx="2331720" cy="10058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675120" y="23317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B35"/>
                </a:solidFill>
              </a:rPr>
              <a:t>🌐 Live App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675120" y="2670048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800" dirty="0">
                <a:solidFill>
                  <a:srgbClr val="6060A0"/>
                </a:solidFill>
              </a:rPr>
              <a:t>riyadh-restaurant-eda</a:t>
            </a:r>
            <a:endParaRPr lang="en-US" sz="8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800" dirty="0">
                <a:solidFill>
                  <a:srgbClr val="6060A0"/>
                </a:solidFill>
              </a:rPr>
              <a:t>.streamlit.app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675120" y="3474720"/>
            <a:ext cx="2331720" cy="1005840"/>
          </a:xfrm>
          <a:prstGeom prst="rect">
            <a:avLst/>
          </a:prstGeom>
          <a:solidFill>
            <a:srgbClr val="12121E"/>
          </a:solidFill>
          <a:ln w="6350">
            <a:solidFill>
              <a:srgbClr val="1A1A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675120" y="3520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B35"/>
                </a:solidFill>
              </a:rPr>
              <a:t>📊 Dataset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675120" y="3858768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800" dirty="0">
                <a:solidFill>
                  <a:srgbClr val="6060A0"/>
                </a:solidFill>
              </a:rPr>
              <a:t>Kaggle: mohammedaldakhil</a:t>
            </a:r>
            <a:endParaRPr lang="en-US" sz="8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800" dirty="0">
                <a:solidFill>
                  <a:srgbClr val="6060A0"/>
                </a:solidFill>
              </a:rPr>
              <a:t>/27k-riyadh-places-raw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28600" y="4892040"/>
            <a:ext cx="6126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A2A40"/>
                </a:solidFill>
              </a:rPr>
              <a:t>Unit 3 Final Project · Riyadh Restaurant EDA · Data: Kaggle / Foursquare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2449</Words>
  <Application>Microsoft Office PowerPoint</Application>
  <PresentationFormat>On-screen Show (16:9)</PresentationFormat>
  <Paragraphs>415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Riyadh Restaurant EDA Project</dc:title>
  <dc:subject>PptxGenJS Presentation</dc:subject>
  <dc:creator>PptxGenJS</dc:creator>
  <cp:lastModifiedBy>Hmnae B</cp:lastModifiedBy>
  <cp:revision>2</cp:revision>
  <dcterms:created xsi:type="dcterms:W3CDTF">2026-03-11T02:25:00Z</dcterms:created>
  <dcterms:modified xsi:type="dcterms:W3CDTF">2026-03-11T02:34:26Z</dcterms:modified>
</cp:coreProperties>
</file>