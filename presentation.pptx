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charts/chart5.xml" ContentType="application/vnd.openxmlformats-officedocument.drawingml.chart+xml"/>
  <Override PartName="/ppt/notesSlides/notesSlide15.xml" ContentType="application/vnd.openxmlformats-officedocument.presentationml.notesSlide+xml"/>
  <Override PartName="/ppt/charts/chart6.xml" ContentType="application/vnd.openxmlformats-officedocument.drawingml.chart+xml"/>
  <Override PartName="/ppt/notesSlides/notesSlide16.xml" ContentType="application/vnd.openxmlformats-officedocument.presentationml.notesSlide+xml"/>
  <Override PartName="/ppt/charts/chart7.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8.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75" r:id="rId4"/>
    <p:sldId id="258" r:id="rId5"/>
    <p:sldId id="276" r:id="rId6"/>
    <p:sldId id="277" r:id="rId7"/>
    <p:sldId id="278" r:id="rId8"/>
    <p:sldId id="279" r:id="rId9"/>
    <p:sldId id="281"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42" y="4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E8E8FF"/>
                </a:solidFill>
                <a:latin typeface="Arial"/>
              </a:defRPr>
            </a:pPr>
            <a:r>
              <a:rPr lang="en-US" sz="1100" b="0" i="0" u="none" strike="noStrike">
                <a:solidFill>
                  <a:srgbClr val="E8E8FF"/>
                </a:solidFill>
                <a:latin typeface="Arial"/>
              </a:rPr>
              <a:t>Distribution of Restaurant Ratings</a:t>
            </a:r>
          </a:p>
        </c:rich>
      </c:tx>
      <c:overlay val="0"/>
    </c:title>
    <c:autoTitleDeleted val="0"/>
    <c:plotArea>
      <c:layout/>
      <c:barChart>
        <c:barDir val="col"/>
        <c:grouping val="clustered"/>
        <c:varyColors val="0"/>
        <c:ser>
          <c:idx val="0"/>
          <c:order val="0"/>
          <c:tx>
            <c:strRef>
              <c:f>Sheet1!$B$1</c:f>
              <c:strCache>
                <c:ptCount val="1"/>
                <c:pt idx="0">
                  <c:v>Count</c:v>
                </c:pt>
              </c:strCache>
            </c:strRef>
          </c:tx>
          <c:spPr>
            <a:solidFill>
              <a:srgbClr val="FF6B35"/>
            </a:solidFill>
            <a:effectLst/>
          </c:spPr>
          <c:invertIfNegative val="0"/>
          <c:cat>
            <c:strRef>
              <c:f>Sheet1!$A$2:$A$9</c:f>
              <c:strCache>
                <c:ptCount val="8"/>
                <c:pt idx="0">
                  <c:v>&lt;5</c:v>
                </c:pt>
                <c:pt idx="1">
                  <c:v>5–6</c:v>
                </c:pt>
                <c:pt idx="2">
                  <c:v>6–7</c:v>
                </c:pt>
                <c:pt idx="3">
                  <c:v>7–7.5</c:v>
                </c:pt>
                <c:pt idx="4">
                  <c:v>7.5–8</c:v>
                </c:pt>
                <c:pt idx="5">
                  <c:v>8–8.5</c:v>
                </c:pt>
                <c:pt idx="6">
                  <c:v>8.5–9</c:v>
                </c:pt>
                <c:pt idx="7">
                  <c:v>9–10</c:v>
                </c:pt>
              </c:strCache>
            </c:strRef>
          </c:cat>
          <c:val>
            <c:numRef>
              <c:f>Sheet1!$B$2:$B$9</c:f>
              <c:numCache>
                <c:formatCode>General</c:formatCode>
                <c:ptCount val="8"/>
                <c:pt idx="0">
                  <c:v>30</c:v>
                </c:pt>
                <c:pt idx="1">
                  <c:v>85</c:v>
                </c:pt>
                <c:pt idx="2">
                  <c:v>210</c:v>
                </c:pt>
                <c:pt idx="3">
                  <c:v>480</c:v>
                </c:pt>
                <c:pt idx="4">
                  <c:v>650</c:v>
                </c:pt>
                <c:pt idx="5">
                  <c:v>620</c:v>
                </c:pt>
                <c:pt idx="6">
                  <c:v>380</c:v>
                </c:pt>
                <c:pt idx="7">
                  <c:v>120</c:v>
                </c:pt>
              </c:numCache>
            </c:numRef>
          </c:val>
          <c:extLst>
            <c:ext xmlns:c16="http://schemas.microsoft.com/office/drawing/2014/chart" uri="{C3380CC4-5D6E-409C-BE32-E72D297353CC}">
              <c16:uniqueId val="{00000000-1ACD-4556-B022-B7F275169323}"/>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A1A28"/>
              </a:solidFill>
              <a:prstDash val="solid"/>
              <a:round/>
            </a:ln>
          </c:spPr>
        </c:majorGridlines>
        <c:numFmt formatCode="General" sourceLinked="0"/>
        <c:majorTickMark val="out"/>
        <c:minorTickMark val="none"/>
        <c:tickLblPos val="nextTo"/>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4"/>
        <c:crosses val="autoZero"/>
        <c:crossBetween val="between"/>
      </c:valAx>
      <c:spPr>
        <a:solidFill>
          <a:srgbClr val="12121E"/>
        </a:solidFill>
        <a:ln>
          <a:noFill/>
        </a:ln>
        <a:effectLst/>
      </c:spPr>
    </c:plotArea>
    <c:plotVisOnly val="1"/>
    <c:dispBlanksAs val="span"/>
    <c:showDLblsOverMax val="1"/>
  </c:chart>
  <c:spPr>
    <a:solidFill>
      <a:srgbClr val="12121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E8E8FF"/>
                </a:solidFill>
                <a:latin typeface="Arial"/>
              </a:defRPr>
            </a:pPr>
            <a:r>
              <a:rPr lang="en-US" sz="1100" b="0" i="0" u="none" strike="noStrike">
                <a:solidFill>
                  <a:srgbClr val="E8E8FF"/>
                </a:solidFill>
                <a:latin typeface="Arial"/>
              </a:rPr>
              <a:t>Distribution of Price Levels</a:t>
            </a:r>
          </a:p>
        </c:rich>
      </c:tx>
      <c:overlay val="0"/>
    </c:title>
    <c:autoTitleDeleted val="0"/>
    <c:plotArea>
      <c:layout/>
      <c:barChart>
        <c:barDir val="col"/>
        <c:grouping val="clustered"/>
        <c:varyColors val="0"/>
        <c:ser>
          <c:idx val="0"/>
          <c:order val="0"/>
          <c:tx>
            <c:strRef>
              <c:f>Sheet1!$B$1</c:f>
              <c:strCache>
                <c:ptCount val="1"/>
                <c:pt idx="0">
                  <c:v>Restaurants</c:v>
                </c:pt>
              </c:strCache>
            </c:strRef>
          </c:tx>
          <c:spPr>
            <a:solidFill>
              <a:srgbClr val="6060A0"/>
            </a:solidFill>
            <a:effectLst/>
          </c:spPr>
          <c:invertIfNegative val="0"/>
          <c:dPt>
            <c:idx val="0"/>
            <c:invertIfNegative val="0"/>
            <c:bubble3D val="0"/>
            <c:extLst>
              <c:ext xmlns:c16="http://schemas.microsoft.com/office/drawing/2014/chart" uri="{C3380CC4-5D6E-409C-BE32-E72D297353CC}">
                <c16:uniqueId val="{00000001-2116-46AC-BDA6-830401C3AEC6}"/>
              </c:ext>
            </c:extLst>
          </c:dPt>
          <c:dPt>
            <c:idx val="1"/>
            <c:invertIfNegative val="0"/>
            <c:bubble3D val="0"/>
            <c:spPr>
              <a:solidFill>
                <a:srgbClr val="FF6B35"/>
              </a:solidFill>
              <a:effectLst/>
            </c:spPr>
            <c:extLst>
              <c:ext xmlns:c16="http://schemas.microsoft.com/office/drawing/2014/chart" uri="{C3380CC4-5D6E-409C-BE32-E72D297353CC}">
                <c16:uniqueId val="{00000003-2116-46AC-BDA6-830401C3AEC6}"/>
              </c:ext>
            </c:extLst>
          </c:dPt>
          <c:dPt>
            <c:idx val="2"/>
            <c:invertIfNegative val="0"/>
            <c:bubble3D val="0"/>
            <c:spPr>
              <a:solidFill>
                <a:srgbClr val="00D4FF"/>
              </a:solidFill>
              <a:effectLst/>
            </c:spPr>
            <c:extLst>
              <c:ext xmlns:c16="http://schemas.microsoft.com/office/drawing/2014/chart" uri="{C3380CC4-5D6E-409C-BE32-E72D297353CC}">
                <c16:uniqueId val="{00000005-2116-46AC-BDA6-830401C3AEC6}"/>
              </c:ext>
            </c:extLst>
          </c:dPt>
          <c:dPt>
            <c:idx val="3"/>
            <c:invertIfNegative val="0"/>
            <c:bubble3D val="0"/>
            <c:spPr>
              <a:solidFill>
                <a:srgbClr val="4ADE80"/>
              </a:solidFill>
              <a:effectLst/>
            </c:spPr>
            <c:extLst>
              <c:ext xmlns:c16="http://schemas.microsoft.com/office/drawing/2014/chart" uri="{C3380CC4-5D6E-409C-BE32-E72D297353CC}">
                <c16:uniqueId val="{00000007-2116-46AC-BDA6-830401C3AEC6}"/>
              </c:ext>
            </c:extLst>
          </c:dPt>
          <c:dPt>
            <c:idx val="4"/>
            <c:invertIfNegative val="0"/>
            <c:bubble3D val="0"/>
            <c:spPr>
              <a:solidFill>
                <a:srgbClr val="F472B6"/>
              </a:solidFill>
              <a:effectLst/>
            </c:spPr>
            <c:extLst>
              <c:ext xmlns:c16="http://schemas.microsoft.com/office/drawing/2014/chart" uri="{C3380CC4-5D6E-409C-BE32-E72D297353CC}">
                <c16:uniqueId val="{00000009-2116-46AC-BDA6-830401C3AEC6}"/>
              </c:ext>
            </c:extLst>
          </c:dPt>
          <c:dLbls>
            <c:numFmt formatCode="#,##0" sourceLinked="0"/>
            <c:spPr>
              <a:noFill/>
              <a:ln>
                <a:noFill/>
              </a:ln>
              <a:effectLst/>
            </c:spPr>
            <c:txPr>
              <a:bodyPr/>
              <a:lstStyle/>
              <a:p>
                <a:pPr>
                  <a:defRPr sz="900" b="0" i="0" u="none" strike="noStrike">
                    <a:solidFill>
                      <a:srgbClr val="E8E8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 (Unpriced)</c:v>
                </c:pt>
                <c:pt idx="1">
                  <c:v>1 ($)</c:v>
                </c:pt>
                <c:pt idx="2">
                  <c:v>2 ($$)</c:v>
                </c:pt>
                <c:pt idx="3">
                  <c:v>3 ($$$)</c:v>
                </c:pt>
                <c:pt idx="4">
                  <c:v>4 ($$$$)</c:v>
                </c:pt>
              </c:strCache>
            </c:strRef>
          </c:cat>
          <c:val>
            <c:numRef>
              <c:f>Sheet1!$B$2:$B$6</c:f>
              <c:numCache>
                <c:formatCode>General</c:formatCode>
                <c:ptCount val="5"/>
                <c:pt idx="0">
                  <c:v>820</c:v>
                </c:pt>
                <c:pt idx="1">
                  <c:v>2400</c:v>
                </c:pt>
                <c:pt idx="2">
                  <c:v>700</c:v>
                </c:pt>
                <c:pt idx="3">
                  <c:v>150</c:v>
                </c:pt>
                <c:pt idx="4">
                  <c:v>8</c:v>
                </c:pt>
              </c:numCache>
            </c:numRef>
          </c:val>
          <c:extLst>
            <c:ext xmlns:c16="http://schemas.microsoft.com/office/drawing/2014/chart" uri="{C3380CC4-5D6E-409C-BE32-E72D297353CC}">
              <c16:uniqueId val="{0000000A-2116-46AC-BDA6-830401C3AEC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A1A28"/>
              </a:solidFill>
              <a:prstDash val="solid"/>
              <a:round/>
            </a:ln>
          </c:spPr>
        </c:majorGridlines>
        <c:numFmt formatCode="General" sourceLinked="0"/>
        <c:majorTickMark val="out"/>
        <c:minorTickMark val="none"/>
        <c:tickLblPos val="nextTo"/>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4"/>
        <c:crosses val="autoZero"/>
        <c:crossBetween val="between"/>
      </c:valAx>
      <c:spPr>
        <a:solidFill>
          <a:srgbClr val="12121E"/>
        </a:solidFill>
        <a:ln>
          <a:noFill/>
        </a:ln>
        <a:effectLst/>
      </c:spPr>
    </c:plotArea>
    <c:plotVisOnly val="1"/>
    <c:dispBlanksAs val="span"/>
    <c:showDLblsOverMax val="1"/>
  </c:chart>
  <c:spPr>
    <a:solidFill>
      <a:srgbClr val="12121E"/>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E8E8FF"/>
                </a:solidFill>
                <a:latin typeface="Arial"/>
              </a:defRPr>
            </a:pPr>
            <a:r>
              <a:rPr lang="en-US" sz="1100" b="0" i="0" u="none" strike="noStrike">
                <a:solidFill>
                  <a:srgbClr val="E8E8FF"/>
                </a:solidFill>
                <a:latin typeface="Arial"/>
              </a:rPr>
              <a:t>Top 10 Restaurant Categories by Count</a:t>
            </a:r>
          </a:p>
        </c:rich>
      </c:tx>
      <c:overlay val="0"/>
    </c:title>
    <c:autoTitleDeleted val="0"/>
    <c:plotArea>
      <c:layout/>
      <c:barChart>
        <c:barDir val="bar"/>
        <c:grouping val="clustered"/>
        <c:varyColors val="0"/>
        <c:ser>
          <c:idx val="0"/>
          <c:order val="0"/>
          <c:tx>
            <c:strRef>
              <c:f>Sheet1!$B$1</c:f>
              <c:strCache>
                <c:ptCount val="1"/>
                <c:pt idx="0">
                  <c:v>Count</c:v>
                </c:pt>
              </c:strCache>
            </c:strRef>
          </c:tx>
          <c:spPr>
            <a:solidFill>
              <a:srgbClr val="FF6B35"/>
            </a:solidFill>
            <a:effectLst/>
          </c:spPr>
          <c:invertIfNegative val="0"/>
          <c:dPt>
            <c:idx val="0"/>
            <c:invertIfNegative val="0"/>
            <c:bubble3D val="0"/>
            <c:extLst>
              <c:ext xmlns:c16="http://schemas.microsoft.com/office/drawing/2014/chart" uri="{C3380CC4-5D6E-409C-BE32-E72D297353CC}">
                <c16:uniqueId val="{00000001-DCE1-4C92-8650-730218FD4B2F}"/>
              </c:ext>
            </c:extLst>
          </c:dPt>
          <c:dPt>
            <c:idx val="1"/>
            <c:invertIfNegative val="0"/>
            <c:bubble3D val="0"/>
            <c:spPr>
              <a:solidFill>
                <a:srgbClr val="00D4FF"/>
              </a:solidFill>
              <a:effectLst/>
            </c:spPr>
            <c:extLst>
              <c:ext xmlns:c16="http://schemas.microsoft.com/office/drawing/2014/chart" uri="{C3380CC4-5D6E-409C-BE32-E72D297353CC}">
                <c16:uniqueId val="{00000003-DCE1-4C92-8650-730218FD4B2F}"/>
              </c:ext>
            </c:extLst>
          </c:dPt>
          <c:dPt>
            <c:idx val="2"/>
            <c:invertIfNegative val="0"/>
            <c:bubble3D val="0"/>
            <c:spPr>
              <a:solidFill>
                <a:srgbClr val="4ADE80"/>
              </a:solidFill>
              <a:effectLst/>
            </c:spPr>
            <c:extLst>
              <c:ext xmlns:c16="http://schemas.microsoft.com/office/drawing/2014/chart" uri="{C3380CC4-5D6E-409C-BE32-E72D297353CC}">
                <c16:uniqueId val="{00000005-DCE1-4C92-8650-730218FD4B2F}"/>
              </c:ext>
            </c:extLst>
          </c:dPt>
          <c:dPt>
            <c:idx val="3"/>
            <c:invertIfNegative val="0"/>
            <c:bubble3D val="0"/>
            <c:spPr>
              <a:solidFill>
                <a:srgbClr val="FACC15"/>
              </a:solidFill>
              <a:effectLst/>
            </c:spPr>
            <c:extLst>
              <c:ext xmlns:c16="http://schemas.microsoft.com/office/drawing/2014/chart" uri="{C3380CC4-5D6E-409C-BE32-E72D297353CC}">
                <c16:uniqueId val="{00000007-DCE1-4C92-8650-730218FD4B2F}"/>
              </c:ext>
            </c:extLst>
          </c:dPt>
          <c:dPt>
            <c:idx val="4"/>
            <c:invertIfNegative val="0"/>
            <c:bubble3D val="0"/>
            <c:spPr>
              <a:solidFill>
                <a:srgbClr val="F472B6"/>
              </a:solidFill>
              <a:effectLst/>
            </c:spPr>
            <c:extLst>
              <c:ext xmlns:c16="http://schemas.microsoft.com/office/drawing/2014/chart" uri="{C3380CC4-5D6E-409C-BE32-E72D297353CC}">
                <c16:uniqueId val="{00000009-DCE1-4C92-8650-730218FD4B2F}"/>
              </c:ext>
            </c:extLst>
          </c:dPt>
          <c:dPt>
            <c:idx val="5"/>
            <c:invertIfNegative val="0"/>
            <c:bubble3D val="0"/>
            <c:spPr>
              <a:solidFill>
                <a:srgbClr val="A78BFA"/>
              </a:solidFill>
              <a:effectLst/>
            </c:spPr>
            <c:extLst>
              <c:ext xmlns:c16="http://schemas.microsoft.com/office/drawing/2014/chart" uri="{C3380CC4-5D6E-409C-BE32-E72D297353CC}">
                <c16:uniqueId val="{0000000B-DCE1-4C92-8650-730218FD4B2F}"/>
              </c:ext>
            </c:extLst>
          </c:dPt>
          <c:dPt>
            <c:idx val="6"/>
            <c:invertIfNegative val="0"/>
            <c:bubble3D val="0"/>
            <c:spPr>
              <a:solidFill>
                <a:srgbClr val="34D399"/>
              </a:solidFill>
              <a:effectLst/>
            </c:spPr>
            <c:extLst>
              <c:ext xmlns:c16="http://schemas.microsoft.com/office/drawing/2014/chart" uri="{C3380CC4-5D6E-409C-BE32-E72D297353CC}">
                <c16:uniqueId val="{0000000D-DCE1-4C92-8650-730218FD4B2F}"/>
              </c:ext>
            </c:extLst>
          </c:dPt>
          <c:dPt>
            <c:idx val="7"/>
            <c:invertIfNegative val="0"/>
            <c:bubble3D val="0"/>
            <c:spPr>
              <a:solidFill>
                <a:srgbClr val="FB7185"/>
              </a:solidFill>
              <a:effectLst/>
            </c:spPr>
            <c:extLst>
              <c:ext xmlns:c16="http://schemas.microsoft.com/office/drawing/2014/chart" uri="{C3380CC4-5D6E-409C-BE32-E72D297353CC}">
                <c16:uniqueId val="{0000000F-DCE1-4C92-8650-730218FD4B2F}"/>
              </c:ext>
            </c:extLst>
          </c:dPt>
          <c:dPt>
            <c:idx val="8"/>
            <c:invertIfNegative val="0"/>
            <c:bubble3D val="0"/>
            <c:spPr>
              <a:solidFill>
                <a:srgbClr val="38BDF8"/>
              </a:solidFill>
              <a:effectLst/>
            </c:spPr>
            <c:extLst>
              <c:ext xmlns:c16="http://schemas.microsoft.com/office/drawing/2014/chart" uri="{C3380CC4-5D6E-409C-BE32-E72D297353CC}">
                <c16:uniqueId val="{00000011-DCE1-4C92-8650-730218FD4B2F}"/>
              </c:ext>
            </c:extLst>
          </c:dPt>
          <c:dPt>
            <c:idx val="9"/>
            <c:invertIfNegative val="0"/>
            <c:bubble3D val="0"/>
            <c:extLst>
              <c:ext xmlns:c16="http://schemas.microsoft.com/office/drawing/2014/chart" uri="{C3380CC4-5D6E-409C-BE32-E72D297353CC}">
                <c16:uniqueId val="{00000013-DCE1-4C92-8650-730218FD4B2F}"/>
              </c:ext>
            </c:extLst>
          </c:dPt>
          <c:dLbls>
            <c:numFmt formatCode="#,##0" sourceLinked="0"/>
            <c:spPr>
              <a:noFill/>
              <a:ln>
                <a:noFill/>
              </a:ln>
              <a:effectLst/>
            </c:spPr>
            <c:txPr>
              <a:bodyPr/>
              <a:lstStyle/>
              <a:p>
                <a:pPr>
                  <a:defRPr sz="800" b="0" i="0" u="none" strike="noStrike">
                    <a:solidFill>
                      <a:srgbClr val="E8E8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Coffee Shop</c:v>
                </c:pt>
                <c:pt idx="1">
                  <c:v>Burger Joint</c:v>
                </c:pt>
                <c:pt idx="2">
                  <c:v>Restaurant</c:v>
                </c:pt>
                <c:pt idx="3">
                  <c:v>Middle Eastern</c:v>
                </c:pt>
                <c:pt idx="4">
                  <c:v>Dessert Shop</c:v>
                </c:pt>
                <c:pt idx="5">
                  <c:v>Breakfast Spot</c:v>
                </c:pt>
                <c:pt idx="6">
                  <c:v>Fast Food</c:v>
                </c:pt>
                <c:pt idx="7">
                  <c:v>Bakery</c:v>
                </c:pt>
                <c:pt idx="8">
                  <c:v>Tea Room</c:v>
                </c:pt>
                <c:pt idx="9">
                  <c:v>Shawarma</c:v>
                </c:pt>
              </c:strCache>
            </c:strRef>
          </c:cat>
          <c:val>
            <c:numRef>
              <c:f>Sheet1!$B$2:$B$11</c:f>
              <c:numCache>
                <c:formatCode>General</c:formatCode>
                <c:ptCount val="10"/>
                <c:pt idx="0">
                  <c:v>2050</c:v>
                </c:pt>
                <c:pt idx="1">
                  <c:v>640</c:v>
                </c:pt>
                <c:pt idx="2">
                  <c:v>460</c:v>
                </c:pt>
                <c:pt idx="3">
                  <c:v>420</c:v>
                </c:pt>
                <c:pt idx="4">
                  <c:v>350</c:v>
                </c:pt>
                <c:pt idx="5">
                  <c:v>340</c:v>
                </c:pt>
                <c:pt idx="6">
                  <c:v>310</c:v>
                </c:pt>
                <c:pt idx="7">
                  <c:v>295</c:v>
                </c:pt>
                <c:pt idx="8">
                  <c:v>280</c:v>
                </c:pt>
                <c:pt idx="9">
                  <c:v>270</c:v>
                </c:pt>
              </c:numCache>
            </c:numRef>
          </c:val>
          <c:extLst>
            <c:ext xmlns:c16="http://schemas.microsoft.com/office/drawing/2014/chart" uri="{C3380CC4-5D6E-409C-BE32-E72D297353CC}">
              <c16:uniqueId val="{00000014-DCE1-4C92-8650-730218FD4B2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A1A28"/>
              </a:solidFill>
              <a:prstDash val="solid"/>
              <a:round/>
            </a:ln>
          </c:spPr>
        </c:majorGridlines>
        <c:numFmt formatCode="General" sourceLinked="0"/>
        <c:majorTickMark val="out"/>
        <c:minorTickMark val="none"/>
        <c:tickLblPos val="low"/>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4"/>
        <c:crosses val="autoZero"/>
        <c:crossBetween val="between"/>
      </c:valAx>
      <c:spPr>
        <a:solidFill>
          <a:srgbClr val="12121E"/>
        </a:solidFill>
        <a:ln>
          <a:noFill/>
        </a:ln>
        <a:effectLst/>
      </c:spPr>
    </c:plotArea>
    <c:plotVisOnly val="1"/>
    <c:dispBlanksAs val="span"/>
    <c:showDLblsOverMax val="1"/>
  </c:chart>
  <c:spPr>
    <a:solidFill>
      <a:srgbClr val="12121E"/>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E8E8FF"/>
                </a:solidFill>
                <a:latin typeface="Arial"/>
              </a:defRPr>
            </a:pPr>
            <a:r>
              <a:rPr lang="en-US" sz="1100" b="0" i="0" u="none" strike="noStrike">
                <a:solidFill>
                  <a:srgbClr val="E8E8FF"/>
                </a:solidFill>
                <a:latin typeface="Arial"/>
              </a:rPr>
              <a:t>Top Rated Restaurant Categories (Average Rating)</a:t>
            </a:r>
          </a:p>
        </c:rich>
      </c:tx>
      <c:overlay val="0"/>
    </c:title>
    <c:autoTitleDeleted val="0"/>
    <c:plotArea>
      <c:layout/>
      <c:barChart>
        <c:barDir val="bar"/>
        <c:grouping val="clustered"/>
        <c:varyColors val="0"/>
        <c:ser>
          <c:idx val="0"/>
          <c:order val="0"/>
          <c:tx>
            <c:strRef>
              <c:f>Sheet1!$B$1</c:f>
              <c:strCache>
                <c:ptCount val="1"/>
                <c:pt idx="0">
                  <c:v>Avg Rating</c:v>
                </c:pt>
              </c:strCache>
            </c:strRef>
          </c:tx>
          <c:spPr>
            <a:solidFill>
              <a:srgbClr val="FF6B35"/>
            </a:solidFill>
            <a:effectLst/>
          </c:spPr>
          <c:invertIfNegative val="0"/>
          <c:dPt>
            <c:idx val="0"/>
            <c:invertIfNegative val="0"/>
            <c:bubble3D val="0"/>
            <c:extLst>
              <c:ext xmlns:c16="http://schemas.microsoft.com/office/drawing/2014/chart" uri="{C3380CC4-5D6E-409C-BE32-E72D297353CC}">
                <c16:uniqueId val="{00000001-A311-4DCE-96F8-0DD4053B1563}"/>
              </c:ext>
            </c:extLst>
          </c:dPt>
          <c:dPt>
            <c:idx val="1"/>
            <c:invertIfNegative val="0"/>
            <c:bubble3D val="0"/>
            <c:spPr>
              <a:solidFill>
                <a:srgbClr val="00D4FF"/>
              </a:solidFill>
              <a:effectLst/>
            </c:spPr>
            <c:extLst>
              <c:ext xmlns:c16="http://schemas.microsoft.com/office/drawing/2014/chart" uri="{C3380CC4-5D6E-409C-BE32-E72D297353CC}">
                <c16:uniqueId val="{00000003-A311-4DCE-96F8-0DD4053B1563}"/>
              </c:ext>
            </c:extLst>
          </c:dPt>
          <c:dPt>
            <c:idx val="2"/>
            <c:invertIfNegative val="0"/>
            <c:bubble3D val="0"/>
            <c:spPr>
              <a:solidFill>
                <a:srgbClr val="4ADE80"/>
              </a:solidFill>
              <a:effectLst/>
            </c:spPr>
            <c:extLst>
              <c:ext xmlns:c16="http://schemas.microsoft.com/office/drawing/2014/chart" uri="{C3380CC4-5D6E-409C-BE32-E72D297353CC}">
                <c16:uniqueId val="{00000005-A311-4DCE-96F8-0DD4053B1563}"/>
              </c:ext>
            </c:extLst>
          </c:dPt>
          <c:dPt>
            <c:idx val="3"/>
            <c:invertIfNegative val="0"/>
            <c:bubble3D val="0"/>
            <c:spPr>
              <a:solidFill>
                <a:srgbClr val="FACC15"/>
              </a:solidFill>
              <a:effectLst/>
            </c:spPr>
            <c:extLst>
              <c:ext xmlns:c16="http://schemas.microsoft.com/office/drawing/2014/chart" uri="{C3380CC4-5D6E-409C-BE32-E72D297353CC}">
                <c16:uniqueId val="{00000007-A311-4DCE-96F8-0DD4053B1563}"/>
              </c:ext>
            </c:extLst>
          </c:dPt>
          <c:dPt>
            <c:idx val="4"/>
            <c:invertIfNegative val="0"/>
            <c:bubble3D val="0"/>
            <c:spPr>
              <a:solidFill>
                <a:srgbClr val="F472B6"/>
              </a:solidFill>
              <a:effectLst/>
            </c:spPr>
            <c:extLst>
              <c:ext xmlns:c16="http://schemas.microsoft.com/office/drawing/2014/chart" uri="{C3380CC4-5D6E-409C-BE32-E72D297353CC}">
                <c16:uniqueId val="{00000009-A311-4DCE-96F8-0DD4053B1563}"/>
              </c:ext>
            </c:extLst>
          </c:dPt>
          <c:dPt>
            <c:idx val="5"/>
            <c:invertIfNegative val="0"/>
            <c:bubble3D val="0"/>
            <c:spPr>
              <a:solidFill>
                <a:srgbClr val="A78BFA"/>
              </a:solidFill>
              <a:effectLst/>
            </c:spPr>
            <c:extLst>
              <c:ext xmlns:c16="http://schemas.microsoft.com/office/drawing/2014/chart" uri="{C3380CC4-5D6E-409C-BE32-E72D297353CC}">
                <c16:uniqueId val="{0000000B-A311-4DCE-96F8-0DD4053B1563}"/>
              </c:ext>
            </c:extLst>
          </c:dPt>
          <c:dPt>
            <c:idx val="6"/>
            <c:invertIfNegative val="0"/>
            <c:bubble3D val="0"/>
            <c:spPr>
              <a:solidFill>
                <a:srgbClr val="34D399"/>
              </a:solidFill>
              <a:effectLst/>
            </c:spPr>
            <c:extLst>
              <c:ext xmlns:c16="http://schemas.microsoft.com/office/drawing/2014/chart" uri="{C3380CC4-5D6E-409C-BE32-E72D297353CC}">
                <c16:uniqueId val="{0000000D-A311-4DCE-96F8-0DD4053B1563}"/>
              </c:ext>
            </c:extLst>
          </c:dPt>
          <c:dPt>
            <c:idx val="7"/>
            <c:invertIfNegative val="0"/>
            <c:bubble3D val="0"/>
            <c:spPr>
              <a:solidFill>
                <a:srgbClr val="FB7185"/>
              </a:solidFill>
              <a:effectLst/>
            </c:spPr>
            <c:extLst>
              <c:ext xmlns:c16="http://schemas.microsoft.com/office/drawing/2014/chart" uri="{C3380CC4-5D6E-409C-BE32-E72D297353CC}">
                <c16:uniqueId val="{0000000F-A311-4DCE-96F8-0DD4053B1563}"/>
              </c:ext>
            </c:extLst>
          </c:dPt>
          <c:dPt>
            <c:idx val="8"/>
            <c:invertIfNegative val="0"/>
            <c:bubble3D val="0"/>
            <c:spPr>
              <a:solidFill>
                <a:srgbClr val="38BDF8"/>
              </a:solidFill>
              <a:effectLst/>
            </c:spPr>
            <c:extLst>
              <c:ext xmlns:c16="http://schemas.microsoft.com/office/drawing/2014/chart" uri="{C3380CC4-5D6E-409C-BE32-E72D297353CC}">
                <c16:uniqueId val="{00000011-A311-4DCE-96F8-0DD4053B1563}"/>
              </c:ext>
            </c:extLst>
          </c:dPt>
          <c:dPt>
            <c:idx val="9"/>
            <c:invertIfNegative val="0"/>
            <c:bubble3D val="0"/>
            <c:extLst>
              <c:ext xmlns:c16="http://schemas.microsoft.com/office/drawing/2014/chart" uri="{C3380CC4-5D6E-409C-BE32-E72D297353CC}">
                <c16:uniqueId val="{00000013-A311-4DCE-96F8-0DD4053B1563}"/>
              </c:ext>
            </c:extLst>
          </c:dPt>
          <c:dLbls>
            <c:dLbl>
              <c:idx val="0"/>
              <c:tx>
                <c:rich>
                  <a:bodyPr/>
                  <a:lstStyle/>
                  <a:p>
                    <a:fld id="{7E7D8294-C4BA-496C-9499-6258B05D147F}" type="VALUE">
                      <a:rPr lang="en-US" smtClean="0"/>
                      <a:pPr/>
                      <a:t>[VALUE]</a:t>
                    </a:fld>
                    <a:r>
                      <a:rPr lang="en-US"/>
                      <a:t>.40</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311-4DCE-96F8-0DD4053B1563}"/>
                </c:ext>
              </c:extLst>
            </c:dLbl>
            <c:dLbl>
              <c:idx val="1"/>
              <c:tx>
                <c:rich>
                  <a:bodyPr/>
                  <a:lstStyle/>
                  <a:p>
                    <a:fld id="{B2086DA2-A31C-4DDD-AA01-2603CB1AE411}" type="VALUE">
                      <a:rPr lang="en-US" smtClean="0"/>
                      <a:pPr/>
                      <a:t>[VALUE]</a:t>
                    </a:fld>
                    <a:r>
                      <a:rPr lang="en-US"/>
                      <a:t>.20</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A311-4DCE-96F8-0DD4053B1563}"/>
                </c:ext>
              </c:extLst>
            </c:dLbl>
            <c:dLbl>
              <c:idx val="2"/>
              <c:tx>
                <c:rich>
                  <a:bodyPr/>
                  <a:lstStyle/>
                  <a:p>
                    <a:fld id="{3C953764-809B-4828-BDB6-7FEE3AF75078}" type="VALUE">
                      <a:rPr lang="en-US" smtClean="0"/>
                      <a:pPr/>
                      <a:t>[VALUE]</a:t>
                    </a:fld>
                    <a:r>
                      <a:rPr lang="en-US"/>
                      <a:t>.15</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A311-4DCE-96F8-0DD4053B1563}"/>
                </c:ext>
              </c:extLst>
            </c:dLbl>
            <c:dLbl>
              <c:idx val="3"/>
              <c:tx>
                <c:rich>
                  <a:bodyPr/>
                  <a:lstStyle/>
                  <a:p>
                    <a:fld id="{1F1253CD-8105-4652-9616-010FF1EF168A}" type="VALUE">
                      <a:rPr lang="en-US" smtClean="0"/>
                      <a:pPr/>
                      <a:t>[VALUE]</a:t>
                    </a:fld>
                    <a:r>
                      <a:rPr lang="en-US"/>
                      <a:t>.10</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A311-4DCE-96F8-0DD4053B1563}"/>
                </c:ext>
              </c:extLst>
            </c:dLbl>
            <c:dLbl>
              <c:idx val="4"/>
              <c:tx>
                <c:rich>
                  <a:bodyPr/>
                  <a:lstStyle/>
                  <a:p>
                    <a:fld id="{27FDF6FD-9F63-4642-9C00-4AF83594190F}" type="VALUE">
                      <a:rPr lang="en-US" smtClean="0"/>
                      <a:pPr/>
                      <a:t>[VALUE]</a:t>
                    </a:fld>
                    <a:r>
                      <a:rPr lang="en-US"/>
                      <a:t>.08</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A311-4DCE-96F8-0DD4053B1563}"/>
                </c:ext>
              </c:extLst>
            </c:dLbl>
            <c:dLbl>
              <c:idx val="5"/>
              <c:tx>
                <c:rich>
                  <a:bodyPr/>
                  <a:lstStyle/>
                  <a:p>
                    <a:fld id="{4733E9AE-480A-4E91-B4A8-6C3A44FDA087}" type="VALUE">
                      <a:rPr lang="en-US" smtClean="0"/>
                      <a:pPr/>
                      <a:t>[VALUE]</a:t>
                    </a:fld>
                    <a:r>
                      <a:rPr lang="en-US" dirty="0"/>
                      <a:t>.05</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A311-4DCE-96F8-0DD4053B1563}"/>
                </c:ext>
              </c:extLst>
            </c:dLbl>
            <c:dLbl>
              <c:idx val="6"/>
              <c:tx>
                <c:rich>
                  <a:bodyPr/>
                  <a:lstStyle/>
                  <a:p>
                    <a:r>
                      <a:rPr lang="en-US"/>
                      <a:t>9.02</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A311-4DCE-96F8-0DD4053B1563}"/>
                </c:ext>
              </c:extLst>
            </c:dLbl>
            <c:dLbl>
              <c:idx val="8"/>
              <c:tx>
                <c:rich>
                  <a:bodyPr/>
                  <a:lstStyle/>
                  <a:p>
                    <a:r>
                      <a:rPr lang="en-US" dirty="0"/>
                      <a:t>8.98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A311-4DCE-96F8-0DD4053B1563}"/>
                </c:ext>
              </c:extLst>
            </c:dLbl>
            <c:dLbl>
              <c:idx val="9"/>
              <c:tx>
                <c:rich>
                  <a:bodyPr/>
                  <a:lstStyle/>
                  <a:p>
                    <a:r>
                      <a:rPr lang="en-US" dirty="0"/>
                      <a:t>8.95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A311-4DCE-96F8-0DD4053B1563}"/>
                </c:ext>
              </c:extLst>
            </c:dLbl>
            <c:numFmt formatCode="#,##0" sourceLinked="0"/>
            <c:spPr>
              <a:noFill/>
              <a:ln>
                <a:noFill/>
              </a:ln>
              <a:effectLst/>
            </c:spPr>
            <c:txPr>
              <a:bodyPr/>
              <a:lstStyle/>
              <a:p>
                <a:pPr>
                  <a:defRPr sz="800" b="0" i="0" u="none" strike="noStrike">
                    <a:solidFill>
                      <a:srgbClr val="E8E8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Restaurant &amp; Juice Bar</c:v>
                </c:pt>
                <c:pt idx="1">
                  <c:v>Gelato &amp; Ice Cream Parlor</c:v>
                </c:pt>
                <c:pt idx="2">
                  <c:v>Souvenir &amp; Coffee Shop</c:v>
                </c:pt>
                <c:pt idx="3">
                  <c:v>Juice Bar &amp; Snack Place</c:v>
                </c:pt>
                <c:pt idx="4">
                  <c:v>Korean &amp; Japanese Rest.</c:v>
                </c:pt>
                <c:pt idx="5">
                  <c:v>Cafe &amp; Bakery</c:v>
                </c:pt>
                <c:pt idx="6">
                  <c:v>Chicken &amp; Fast Food</c:v>
                </c:pt>
                <c:pt idx="7">
                  <c:v>Persian &amp; Middle Eastern</c:v>
                </c:pt>
                <c:pt idx="8">
                  <c:v>Filipino Restaurant</c:v>
                </c:pt>
                <c:pt idx="9">
                  <c:v>Thai Restaurant</c:v>
                </c:pt>
              </c:strCache>
            </c:strRef>
          </c:cat>
          <c:val>
            <c:numRef>
              <c:f>Sheet1!$B$2:$B$11</c:f>
              <c:numCache>
                <c:formatCode>General</c:formatCode>
                <c:ptCount val="10"/>
                <c:pt idx="0">
                  <c:v>9.4</c:v>
                </c:pt>
                <c:pt idx="1">
                  <c:v>9.1999999999999993</c:v>
                </c:pt>
                <c:pt idx="2">
                  <c:v>9.15</c:v>
                </c:pt>
                <c:pt idx="3">
                  <c:v>9.1</c:v>
                </c:pt>
                <c:pt idx="4">
                  <c:v>9.08</c:v>
                </c:pt>
                <c:pt idx="5">
                  <c:v>9.0500000000000007</c:v>
                </c:pt>
                <c:pt idx="6">
                  <c:v>9.02</c:v>
                </c:pt>
                <c:pt idx="7">
                  <c:v>9</c:v>
                </c:pt>
                <c:pt idx="8">
                  <c:v>8.98</c:v>
                </c:pt>
                <c:pt idx="9">
                  <c:v>8.9499999999999993</c:v>
                </c:pt>
              </c:numCache>
            </c:numRef>
          </c:val>
          <c:extLst>
            <c:ext xmlns:c16="http://schemas.microsoft.com/office/drawing/2014/chart" uri="{C3380CC4-5D6E-409C-BE32-E72D297353CC}">
              <c16:uniqueId val="{00000014-A311-4DCE-96F8-0DD4053B156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A1A28"/>
              </a:solidFill>
              <a:prstDash val="solid"/>
              <a:round/>
            </a:ln>
          </c:spPr>
        </c:majorGridlines>
        <c:numFmt formatCode="General" sourceLinked="0"/>
        <c:majorTickMark val="out"/>
        <c:minorTickMark val="none"/>
        <c:tickLblPos val="low"/>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4"/>
        <c:crosses val="autoZero"/>
        <c:crossBetween val="between"/>
      </c:valAx>
      <c:spPr>
        <a:solidFill>
          <a:srgbClr val="12121E"/>
        </a:solidFill>
        <a:ln>
          <a:noFill/>
        </a:ln>
        <a:effectLst/>
      </c:spPr>
    </c:plotArea>
    <c:plotVisOnly val="1"/>
    <c:dispBlanksAs val="span"/>
    <c:showDLblsOverMax val="1"/>
  </c:chart>
  <c:spPr>
    <a:solidFill>
      <a:srgbClr val="12121E"/>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E8E8FF"/>
                </a:solidFill>
                <a:latin typeface="Arial"/>
              </a:defRPr>
            </a:pPr>
            <a:r>
              <a:rPr lang="en-US" sz="1100" b="0" i="0" u="none" strike="noStrike">
                <a:solidFill>
                  <a:srgbClr val="E8E8FF"/>
                </a:solidFill>
                <a:latin typeface="Arial"/>
              </a:rPr>
              <a:t>Top 10 Neighborhoods by Restaurant Count</a:t>
            </a:r>
          </a:p>
        </c:rich>
      </c:tx>
      <c:overlay val="0"/>
    </c:title>
    <c:autoTitleDeleted val="0"/>
    <c:plotArea>
      <c:layout/>
      <c:barChart>
        <c:barDir val="bar"/>
        <c:grouping val="clustered"/>
        <c:varyColors val="0"/>
        <c:ser>
          <c:idx val="0"/>
          <c:order val="0"/>
          <c:tx>
            <c:strRef>
              <c:f>Sheet1!$B$1</c:f>
              <c:strCache>
                <c:ptCount val="1"/>
                <c:pt idx="0">
                  <c:v>Restaurants</c:v>
                </c:pt>
              </c:strCache>
            </c:strRef>
          </c:tx>
          <c:spPr>
            <a:solidFill>
              <a:srgbClr val="FF6B35"/>
            </a:solidFill>
            <a:effectLst/>
          </c:spPr>
          <c:invertIfNegative val="0"/>
          <c:dPt>
            <c:idx val="0"/>
            <c:invertIfNegative val="0"/>
            <c:bubble3D val="0"/>
            <c:extLst>
              <c:ext xmlns:c16="http://schemas.microsoft.com/office/drawing/2014/chart" uri="{C3380CC4-5D6E-409C-BE32-E72D297353CC}">
                <c16:uniqueId val="{00000001-0ECB-48BF-8531-1269D73A897E}"/>
              </c:ext>
            </c:extLst>
          </c:dPt>
          <c:dPt>
            <c:idx val="1"/>
            <c:invertIfNegative val="0"/>
            <c:bubble3D val="0"/>
            <c:spPr>
              <a:solidFill>
                <a:srgbClr val="00D4FF"/>
              </a:solidFill>
              <a:effectLst/>
            </c:spPr>
            <c:extLst>
              <c:ext xmlns:c16="http://schemas.microsoft.com/office/drawing/2014/chart" uri="{C3380CC4-5D6E-409C-BE32-E72D297353CC}">
                <c16:uniqueId val="{00000003-0ECB-48BF-8531-1269D73A897E}"/>
              </c:ext>
            </c:extLst>
          </c:dPt>
          <c:dPt>
            <c:idx val="2"/>
            <c:invertIfNegative val="0"/>
            <c:bubble3D val="0"/>
            <c:spPr>
              <a:solidFill>
                <a:srgbClr val="4ADE80"/>
              </a:solidFill>
              <a:effectLst/>
            </c:spPr>
            <c:extLst>
              <c:ext xmlns:c16="http://schemas.microsoft.com/office/drawing/2014/chart" uri="{C3380CC4-5D6E-409C-BE32-E72D297353CC}">
                <c16:uniqueId val="{00000005-0ECB-48BF-8531-1269D73A897E}"/>
              </c:ext>
            </c:extLst>
          </c:dPt>
          <c:dPt>
            <c:idx val="3"/>
            <c:invertIfNegative val="0"/>
            <c:bubble3D val="0"/>
            <c:spPr>
              <a:solidFill>
                <a:srgbClr val="FACC15"/>
              </a:solidFill>
              <a:effectLst/>
            </c:spPr>
            <c:extLst>
              <c:ext xmlns:c16="http://schemas.microsoft.com/office/drawing/2014/chart" uri="{C3380CC4-5D6E-409C-BE32-E72D297353CC}">
                <c16:uniqueId val="{00000007-0ECB-48BF-8531-1269D73A897E}"/>
              </c:ext>
            </c:extLst>
          </c:dPt>
          <c:dPt>
            <c:idx val="4"/>
            <c:invertIfNegative val="0"/>
            <c:bubble3D val="0"/>
            <c:spPr>
              <a:solidFill>
                <a:srgbClr val="F472B6"/>
              </a:solidFill>
              <a:effectLst/>
            </c:spPr>
            <c:extLst>
              <c:ext xmlns:c16="http://schemas.microsoft.com/office/drawing/2014/chart" uri="{C3380CC4-5D6E-409C-BE32-E72D297353CC}">
                <c16:uniqueId val="{00000009-0ECB-48BF-8531-1269D73A897E}"/>
              </c:ext>
            </c:extLst>
          </c:dPt>
          <c:dPt>
            <c:idx val="5"/>
            <c:invertIfNegative val="0"/>
            <c:bubble3D val="0"/>
            <c:spPr>
              <a:solidFill>
                <a:srgbClr val="A78BFA"/>
              </a:solidFill>
              <a:effectLst/>
            </c:spPr>
            <c:extLst>
              <c:ext xmlns:c16="http://schemas.microsoft.com/office/drawing/2014/chart" uri="{C3380CC4-5D6E-409C-BE32-E72D297353CC}">
                <c16:uniqueId val="{0000000B-0ECB-48BF-8531-1269D73A897E}"/>
              </c:ext>
            </c:extLst>
          </c:dPt>
          <c:dPt>
            <c:idx val="6"/>
            <c:invertIfNegative val="0"/>
            <c:bubble3D val="0"/>
            <c:spPr>
              <a:solidFill>
                <a:srgbClr val="34D399"/>
              </a:solidFill>
              <a:effectLst/>
            </c:spPr>
            <c:extLst>
              <c:ext xmlns:c16="http://schemas.microsoft.com/office/drawing/2014/chart" uri="{C3380CC4-5D6E-409C-BE32-E72D297353CC}">
                <c16:uniqueId val="{0000000D-0ECB-48BF-8531-1269D73A897E}"/>
              </c:ext>
            </c:extLst>
          </c:dPt>
          <c:dPt>
            <c:idx val="7"/>
            <c:invertIfNegative val="0"/>
            <c:bubble3D val="0"/>
            <c:spPr>
              <a:solidFill>
                <a:srgbClr val="FB7185"/>
              </a:solidFill>
              <a:effectLst/>
            </c:spPr>
            <c:extLst>
              <c:ext xmlns:c16="http://schemas.microsoft.com/office/drawing/2014/chart" uri="{C3380CC4-5D6E-409C-BE32-E72D297353CC}">
                <c16:uniqueId val="{0000000F-0ECB-48BF-8531-1269D73A897E}"/>
              </c:ext>
            </c:extLst>
          </c:dPt>
          <c:dPt>
            <c:idx val="8"/>
            <c:invertIfNegative val="0"/>
            <c:bubble3D val="0"/>
            <c:spPr>
              <a:solidFill>
                <a:srgbClr val="38BDF8"/>
              </a:solidFill>
              <a:effectLst/>
            </c:spPr>
            <c:extLst>
              <c:ext xmlns:c16="http://schemas.microsoft.com/office/drawing/2014/chart" uri="{C3380CC4-5D6E-409C-BE32-E72D297353CC}">
                <c16:uniqueId val="{00000011-0ECB-48BF-8531-1269D73A897E}"/>
              </c:ext>
            </c:extLst>
          </c:dPt>
          <c:dPt>
            <c:idx val="9"/>
            <c:invertIfNegative val="0"/>
            <c:bubble3D val="0"/>
            <c:extLst>
              <c:ext xmlns:c16="http://schemas.microsoft.com/office/drawing/2014/chart" uri="{C3380CC4-5D6E-409C-BE32-E72D297353CC}">
                <c16:uniqueId val="{00000013-0ECB-48BF-8531-1269D73A897E}"/>
              </c:ext>
            </c:extLst>
          </c:dPt>
          <c:dLbls>
            <c:numFmt formatCode="#,##0" sourceLinked="0"/>
            <c:spPr>
              <a:noFill/>
              <a:ln>
                <a:noFill/>
              </a:ln>
              <a:effectLst/>
            </c:spPr>
            <c:txPr>
              <a:bodyPr/>
              <a:lstStyle/>
              <a:p>
                <a:pPr>
                  <a:defRPr sz="800" b="0" i="0" u="none" strike="noStrike">
                    <a:solidFill>
                      <a:srgbClr val="E8E8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Hiteen</c:v>
                </c:pt>
                <c:pt idx="1">
                  <c:v>Dhahrat Laban</c:v>
                </c:pt>
                <c:pt idx="2">
                  <c:v>Al Malqa</c:v>
                </c:pt>
                <c:pt idx="3">
                  <c:v>Qurtubah</c:v>
                </c:pt>
                <c:pt idx="4">
                  <c:v>Tuwaiq</c:v>
                </c:pt>
                <c:pt idx="5">
                  <c:v>Al Narjis</c:v>
                </c:pt>
                <c:pt idx="6">
                  <c:v>Al Sulaimaniyah</c:v>
                </c:pt>
                <c:pt idx="7">
                  <c:v>Al Yasmeen</c:v>
                </c:pt>
                <c:pt idx="8">
                  <c:v>Al Qairawan</c:v>
                </c:pt>
                <c:pt idx="9">
                  <c:v>Al Rimal</c:v>
                </c:pt>
              </c:strCache>
            </c:strRef>
          </c:cat>
          <c:val>
            <c:numRef>
              <c:f>Sheet1!$B$2:$B$11</c:f>
              <c:numCache>
                <c:formatCode>General</c:formatCode>
                <c:ptCount val="10"/>
                <c:pt idx="0">
                  <c:v>365</c:v>
                </c:pt>
                <c:pt idx="1">
                  <c:v>328</c:v>
                </c:pt>
                <c:pt idx="2">
                  <c:v>315</c:v>
                </c:pt>
                <c:pt idx="3">
                  <c:v>275</c:v>
                </c:pt>
                <c:pt idx="4">
                  <c:v>265</c:v>
                </c:pt>
                <c:pt idx="5">
                  <c:v>220</c:v>
                </c:pt>
                <c:pt idx="6">
                  <c:v>210</c:v>
                </c:pt>
                <c:pt idx="7">
                  <c:v>180</c:v>
                </c:pt>
                <c:pt idx="8">
                  <c:v>170</c:v>
                </c:pt>
                <c:pt idx="9">
                  <c:v>160</c:v>
                </c:pt>
              </c:numCache>
            </c:numRef>
          </c:val>
          <c:extLst>
            <c:ext xmlns:c16="http://schemas.microsoft.com/office/drawing/2014/chart" uri="{C3380CC4-5D6E-409C-BE32-E72D297353CC}">
              <c16:uniqueId val="{00000014-0ECB-48BF-8531-1269D73A897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1A1A28"/>
              </a:solidFill>
              <a:prstDash val="solid"/>
              <a:round/>
            </a:ln>
          </c:spPr>
        </c:majorGridlines>
        <c:numFmt formatCode="General" sourceLinked="0"/>
        <c:majorTickMark val="out"/>
        <c:minorTickMark val="none"/>
        <c:tickLblPos val="low"/>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4"/>
        <c:crosses val="autoZero"/>
        <c:crossBetween val="between"/>
      </c:valAx>
      <c:spPr>
        <a:solidFill>
          <a:srgbClr val="12121E"/>
        </a:solidFill>
        <a:ln>
          <a:noFill/>
        </a:ln>
        <a:effectLst/>
      </c:spPr>
    </c:plotArea>
    <c:plotVisOnly val="1"/>
    <c:dispBlanksAs val="span"/>
    <c:showDLblsOverMax val="1"/>
  </c:chart>
  <c:spPr>
    <a:solidFill>
      <a:srgbClr val="12121E"/>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E8E8FF"/>
                </a:solidFill>
                <a:latin typeface="Arial"/>
              </a:defRPr>
            </a:pPr>
            <a:r>
              <a:rPr lang="en-US" sz="1100" b="0" i="0" u="none" strike="noStrike">
                <a:solidFill>
                  <a:srgbClr val="E8E8FF"/>
                </a:solidFill>
                <a:latin typeface="Arial"/>
              </a:rPr>
              <a:t>Median Rating by Price Level</a:t>
            </a:r>
          </a:p>
        </c:rich>
      </c:tx>
      <c:overlay val="0"/>
    </c:title>
    <c:autoTitleDeleted val="0"/>
    <c:plotArea>
      <c:layout>
        <c:manualLayout>
          <c:layoutTarget val="inner"/>
          <c:xMode val="edge"/>
          <c:yMode val="edge"/>
          <c:x val="8.5594769403824517E-2"/>
          <c:y val="0.1235371828521435"/>
          <c:w val="0.88960364329458819"/>
          <c:h val="0.77589472149314664"/>
        </c:manualLayout>
      </c:layout>
      <c:barChart>
        <c:barDir val="col"/>
        <c:grouping val="clustered"/>
        <c:varyColors val="0"/>
        <c:ser>
          <c:idx val="0"/>
          <c:order val="0"/>
          <c:tx>
            <c:strRef>
              <c:f>Sheet1!$B$1</c:f>
              <c:strCache>
                <c:ptCount val="1"/>
                <c:pt idx="0">
                  <c:v>Median Rating</c:v>
                </c:pt>
              </c:strCache>
            </c:strRef>
          </c:tx>
          <c:spPr>
            <a:solidFill>
              <a:srgbClr val="6060A0"/>
            </a:solidFill>
            <a:effectLst/>
          </c:spPr>
          <c:invertIfNegative val="0"/>
          <c:dPt>
            <c:idx val="0"/>
            <c:invertIfNegative val="0"/>
            <c:bubble3D val="0"/>
            <c:extLst>
              <c:ext xmlns:c16="http://schemas.microsoft.com/office/drawing/2014/chart" uri="{C3380CC4-5D6E-409C-BE32-E72D297353CC}">
                <c16:uniqueId val="{00000001-8A13-4AE6-9309-87509913D1F3}"/>
              </c:ext>
            </c:extLst>
          </c:dPt>
          <c:dPt>
            <c:idx val="1"/>
            <c:invertIfNegative val="0"/>
            <c:bubble3D val="0"/>
            <c:spPr>
              <a:solidFill>
                <a:srgbClr val="FF6B35"/>
              </a:solidFill>
              <a:effectLst/>
            </c:spPr>
            <c:extLst>
              <c:ext xmlns:c16="http://schemas.microsoft.com/office/drawing/2014/chart" uri="{C3380CC4-5D6E-409C-BE32-E72D297353CC}">
                <c16:uniqueId val="{00000003-8A13-4AE6-9309-87509913D1F3}"/>
              </c:ext>
            </c:extLst>
          </c:dPt>
          <c:dPt>
            <c:idx val="2"/>
            <c:invertIfNegative val="0"/>
            <c:bubble3D val="0"/>
            <c:spPr>
              <a:solidFill>
                <a:srgbClr val="00D4FF"/>
              </a:solidFill>
              <a:effectLst/>
            </c:spPr>
            <c:extLst>
              <c:ext xmlns:c16="http://schemas.microsoft.com/office/drawing/2014/chart" uri="{C3380CC4-5D6E-409C-BE32-E72D297353CC}">
                <c16:uniqueId val="{00000005-8A13-4AE6-9309-87509913D1F3}"/>
              </c:ext>
            </c:extLst>
          </c:dPt>
          <c:dPt>
            <c:idx val="3"/>
            <c:invertIfNegative val="0"/>
            <c:bubble3D val="0"/>
            <c:spPr>
              <a:solidFill>
                <a:srgbClr val="4ADE80"/>
              </a:solidFill>
              <a:effectLst/>
            </c:spPr>
            <c:extLst>
              <c:ext xmlns:c16="http://schemas.microsoft.com/office/drawing/2014/chart" uri="{C3380CC4-5D6E-409C-BE32-E72D297353CC}">
                <c16:uniqueId val="{00000007-8A13-4AE6-9309-87509913D1F3}"/>
              </c:ext>
            </c:extLst>
          </c:dPt>
          <c:dPt>
            <c:idx val="4"/>
            <c:invertIfNegative val="0"/>
            <c:bubble3D val="0"/>
            <c:spPr>
              <a:solidFill>
                <a:srgbClr val="F472B6"/>
              </a:solidFill>
              <a:effectLst/>
            </c:spPr>
            <c:extLst>
              <c:ext xmlns:c16="http://schemas.microsoft.com/office/drawing/2014/chart" uri="{C3380CC4-5D6E-409C-BE32-E72D297353CC}">
                <c16:uniqueId val="{00000009-8A13-4AE6-9309-87509913D1F3}"/>
              </c:ext>
            </c:extLst>
          </c:dPt>
          <c:dLbls>
            <c:dLbl>
              <c:idx val="0"/>
              <c:tx>
                <c:rich>
                  <a:bodyPr/>
                  <a:lstStyle/>
                  <a:p>
                    <a:r>
                      <a:rPr lang="en-US" dirty="0"/>
                      <a:t>7.95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A13-4AE6-9309-87509913D1F3}"/>
                </c:ext>
              </c:extLst>
            </c:dLbl>
            <c:dLbl>
              <c:idx val="1"/>
              <c:tx>
                <c:rich>
                  <a:bodyPr/>
                  <a:lstStyle/>
                  <a:p>
                    <a:r>
                      <a:rPr lang="en-US"/>
                      <a:t>7.92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A13-4AE6-9309-87509913D1F3}"/>
                </c:ext>
              </c:extLst>
            </c:dLbl>
            <c:dLbl>
              <c:idx val="2"/>
              <c:tx>
                <c:rich>
                  <a:bodyPr/>
                  <a:lstStyle/>
                  <a:p>
                    <a:r>
                      <a:rPr lang="en-US"/>
                      <a:t>7.88</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A13-4AE6-9309-87509913D1F3}"/>
                </c:ext>
              </c:extLst>
            </c:dLbl>
            <c:dLbl>
              <c:idx val="3"/>
              <c:tx>
                <c:rich>
                  <a:bodyPr/>
                  <a:lstStyle/>
                  <a:p>
                    <a:r>
                      <a:rPr lang="en-US"/>
                      <a:t>7.72</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A13-4AE6-9309-87509913D1F3}"/>
                </c:ext>
              </c:extLst>
            </c:dLbl>
            <c:dLbl>
              <c:idx val="4"/>
              <c:tx>
                <c:rich>
                  <a:bodyPr/>
                  <a:lstStyle/>
                  <a:p>
                    <a:r>
                      <a:rPr lang="en-US"/>
                      <a:t>7.50</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8A13-4AE6-9309-87509913D1F3}"/>
                </c:ext>
              </c:extLst>
            </c:dLbl>
            <c:numFmt formatCode="#,##0" sourceLinked="0"/>
            <c:spPr>
              <a:noFill/>
              <a:ln>
                <a:noFill/>
              </a:ln>
              <a:effectLst/>
            </c:spPr>
            <c:txPr>
              <a:bodyPr/>
              <a:lstStyle/>
              <a:p>
                <a:pPr>
                  <a:defRPr sz="900" b="0" i="0" u="none" strike="noStrike">
                    <a:solidFill>
                      <a:srgbClr val="E8E8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 (Unpriced)</c:v>
                </c:pt>
                <c:pt idx="1">
                  <c:v>1 ($)</c:v>
                </c:pt>
                <c:pt idx="2">
                  <c:v>2 ($$)</c:v>
                </c:pt>
                <c:pt idx="3">
                  <c:v>3 ($$$)</c:v>
                </c:pt>
                <c:pt idx="4">
                  <c:v>4 ($$$$)</c:v>
                </c:pt>
              </c:strCache>
            </c:strRef>
          </c:cat>
          <c:val>
            <c:numRef>
              <c:f>Sheet1!$B$2:$B$6</c:f>
              <c:numCache>
                <c:formatCode>General</c:formatCode>
                <c:ptCount val="5"/>
                <c:pt idx="0">
                  <c:v>7.95</c:v>
                </c:pt>
                <c:pt idx="1">
                  <c:v>7.92</c:v>
                </c:pt>
                <c:pt idx="2">
                  <c:v>7.88</c:v>
                </c:pt>
                <c:pt idx="3">
                  <c:v>7.72</c:v>
                </c:pt>
                <c:pt idx="4">
                  <c:v>7.5</c:v>
                </c:pt>
              </c:numCache>
            </c:numRef>
          </c:val>
          <c:extLst>
            <c:ext xmlns:c16="http://schemas.microsoft.com/office/drawing/2014/chart" uri="{C3380CC4-5D6E-409C-BE32-E72D297353CC}">
              <c16:uniqueId val="{0000000A-8A13-4AE6-9309-87509913D1F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2"/>
        <c:crosses val="autoZero"/>
        <c:auto val="1"/>
        <c:lblAlgn val="ctr"/>
        <c:lblOffset val="100"/>
        <c:noMultiLvlLbl val="1"/>
      </c:catAx>
      <c:valAx>
        <c:axId val="2094734552"/>
        <c:scaling>
          <c:orientation val="minMax"/>
          <c:max val="8.5"/>
          <c:min val="7"/>
        </c:scaling>
        <c:delete val="0"/>
        <c:axPos val="l"/>
        <c:majorGridlines>
          <c:spPr>
            <a:ln w="12700" cap="flat">
              <a:solidFill>
                <a:srgbClr val="1A1A28"/>
              </a:solidFill>
              <a:prstDash val="solid"/>
              <a:round/>
            </a:ln>
          </c:spPr>
        </c:majorGridlines>
        <c:numFmt formatCode="General" sourceLinked="0"/>
        <c:majorTickMark val="out"/>
        <c:minorTickMark val="none"/>
        <c:tickLblPos val="nextTo"/>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4"/>
        <c:crosses val="autoZero"/>
        <c:crossBetween val="between"/>
      </c:valAx>
      <c:spPr>
        <a:solidFill>
          <a:srgbClr val="12121E"/>
        </a:solidFill>
        <a:ln>
          <a:noFill/>
        </a:ln>
        <a:effectLst/>
      </c:spPr>
    </c:plotArea>
    <c:plotVisOnly val="1"/>
    <c:dispBlanksAs val="span"/>
    <c:showDLblsOverMax val="1"/>
  </c:chart>
  <c:spPr>
    <a:solidFill>
      <a:srgbClr val="12121E"/>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E8E8FF"/>
                </a:solidFill>
                <a:latin typeface="Arial"/>
              </a:defRPr>
            </a:pPr>
            <a:r>
              <a:rPr lang="en-US" sz="1100" b="0" i="0" u="none" strike="noStrike">
                <a:solidFill>
                  <a:srgbClr val="E8E8FF"/>
                </a:solidFill>
                <a:latin typeface="Arial"/>
              </a:rPr>
              <a:t>Median Ratings Across Top 10 Neighborhoods</a:t>
            </a:r>
          </a:p>
        </c:rich>
      </c:tx>
      <c:overlay val="0"/>
    </c:title>
    <c:autoTitleDeleted val="0"/>
    <c:plotArea>
      <c:layout/>
      <c:barChart>
        <c:barDir val="col"/>
        <c:grouping val="clustered"/>
        <c:varyColors val="0"/>
        <c:ser>
          <c:idx val="0"/>
          <c:order val="0"/>
          <c:tx>
            <c:strRef>
              <c:f>Sheet1!$B$1</c:f>
              <c:strCache>
                <c:ptCount val="1"/>
                <c:pt idx="0">
                  <c:v>Median Rating</c:v>
                </c:pt>
              </c:strCache>
            </c:strRef>
          </c:tx>
          <c:spPr>
            <a:solidFill>
              <a:srgbClr val="FF6B35"/>
            </a:solidFill>
            <a:effectLst/>
          </c:spPr>
          <c:invertIfNegative val="0"/>
          <c:dPt>
            <c:idx val="0"/>
            <c:invertIfNegative val="0"/>
            <c:bubble3D val="0"/>
            <c:extLst>
              <c:ext xmlns:c16="http://schemas.microsoft.com/office/drawing/2014/chart" uri="{C3380CC4-5D6E-409C-BE32-E72D297353CC}">
                <c16:uniqueId val="{00000001-A196-44BF-9743-D735C94F48C3}"/>
              </c:ext>
            </c:extLst>
          </c:dPt>
          <c:dPt>
            <c:idx val="1"/>
            <c:invertIfNegative val="0"/>
            <c:bubble3D val="0"/>
            <c:spPr>
              <a:solidFill>
                <a:srgbClr val="00D4FF"/>
              </a:solidFill>
              <a:effectLst/>
            </c:spPr>
            <c:extLst>
              <c:ext xmlns:c16="http://schemas.microsoft.com/office/drawing/2014/chart" uri="{C3380CC4-5D6E-409C-BE32-E72D297353CC}">
                <c16:uniqueId val="{00000003-A196-44BF-9743-D735C94F48C3}"/>
              </c:ext>
            </c:extLst>
          </c:dPt>
          <c:dPt>
            <c:idx val="2"/>
            <c:invertIfNegative val="0"/>
            <c:bubble3D val="0"/>
            <c:spPr>
              <a:solidFill>
                <a:srgbClr val="4ADE80"/>
              </a:solidFill>
              <a:effectLst/>
            </c:spPr>
            <c:extLst>
              <c:ext xmlns:c16="http://schemas.microsoft.com/office/drawing/2014/chart" uri="{C3380CC4-5D6E-409C-BE32-E72D297353CC}">
                <c16:uniqueId val="{00000005-A196-44BF-9743-D735C94F48C3}"/>
              </c:ext>
            </c:extLst>
          </c:dPt>
          <c:dPt>
            <c:idx val="3"/>
            <c:invertIfNegative val="0"/>
            <c:bubble3D val="0"/>
            <c:spPr>
              <a:solidFill>
                <a:srgbClr val="FACC15"/>
              </a:solidFill>
              <a:effectLst/>
            </c:spPr>
            <c:extLst>
              <c:ext xmlns:c16="http://schemas.microsoft.com/office/drawing/2014/chart" uri="{C3380CC4-5D6E-409C-BE32-E72D297353CC}">
                <c16:uniqueId val="{00000007-A196-44BF-9743-D735C94F48C3}"/>
              </c:ext>
            </c:extLst>
          </c:dPt>
          <c:dPt>
            <c:idx val="4"/>
            <c:invertIfNegative val="0"/>
            <c:bubble3D val="0"/>
            <c:spPr>
              <a:solidFill>
                <a:srgbClr val="F472B6"/>
              </a:solidFill>
              <a:effectLst/>
            </c:spPr>
            <c:extLst>
              <c:ext xmlns:c16="http://schemas.microsoft.com/office/drawing/2014/chart" uri="{C3380CC4-5D6E-409C-BE32-E72D297353CC}">
                <c16:uniqueId val="{00000009-A196-44BF-9743-D735C94F48C3}"/>
              </c:ext>
            </c:extLst>
          </c:dPt>
          <c:dPt>
            <c:idx val="5"/>
            <c:invertIfNegative val="0"/>
            <c:bubble3D val="0"/>
            <c:spPr>
              <a:solidFill>
                <a:srgbClr val="A78BFA"/>
              </a:solidFill>
              <a:effectLst/>
            </c:spPr>
            <c:extLst>
              <c:ext xmlns:c16="http://schemas.microsoft.com/office/drawing/2014/chart" uri="{C3380CC4-5D6E-409C-BE32-E72D297353CC}">
                <c16:uniqueId val="{0000000B-A196-44BF-9743-D735C94F48C3}"/>
              </c:ext>
            </c:extLst>
          </c:dPt>
          <c:dPt>
            <c:idx val="6"/>
            <c:invertIfNegative val="0"/>
            <c:bubble3D val="0"/>
            <c:spPr>
              <a:solidFill>
                <a:srgbClr val="34D399"/>
              </a:solidFill>
              <a:effectLst/>
            </c:spPr>
            <c:extLst>
              <c:ext xmlns:c16="http://schemas.microsoft.com/office/drawing/2014/chart" uri="{C3380CC4-5D6E-409C-BE32-E72D297353CC}">
                <c16:uniqueId val="{0000000D-A196-44BF-9743-D735C94F48C3}"/>
              </c:ext>
            </c:extLst>
          </c:dPt>
          <c:dPt>
            <c:idx val="7"/>
            <c:invertIfNegative val="0"/>
            <c:bubble3D val="0"/>
            <c:spPr>
              <a:solidFill>
                <a:srgbClr val="FB7185"/>
              </a:solidFill>
              <a:effectLst/>
            </c:spPr>
            <c:extLst>
              <c:ext xmlns:c16="http://schemas.microsoft.com/office/drawing/2014/chart" uri="{C3380CC4-5D6E-409C-BE32-E72D297353CC}">
                <c16:uniqueId val="{0000000F-A196-44BF-9743-D735C94F48C3}"/>
              </c:ext>
            </c:extLst>
          </c:dPt>
          <c:dPt>
            <c:idx val="8"/>
            <c:invertIfNegative val="0"/>
            <c:bubble3D val="0"/>
            <c:spPr>
              <a:solidFill>
                <a:srgbClr val="38BDF8"/>
              </a:solidFill>
              <a:effectLst/>
            </c:spPr>
            <c:extLst>
              <c:ext xmlns:c16="http://schemas.microsoft.com/office/drawing/2014/chart" uri="{C3380CC4-5D6E-409C-BE32-E72D297353CC}">
                <c16:uniqueId val="{00000011-A196-44BF-9743-D735C94F48C3}"/>
              </c:ext>
            </c:extLst>
          </c:dPt>
          <c:dPt>
            <c:idx val="9"/>
            <c:invertIfNegative val="0"/>
            <c:bubble3D val="0"/>
            <c:extLst>
              <c:ext xmlns:c16="http://schemas.microsoft.com/office/drawing/2014/chart" uri="{C3380CC4-5D6E-409C-BE32-E72D297353CC}">
                <c16:uniqueId val="{00000013-A196-44BF-9743-D735C94F48C3}"/>
              </c:ext>
            </c:extLst>
          </c:dPt>
          <c:dLbls>
            <c:dLbl>
              <c:idx val="0"/>
              <c:tx>
                <c:rich>
                  <a:bodyPr/>
                  <a:lstStyle/>
                  <a:p>
                    <a:fld id="{85F55654-A16C-49F6-8273-8310726BD7FD}" type="VALUE">
                      <a:rPr lang="en-US" smtClean="0"/>
                      <a:pPr/>
                      <a:t>[VALUE]</a:t>
                    </a:fld>
                    <a:r>
                      <a:rPr lang="en-US"/>
                      <a:t>.20</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196-44BF-9743-D735C94F48C3}"/>
                </c:ext>
              </c:extLst>
            </c:dLbl>
            <c:dLbl>
              <c:idx val="1"/>
              <c:tx>
                <c:rich>
                  <a:bodyPr/>
                  <a:lstStyle/>
                  <a:p>
                    <a:fld id="{6BC08A4A-6E9A-460A-B54E-2DD55B87FD21}" type="VALUE">
                      <a:rPr lang="en-US" smtClean="0"/>
                      <a:pPr/>
                      <a:t>[VALUE]</a:t>
                    </a:fld>
                    <a:r>
                      <a:rPr lang="en-US"/>
                      <a:t>.18</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A196-44BF-9743-D735C94F48C3}"/>
                </c:ext>
              </c:extLst>
            </c:dLbl>
            <c:dLbl>
              <c:idx val="2"/>
              <c:tx>
                <c:rich>
                  <a:bodyPr/>
                  <a:lstStyle/>
                  <a:p>
                    <a:fld id="{16858ABB-5461-4A82-A814-781C07FE2EB6}" type="VALUE">
                      <a:rPr lang="en-US" smtClean="0"/>
                      <a:pPr/>
                      <a:t>[VALUE]</a:t>
                    </a:fld>
                    <a:r>
                      <a:rPr lang="en-US"/>
                      <a:t>.05</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A196-44BF-9743-D735C94F48C3}"/>
                </c:ext>
              </c:extLst>
            </c:dLbl>
            <c:dLbl>
              <c:idx val="3"/>
              <c:tx>
                <c:rich>
                  <a:bodyPr/>
                  <a:lstStyle/>
                  <a:p>
                    <a:r>
                      <a:rPr lang="en-US"/>
                      <a:t>8.0</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A196-44BF-9743-D735C94F48C3}"/>
                </c:ext>
              </c:extLst>
            </c:dLbl>
            <c:dLbl>
              <c:idx val="4"/>
              <c:tx>
                <c:rich>
                  <a:bodyPr/>
                  <a:lstStyle/>
                  <a:p>
                    <a:r>
                      <a:rPr lang="en-US"/>
                      <a:t>7.90</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A196-44BF-9743-D735C94F48C3}"/>
                </c:ext>
              </c:extLst>
            </c:dLbl>
            <c:dLbl>
              <c:idx val="5"/>
              <c:tx>
                <c:rich>
                  <a:bodyPr/>
                  <a:lstStyle/>
                  <a:p>
                    <a:r>
                      <a:rPr lang="en-US"/>
                      <a:t>7.88</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A196-44BF-9743-D735C94F48C3}"/>
                </c:ext>
              </c:extLst>
            </c:dLbl>
            <c:dLbl>
              <c:idx val="6"/>
              <c:tx>
                <c:rich>
                  <a:bodyPr/>
                  <a:lstStyle/>
                  <a:p>
                    <a:r>
                      <a:rPr lang="en-US"/>
                      <a:t>7.85</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A196-44BF-9743-D735C94F48C3}"/>
                </c:ext>
              </c:extLst>
            </c:dLbl>
            <c:dLbl>
              <c:idx val="7"/>
              <c:tx>
                <c:rich>
                  <a:bodyPr/>
                  <a:lstStyle/>
                  <a:p>
                    <a:r>
                      <a:rPr lang="en-US"/>
                      <a:t>7.82</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A196-44BF-9743-D735C94F48C3}"/>
                </c:ext>
              </c:extLst>
            </c:dLbl>
            <c:dLbl>
              <c:idx val="8"/>
              <c:tx>
                <c:rich>
                  <a:bodyPr/>
                  <a:lstStyle/>
                  <a:p>
                    <a:r>
                      <a:rPr lang="en-US"/>
                      <a:t>7.80</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A196-44BF-9743-D735C94F48C3}"/>
                </c:ext>
              </c:extLst>
            </c:dLbl>
            <c:dLbl>
              <c:idx val="9"/>
              <c:tx>
                <c:rich>
                  <a:bodyPr/>
                  <a:lstStyle/>
                  <a:p>
                    <a:r>
                      <a:rPr lang="en-US" dirty="0"/>
                      <a:t>7.78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A196-44BF-9743-D735C94F48C3}"/>
                </c:ext>
              </c:extLst>
            </c:dLbl>
            <c:numFmt formatCode="#,##0" sourceLinked="0"/>
            <c:spPr>
              <a:noFill/>
              <a:ln>
                <a:noFill/>
              </a:ln>
              <a:effectLst/>
            </c:spPr>
            <c:txPr>
              <a:bodyPr/>
              <a:lstStyle/>
              <a:p>
                <a:pPr>
                  <a:defRPr sz="800" b="0" i="0" u="none" strike="noStrike">
                    <a:solidFill>
                      <a:srgbClr val="E8E8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Al Qairawan</c:v>
                </c:pt>
                <c:pt idx="1">
                  <c:v>Al Malqa</c:v>
                </c:pt>
                <c:pt idx="2">
                  <c:v>Al Narjis</c:v>
                </c:pt>
                <c:pt idx="3">
                  <c:v>Al Sulaimaniyah</c:v>
                </c:pt>
                <c:pt idx="4">
                  <c:v>Hiteen</c:v>
                </c:pt>
                <c:pt idx="5">
                  <c:v>Dhahrat Laban</c:v>
                </c:pt>
                <c:pt idx="6">
                  <c:v>Al Yasmeen</c:v>
                </c:pt>
                <c:pt idx="7">
                  <c:v>Al Rimal</c:v>
                </c:pt>
                <c:pt idx="8">
                  <c:v>Tuwaiq</c:v>
                </c:pt>
                <c:pt idx="9">
                  <c:v>Qurtubah</c:v>
                </c:pt>
              </c:strCache>
            </c:strRef>
          </c:cat>
          <c:val>
            <c:numRef>
              <c:f>Sheet1!$B$2:$B$11</c:f>
              <c:numCache>
                <c:formatCode>General</c:formatCode>
                <c:ptCount val="10"/>
                <c:pt idx="0">
                  <c:v>8.1999999999999993</c:v>
                </c:pt>
                <c:pt idx="1">
                  <c:v>8.18</c:v>
                </c:pt>
                <c:pt idx="2">
                  <c:v>8.0500000000000007</c:v>
                </c:pt>
                <c:pt idx="3">
                  <c:v>8</c:v>
                </c:pt>
                <c:pt idx="4">
                  <c:v>7.9</c:v>
                </c:pt>
                <c:pt idx="5">
                  <c:v>7.88</c:v>
                </c:pt>
                <c:pt idx="6">
                  <c:v>7.85</c:v>
                </c:pt>
                <c:pt idx="7">
                  <c:v>7.82</c:v>
                </c:pt>
                <c:pt idx="8">
                  <c:v>7.8</c:v>
                </c:pt>
                <c:pt idx="9">
                  <c:v>7.78</c:v>
                </c:pt>
              </c:numCache>
            </c:numRef>
          </c:val>
          <c:extLst>
            <c:ext xmlns:c16="http://schemas.microsoft.com/office/drawing/2014/chart" uri="{C3380CC4-5D6E-409C-BE32-E72D297353CC}">
              <c16:uniqueId val="{00000014-A196-44BF-9743-D735C94F48C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2"/>
        <c:crosses val="autoZero"/>
        <c:auto val="1"/>
        <c:lblAlgn val="ctr"/>
        <c:lblOffset val="100"/>
        <c:noMultiLvlLbl val="1"/>
      </c:catAx>
      <c:valAx>
        <c:axId val="2094734552"/>
        <c:scaling>
          <c:orientation val="minMax"/>
          <c:max val="8.4"/>
          <c:min val="7.5"/>
        </c:scaling>
        <c:delete val="0"/>
        <c:axPos val="l"/>
        <c:majorGridlines>
          <c:spPr>
            <a:ln w="12700" cap="flat">
              <a:solidFill>
                <a:srgbClr val="1A1A28"/>
              </a:solidFill>
              <a:prstDash val="solid"/>
              <a:round/>
            </a:ln>
          </c:spPr>
        </c:majorGridlines>
        <c:numFmt formatCode="General" sourceLinked="0"/>
        <c:majorTickMark val="out"/>
        <c:minorTickMark val="none"/>
        <c:tickLblPos val="nextTo"/>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4"/>
        <c:crosses val="autoZero"/>
        <c:crossBetween val="between"/>
      </c:valAx>
      <c:spPr>
        <a:solidFill>
          <a:srgbClr val="12121E"/>
        </a:solidFill>
        <a:ln>
          <a:noFill/>
        </a:ln>
        <a:effectLst/>
      </c:spPr>
    </c:plotArea>
    <c:plotVisOnly val="1"/>
    <c:dispBlanksAs val="span"/>
    <c:showDLblsOverMax val="1"/>
  </c:chart>
  <c:spPr>
    <a:solidFill>
      <a:srgbClr val="12121E"/>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E8E8FF"/>
                </a:solidFill>
                <a:latin typeface="Arial"/>
              </a:defRPr>
            </a:pPr>
            <a:r>
              <a:rPr lang="en-US" sz="1100" b="0" i="0" u="none" strike="noStrike">
                <a:solidFill>
                  <a:srgbClr val="E8E8FF"/>
                </a:solidFill>
                <a:latin typeface="Arial"/>
              </a:rPr>
              <a:t>Feature Importance (Random Forest)</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F472B6"/>
            </a:solidFill>
            <a:effectLst/>
          </c:spPr>
          <c:invertIfNegative val="0"/>
          <c:dPt>
            <c:idx val="0"/>
            <c:invertIfNegative val="0"/>
            <c:bubble3D val="0"/>
            <c:extLst>
              <c:ext xmlns:c16="http://schemas.microsoft.com/office/drawing/2014/chart" uri="{C3380CC4-5D6E-409C-BE32-E72D297353CC}">
                <c16:uniqueId val="{00000001-8283-49A5-A789-98E0D2159F2A}"/>
              </c:ext>
            </c:extLst>
          </c:dPt>
          <c:dPt>
            <c:idx val="1"/>
            <c:invertIfNegative val="0"/>
            <c:bubble3D val="0"/>
            <c:spPr>
              <a:solidFill>
                <a:srgbClr val="FACC15"/>
              </a:solidFill>
              <a:effectLst/>
            </c:spPr>
            <c:extLst>
              <c:ext xmlns:c16="http://schemas.microsoft.com/office/drawing/2014/chart" uri="{C3380CC4-5D6E-409C-BE32-E72D297353CC}">
                <c16:uniqueId val="{00000003-8283-49A5-A789-98E0D2159F2A}"/>
              </c:ext>
            </c:extLst>
          </c:dPt>
          <c:dPt>
            <c:idx val="2"/>
            <c:invertIfNegative val="0"/>
            <c:bubble3D val="0"/>
            <c:spPr>
              <a:solidFill>
                <a:srgbClr val="4ADE80"/>
              </a:solidFill>
              <a:effectLst/>
            </c:spPr>
            <c:extLst>
              <c:ext xmlns:c16="http://schemas.microsoft.com/office/drawing/2014/chart" uri="{C3380CC4-5D6E-409C-BE32-E72D297353CC}">
                <c16:uniqueId val="{00000005-8283-49A5-A789-98E0D2159F2A}"/>
              </c:ext>
            </c:extLst>
          </c:dPt>
          <c:dPt>
            <c:idx val="3"/>
            <c:invertIfNegative val="0"/>
            <c:bubble3D val="0"/>
            <c:spPr>
              <a:solidFill>
                <a:srgbClr val="00D4FF"/>
              </a:solidFill>
              <a:effectLst/>
            </c:spPr>
            <c:extLst>
              <c:ext xmlns:c16="http://schemas.microsoft.com/office/drawing/2014/chart" uri="{C3380CC4-5D6E-409C-BE32-E72D297353CC}">
                <c16:uniqueId val="{00000007-8283-49A5-A789-98E0D2159F2A}"/>
              </c:ext>
            </c:extLst>
          </c:dPt>
          <c:dPt>
            <c:idx val="4"/>
            <c:invertIfNegative val="0"/>
            <c:bubble3D val="0"/>
            <c:spPr>
              <a:solidFill>
                <a:srgbClr val="FF6B35"/>
              </a:solidFill>
              <a:effectLst/>
            </c:spPr>
            <c:extLst>
              <c:ext xmlns:c16="http://schemas.microsoft.com/office/drawing/2014/chart" uri="{C3380CC4-5D6E-409C-BE32-E72D297353CC}">
                <c16:uniqueId val="{00000009-8283-49A5-A789-98E0D2159F2A}"/>
              </c:ext>
            </c:extLst>
          </c:dPt>
          <c:dPt>
            <c:idx val="5"/>
            <c:invertIfNegative val="0"/>
            <c:bubble3D val="0"/>
            <c:spPr>
              <a:solidFill>
                <a:srgbClr val="FF6B35"/>
              </a:solidFill>
              <a:effectLst/>
            </c:spPr>
            <c:extLst>
              <c:ext xmlns:c16="http://schemas.microsoft.com/office/drawing/2014/chart" uri="{C3380CC4-5D6E-409C-BE32-E72D297353CC}">
                <c16:uniqueId val="{0000000B-8283-49A5-A789-98E0D2159F2A}"/>
              </c:ext>
            </c:extLst>
          </c:dPt>
          <c:dLbls>
            <c:dLbl>
              <c:idx val="0"/>
              <c:tx>
                <c:rich>
                  <a:bodyPr/>
                  <a:lstStyle/>
                  <a:p>
                    <a:fld id="{B918EF9B-C18E-4236-ACBD-907472FE3A39}" type="VALUE">
                      <a:rPr lang="en-US" smtClean="0"/>
                      <a:pPr/>
                      <a:t>[VALUE]</a:t>
                    </a:fld>
                    <a:r>
                      <a:rPr lang="en-US"/>
                      <a:t>.08</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8283-49A5-A789-98E0D2159F2A}"/>
                </c:ext>
              </c:extLst>
            </c:dLbl>
            <c:dLbl>
              <c:idx val="1"/>
              <c:tx>
                <c:rich>
                  <a:bodyPr/>
                  <a:lstStyle/>
                  <a:p>
                    <a:fld id="{401BEB83-0D35-4345-9887-B40A61C1A7C1}" type="VALUE">
                      <a:rPr lang="en-US" smtClean="0"/>
                      <a:pPr/>
                      <a:t>[VALUE]</a:t>
                    </a:fld>
                    <a:r>
                      <a:rPr lang="en-US"/>
                      <a:t>.12</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283-49A5-A789-98E0D2159F2A}"/>
                </c:ext>
              </c:extLst>
            </c:dLbl>
            <c:dLbl>
              <c:idx val="2"/>
              <c:tx>
                <c:rich>
                  <a:bodyPr/>
                  <a:lstStyle/>
                  <a:p>
                    <a:r>
                      <a:rPr lang="en-US" dirty="0"/>
                      <a:t>0.15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283-49A5-A789-98E0D2159F2A}"/>
                </c:ext>
              </c:extLst>
            </c:dLbl>
            <c:dLbl>
              <c:idx val="3"/>
              <c:tx>
                <c:rich>
                  <a:bodyPr/>
                  <a:lstStyle/>
                  <a:p>
                    <a:r>
                      <a:rPr lang="en-US" dirty="0"/>
                      <a:t>0.20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283-49A5-A789-98E0D2159F2A}"/>
                </c:ext>
              </c:extLst>
            </c:dLbl>
            <c:dLbl>
              <c:idx val="4"/>
              <c:tx>
                <c:rich>
                  <a:bodyPr/>
                  <a:lstStyle/>
                  <a:p>
                    <a:r>
                      <a:rPr lang="en-US" dirty="0"/>
                      <a:t>0.21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8283-49A5-A789-98E0D2159F2A}"/>
                </c:ext>
              </c:extLst>
            </c:dLbl>
            <c:dLbl>
              <c:idx val="5"/>
              <c:tx>
                <c:rich>
                  <a:bodyPr/>
                  <a:lstStyle/>
                  <a:p>
                    <a:r>
                      <a:rPr lang="en-US"/>
                      <a:t>0.24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8283-49A5-A789-98E0D2159F2A}"/>
                </c:ext>
              </c:extLst>
            </c:dLbl>
            <c:numFmt formatCode="#,##0" sourceLinked="0"/>
            <c:spPr>
              <a:noFill/>
              <a:ln>
                <a:noFill/>
              </a:ln>
              <a:effectLst/>
            </c:spPr>
            <c:txPr>
              <a:bodyPr/>
              <a:lstStyle/>
              <a:p>
                <a:pPr>
                  <a:defRPr sz="900" b="0" i="0" u="none" strike="noStrike">
                    <a:solidFill>
                      <a:srgbClr val="E8E8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total_tips</c:v>
                </c:pt>
                <c:pt idx="1">
                  <c:v>rating</c:v>
                </c:pt>
                <c:pt idx="2">
                  <c:v>total_ratings</c:v>
                </c:pt>
                <c:pt idx="3">
                  <c:v>category</c:v>
                </c:pt>
                <c:pt idx="4">
                  <c:v>neighborhoods</c:v>
                </c:pt>
                <c:pt idx="5">
                  <c:v>total_photos</c:v>
                </c:pt>
              </c:strCache>
            </c:strRef>
          </c:cat>
          <c:val>
            <c:numRef>
              <c:f>Sheet1!$B$2:$B$7</c:f>
              <c:numCache>
                <c:formatCode>General</c:formatCode>
                <c:ptCount val="6"/>
                <c:pt idx="0">
                  <c:v>0.08</c:v>
                </c:pt>
                <c:pt idx="1">
                  <c:v>0.12</c:v>
                </c:pt>
                <c:pt idx="2">
                  <c:v>0.15</c:v>
                </c:pt>
                <c:pt idx="3">
                  <c:v>0.2</c:v>
                </c:pt>
                <c:pt idx="4">
                  <c:v>0.21</c:v>
                </c:pt>
                <c:pt idx="5">
                  <c:v>0.24</c:v>
                </c:pt>
              </c:numCache>
            </c:numRef>
          </c:val>
          <c:extLst>
            <c:ext xmlns:c16="http://schemas.microsoft.com/office/drawing/2014/chart" uri="{C3380CC4-5D6E-409C-BE32-E72D297353CC}">
              <c16:uniqueId val="{0000000C-8283-49A5-A789-98E0D2159F2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1A1A28"/>
              </a:solidFill>
              <a:prstDash val="solid"/>
              <a:round/>
            </a:ln>
          </c:spPr>
        </c:majorGridlines>
        <c:numFmt formatCode="General" sourceLinked="0"/>
        <c:majorTickMark val="out"/>
        <c:minorTickMark val="none"/>
        <c:tickLblPos val="low"/>
        <c:spPr>
          <a:ln w="12700" cap="flat">
            <a:solidFill>
              <a:srgbClr val="1A1A28"/>
            </a:solidFill>
            <a:prstDash val="solid"/>
            <a:round/>
          </a:ln>
        </c:spPr>
        <c:txPr>
          <a:bodyPr/>
          <a:lstStyle/>
          <a:p>
            <a:pPr>
              <a:defRPr sz="1200" b="0" i="0" u="none" strike="noStrike">
                <a:solidFill>
                  <a:srgbClr val="6060A0"/>
                </a:solidFill>
                <a:latin typeface="Arial"/>
              </a:defRPr>
            </a:pPr>
            <a:endParaRPr lang="en-US"/>
          </a:p>
        </c:txPr>
        <c:crossAx val="2094734554"/>
        <c:crosses val="autoZero"/>
        <c:crossBetween val="between"/>
      </c:valAx>
      <c:spPr>
        <a:solidFill>
          <a:srgbClr val="12121E"/>
        </a:solidFill>
        <a:ln>
          <a:noFill/>
        </a:ln>
        <a:effectLst/>
      </c:spPr>
    </c:plotArea>
    <c:plotVisOnly val="1"/>
    <c:dispBlanksAs val="span"/>
    <c:showDLblsOverMax val="1"/>
  </c:chart>
  <c:spPr>
    <a:solidFill>
      <a:srgbClr val="12121E"/>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2294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Shape 1"/>
          <p:cNvSpPr/>
          <p:nvPr/>
        </p:nvSpPr>
        <p:spPr>
          <a:xfrm>
            <a:off x="6583680" y="0"/>
            <a:ext cx="2560320" cy="5143500"/>
          </a:xfrm>
          <a:prstGeom prst="rect">
            <a:avLst/>
          </a:prstGeom>
          <a:solidFill>
            <a:srgbClr val="07070D"/>
          </a:solidFill>
          <a:ln w="12700">
            <a:solidFill>
              <a:srgbClr val="07070D"/>
            </a:solidFill>
            <a:prstDash val="solid"/>
          </a:ln>
        </p:spPr>
        <p:txBody>
          <a:bodyPr/>
          <a:lstStyle/>
          <a:p>
            <a:endParaRPr lang="en-US"/>
          </a:p>
        </p:txBody>
      </p:sp>
      <p:sp>
        <p:nvSpPr>
          <p:cNvPr id="4" name="Shape 2"/>
          <p:cNvSpPr/>
          <p:nvPr/>
        </p:nvSpPr>
        <p:spPr>
          <a:xfrm>
            <a:off x="6583680" y="0"/>
            <a:ext cx="36576" cy="5143500"/>
          </a:xfrm>
          <a:prstGeom prst="rect">
            <a:avLst/>
          </a:prstGeom>
          <a:solidFill>
            <a:srgbClr val="1A1A28"/>
          </a:solidFill>
          <a:ln w="12700">
            <a:solidFill>
              <a:srgbClr val="1A1A28"/>
            </a:solidFill>
            <a:prstDash val="solid"/>
          </a:ln>
        </p:spPr>
        <p:txBody>
          <a:bodyPr/>
          <a:lstStyle/>
          <a:p>
            <a:endParaRPr lang="en-US"/>
          </a:p>
        </p:txBody>
      </p:sp>
      <p:sp>
        <p:nvSpPr>
          <p:cNvPr id="5" name="Shape 3"/>
          <p:cNvSpPr/>
          <p:nvPr/>
        </p:nvSpPr>
        <p:spPr>
          <a:xfrm>
            <a:off x="6812280" y="457200"/>
            <a:ext cx="73152" cy="73152"/>
          </a:xfrm>
          <a:prstGeom prst="ellipse">
            <a:avLst/>
          </a:prstGeom>
          <a:solidFill>
            <a:srgbClr val="1A1A28"/>
          </a:solidFill>
          <a:ln w="12700">
            <a:solidFill>
              <a:srgbClr val="1A1A28"/>
            </a:solidFill>
            <a:prstDash val="solid"/>
          </a:ln>
        </p:spPr>
        <p:txBody>
          <a:bodyPr/>
          <a:lstStyle/>
          <a:p>
            <a:endParaRPr lang="en-US"/>
          </a:p>
        </p:txBody>
      </p:sp>
      <p:sp>
        <p:nvSpPr>
          <p:cNvPr id="6" name="Shape 4"/>
          <p:cNvSpPr/>
          <p:nvPr/>
        </p:nvSpPr>
        <p:spPr>
          <a:xfrm>
            <a:off x="7315200" y="457200"/>
            <a:ext cx="73152" cy="73152"/>
          </a:xfrm>
          <a:prstGeom prst="ellipse">
            <a:avLst/>
          </a:prstGeom>
          <a:solidFill>
            <a:srgbClr val="1A1A28"/>
          </a:solidFill>
          <a:ln w="12700">
            <a:solidFill>
              <a:srgbClr val="1A1A28"/>
            </a:solidFill>
            <a:prstDash val="solid"/>
          </a:ln>
        </p:spPr>
        <p:txBody>
          <a:bodyPr/>
          <a:lstStyle/>
          <a:p>
            <a:endParaRPr lang="en-US"/>
          </a:p>
        </p:txBody>
      </p:sp>
      <p:sp>
        <p:nvSpPr>
          <p:cNvPr id="7" name="Shape 5"/>
          <p:cNvSpPr/>
          <p:nvPr/>
        </p:nvSpPr>
        <p:spPr>
          <a:xfrm>
            <a:off x="7818120" y="457200"/>
            <a:ext cx="73152" cy="73152"/>
          </a:xfrm>
          <a:prstGeom prst="ellipse">
            <a:avLst/>
          </a:prstGeom>
          <a:solidFill>
            <a:srgbClr val="1A1A28"/>
          </a:solidFill>
          <a:ln w="12700">
            <a:solidFill>
              <a:srgbClr val="1A1A28"/>
            </a:solidFill>
            <a:prstDash val="solid"/>
          </a:ln>
        </p:spPr>
        <p:txBody>
          <a:bodyPr/>
          <a:lstStyle/>
          <a:p>
            <a:endParaRPr lang="en-US"/>
          </a:p>
        </p:txBody>
      </p:sp>
      <p:sp>
        <p:nvSpPr>
          <p:cNvPr id="8" name="Shape 6"/>
          <p:cNvSpPr/>
          <p:nvPr/>
        </p:nvSpPr>
        <p:spPr>
          <a:xfrm>
            <a:off x="8321040" y="457200"/>
            <a:ext cx="73152" cy="73152"/>
          </a:xfrm>
          <a:prstGeom prst="ellipse">
            <a:avLst/>
          </a:prstGeom>
          <a:solidFill>
            <a:srgbClr val="1A1A28"/>
          </a:solidFill>
          <a:ln w="12700">
            <a:solidFill>
              <a:srgbClr val="1A1A28"/>
            </a:solidFill>
            <a:prstDash val="solid"/>
          </a:ln>
        </p:spPr>
        <p:txBody>
          <a:bodyPr/>
          <a:lstStyle/>
          <a:p>
            <a:endParaRPr lang="en-US"/>
          </a:p>
        </p:txBody>
      </p:sp>
      <p:sp>
        <p:nvSpPr>
          <p:cNvPr id="9" name="Shape 7"/>
          <p:cNvSpPr/>
          <p:nvPr/>
        </p:nvSpPr>
        <p:spPr>
          <a:xfrm>
            <a:off x="6812280" y="1188720"/>
            <a:ext cx="73152" cy="73152"/>
          </a:xfrm>
          <a:prstGeom prst="ellipse">
            <a:avLst/>
          </a:prstGeom>
          <a:solidFill>
            <a:srgbClr val="1A1A28"/>
          </a:solidFill>
          <a:ln w="12700">
            <a:solidFill>
              <a:srgbClr val="1A1A28"/>
            </a:solidFill>
            <a:prstDash val="solid"/>
          </a:ln>
        </p:spPr>
        <p:txBody>
          <a:bodyPr/>
          <a:lstStyle/>
          <a:p>
            <a:endParaRPr lang="en-US"/>
          </a:p>
        </p:txBody>
      </p:sp>
      <p:sp>
        <p:nvSpPr>
          <p:cNvPr id="10" name="Shape 8"/>
          <p:cNvSpPr/>
          <p:nvPr/>
        </p:nvSpPr>
        <p:spPr>
          <a:xfrm>
            <a:off x="7315200" y="1188720"/>
            <a:ext cx="73152" cy="73152"/>
          </a:xfrm>
          <a:prstGeom prst="ellipse">
            <a:avLst/>
          </a:prstGeom>
          <a:solidFill>
            <a:srgbClr val="1A1A28"/>
          </a:solidFill>
          <a:ln w="12700">
            <a:solidFill>
              <a:srgbClr val="1A1A28"/>
            </a:solidFill>
            <a:prstDash val="solid"/>
          </a:ln>
        </p:spPr>
        <p:txBody>
          <a:bodyPr/>
          <a:lstStyle/>
          <a:p>
            <a:endParaRPr lang="en-US"/>
          </a:p>
        </p:txBody>
      </p:sp>
      <p:sp>
        <p:nvSpPr>
          <p:cNvPr id="11" name="Shape 9"/>
          <p:cNvSpPr/>
          <p:nvPr/>
        </p:nvSpPr>
        <p:spPr>
          <a:xfrm>
            <a:off x="7818120" y="1188720"/>
            <a:ext cx="73152" cy="73152"/>
          </a:xfrm>
          <a:prstGeom prst="ellipse">
            <a:avLst/>
          </a:prstGeom>
          <a:solidFill>
            <a:srgbClr val="1A1A28"/>
          </a:solidFill>
          <a:ln w="12700">
            <a:solidFill>
              <a:srgbClr val="1A1A28"/>
            </a:solidFill>
            <a:prstDash val="solid"/>
          </a:ln>
        </p:spPr>
        <p:txBody>
          <a:bodyPr/>
          <a:lstStyle/>
          <a:p>
            <a:endParaRPr lang="en-US"/>
          </a:p>
        </p:txBody>
      </p:sp>
      <p:sp>
        <p:nvSpPr>
          <p:cNvPr id="12" name="Shape 10"/>
          <p:cNvSpPr/>
          <p:nvPr/>
        </p:nvSpPr>
        <p:spPr>
          <a:xfrm>
            <a:off x="8321040" y="1188720"/>
            <a:ext cx="73152" cy="73152"/>
          </a:xfrm>
          <a:prstGeom prst="ellipse">
            <a:avLst/>
          </a:prstGeom>
          <a:solidFill>
            <a:srgbClr val="1A1A28"/>
          </a:solidFill>
          <a:ln w="12700">
            <a:solidFill>
              <a:srgbClr val="1A1A28"/>
            </a:solidFill>
            <a:prstDash val="solid"/>
          </a:ln>
        </p:spPr>
        <p:txBody>
          <a:bodyPr/>
          <a:lstStyle/>
          <a:p>
            <a:endParaRPr lang="en-US"/>
          </a:p>
        </p:txBody>
      </p:sp>
      <p:sp>
        <p:nvSpPr>
          <p:cNvPr id="13" name="Shape 11"/>
          <p:cNvSpPr/>
          <p:nvPr/>
        </p:nvSpPr>
        <p:spPr>
          <a:xfrm>
            <a:off x="6812280" y="1920240"/>
            <a:ext cx="73152" cy="73152"/>
          </a:xfrm>
          <a:prstGeom prst="ellipse">
            <a:avLst/>
          </a:prstGeom>
          <a:solidFill>
            <a:srgbClr val="1A1A28"/>
          </a:solidFill>
          <a:ln w="12700">
            <a:solidFill>
              <a:srgbClr val="1A1A28"/>
            </a:solidFill>
            <a:prstDash val="solid"/>
          </a:ln>
        </p:spPr>
        <p:txBody>
          <a:bodyPr/>
          <a:lstStyle/>
          <a:p>
            <a:endParaRPr lang="en-US"/>
          </a:p>
        </p:txBody>
      </p:sp>
      <p:sp>
        <p:nvSpPr>
          <p:cNvPr id="14" name="Shape 12"/>
          <p:cNvSpPr/>
          <p:nvPr/>
        </p:nvSpPr>
        <p:spPr>
          <a:xfrm>
            <a:off x="7315200" y="1920240"/>
            <a:ext cx="73152" cy="73152"/>
          </a:xfrm>
          <a:prstGeom prst="ellipse">
            <a:avLst/>
          </a:prstGeom>
          <a:solidFill>
            <a:srgbClr val="1A1A28"/>
          </a:solidFill>
          <a:ln w="12700">
            <a:solidFill>
              <a:srgbClr val="1A1A28"/>
            </a:solidFill>
            <a:prstDash val="solid"/>
          </a:ln>
        </p:spPr>
        <p:txBody>
          <a:bodyPr/>
          <a:lstStyle/>
          <a:p>
            <a:endParaRPr lang="en-US"/>
          </a:p>
        </p:txBody>
      </p:sp>
      <p:sp>
        <p:nvSpPr>
          <p:cNvPr id="15" name="Shape 13"/>
          <p:cNvSpPr/>
          <p:nvPr/>
        </p:nvSpPr>
        <p:spPr>
          <a:xfrm>
            <a:off x="7818120" y="1920240"/>
            <a:ext cx="73152" cy="73152"/>
          </a:xfrm>
          <a:prstGeom prst="ellipse">
            <a:avLst/>
          </a:prstGeom>
          <a:solidFill>
            <a:srgbClr val="1A1A28"/>
          </a:solidFill>
          <a:ln w="12700">
            <a:solidFill>
              <a:srgbClr val="1A1A28"/>
            </a:solidFill>
            <a:prstDash val="solid"/>
          </a:ln>
        </p:spPr>
        <p:txBody>
          <a:bodyPr/>
          <a:lstStyle/>
          <a:p>
            <a:endParaRPr lang="en-US"/>
          </a:p>
        </p:txBody>
      </p:sp>
      <p:sp>
        <p:nvSpPr>
          <p:cNvPr id="16" name="Shape 14"/>
          <p:cNvSpPr/>
          <p:nvPr/>
        </p:nvSpPr>
        <p:spPr>
          <a:xfrm>
            <a:off x="8321040" y="1920240"/>
            <a:ext cx="73152" cy="73152"/>
          </a:xfrm>
          <a:prstGeom prst="ellipse">
            <a:avLst/>
          </a:prstGeom>
          <a:solidFill>
            <a:srgbClr val="1A1A28"/>
          </a:solidFill>
          <a:ln w="12700">
            <a:solidFill>
              <a:srgbClr val="1A1A28"/>
            </a:solidFill>
            <a:prstDash val="solid"/>
          </a:ln>
        </p:spPr>
        <p:txBody>
          <a:bodyPr/>
          <a:lstStyle/>
          <a:p>
            <a:endParaRPr lang="en-US"/>
          </a:p>
        </p:txBody>
      </p:sp>
      <p:sp>
        <p:nvSpPr>
          <p:cNvPr id="17" name="Shape 15"/>
          <p:cNvSpPr/>
          <p:nvPr/>
        </p:nvSpPr>
        <p:spPr>
          <a:xfrm>
            <a:off x="6812280" y="2651760"/>
            <a:ext cx="73152" cy="73152"/>
          </a:xfrm>
          <a:prstGeom prst="ellipse">
            <a:avLst/>
          </a:prstGeom>
          <a:solidFill>
            <a:srgbClr val="1A1A28"/>
          </a:solidFill>
          <a:ln w="12700">
            <a:solidFill>
              <a:srgbClr val="1A1A28"/>
            </a:solidFill>
            <a:prstDash val="solid"/>
          </a:ln>
        </p:spPr>
        <p:txBody>
          <a:bodyPr/>
          <a:lstStyle/>
          <a:p>
            <a:endParaRPr lang="en-US"/>
          </a:p>
        </p:txBody>
      </p:sp>
      <p:sp>
        <p:nvSpPr>
          <p:cNvPr id="18" name="Shape 16"/>
          <p:cNvSpPr/>
          <p:nvPr/>
        </p:nvSpPr>
        <p:spPr>
          <a:xfrm>
            <a:off x="7315200" y="2651760"/>
            <a:ext cx="73152" cy="73152"/>
          </a:xfrm>
          <a:prstGeom prst="ellipse">
            <a:avLst/>
          </a:prstGeom>
          <a:solidFill>
            <a:srgbClr val="1A1A28"/>
          </a:solidFill>
          <a:ln w="12700">
            <a:solidFill>
              <a:srgbClr val="1A1A28"/>
            </a:solidFill>
            <a:prstDash val="solid"/>
          </a:ln>
        </p:spPr>
        <p:txBody>
          <a:bodyPr/>
          <a:lstStyle/>
          <a:p>
            <a:endParaRPr lang="en-US"/>
          </a:p>
        </p:txBody>
      </p:sp>
      <p:sp>
        <p:nvSpPr>
          <p:cNvPr id="19" name="Shape 17"/>
          <p:cNvSpPr/>
          <p:nvPr/>
        </p:nvSpPr>
        <p:spPr>
          <a:xfrm>
            <a:off x="7818120" y="2651760"/>
            <a:ext cx="73152" cy="73152"/>
          </a:xfrm>
          <a:prstGeom prst="ellipse">
            <a:avLst/>
          </a:prstGeom>
          <a:solidFill>
            <a:srgbClr val="1A1A28"/>
          </a:solidFill>
          <a:ln w="12700">
            <a:solidFill>
              <a:srgbClr val="1A1A28"/>
            </a:solidFill>
            <a:prstDash val="solid"/>
          </a:ln>
        </p:spPr>
        <p:txBody>
          <a:bodyPr/>
          <a:lstStyle/>
          <a:p>
            <a:endParaRPr lang="en-US"/>
          </a:p>
        </p:txBody>
      </p:sp>
      <p:sp>
        <p:nvSpPr>
          <p:cNvPr id="20" name="Shape 18"/>
          <p:cNvSpPr/>
          <p:nvPr/>
        </p:nvSpPr>
        <p:spPr>
          <a:xfrm>
            <a:off x="8321040" y="2651760"/>
            <a:ext cx="73152" cy="73152"/>
          </a:xfrm>
          <a:prstGeom prst="ellipse">
            <a:avLst/>
          </a:prstGeom>
          <a:solidFill>
            <a:srgbClr val="1A1A28"/>
          </a:solidFill>
          <a:ln w="12700">
            <a:solidFill>
              <a:srgbClr val="1A1A28"/>
            </a:solidFill>
            <a:prstDash val="solid"/>
          </a:ln>
        </p:spPr>
        <p:txBody>
          <a:bodyPr/>
          <a:lstStyle/>
          <a:p>
            <a:endParaRPr lang="en-US"/>
          </a:p>
        </p:txBody>
      </p:sp>
      <p:sp>
        <p:nvSpPr>
          <p:cNvPr id="21" name="Shape 19"/>
          <p:cNvSpPr/>
          <p:nvPr/>
        </p:nvSpPr>
        <p:spPr>
          <a:xfrm>
            <a:off x="6812280" y="3383280"/>
            <a:ext cx="73152" cy="73152"/>
          </a:xfrm>
          <a:prstGeom prst="ellipse">
            <a:avLst/>
          </a:prstGeom>
          <a:solidFill>
            <a:srgbClr val="1A1A28"/>
          </a:solidFill>
          <a:ln w="12700">
            <a:solidFill>
              <a:srgbClr val="1A1A28"/>
            </a:solidFill>
            <a:prstDash val="solid"/>
          </a:ln>
        </p:spPr>
        <p:txBody>
          <a:bodyPr/>
          <a:lstStyle/>
          <a:p>
            <a:endParaRPr lang="en-US"/>
          </a:p>
        </p:txBody>
      </p:sp>
      <p:sp>
        <p:nvSpPr>
          <p:cNvPr id="22" name="Shape 20"/>
          <p:cNvSpPr/>
          <p:nvPr/>
        </p:nvSpPr>
        <p:spPr>
          <a:xfrm>
            <a:off x="7315200" y="3383280"/>
            <a:ext cx="73152" cy="73152"/>
          </a:xfrm>
          <a:prstGeom prst="ellipse">
            <a:avLst/>
          </a:prstGeom>
          <a:solidFill>
            <a:srgbClr val="1A1A28"/>
          </a:solidFill>
          <a:ln w="12700">
            <a:solidFill>
              <a:srgbClr val="1A1A28"/>
            </a:solidFill>
            <a:prstDash val="solid"/>
          </a:ln>
        </p:spPr>
        <p:txBody>
          <a:bodyPr/>
          <a:lstStyle/>
          <a:p>
            <a:endParaRPr lang="en-US"/>
          </a:p>
        </p:txBody>
      </p:sp>
      <p:sp>
        <p:nvSpPr>
          <p:cNvPr id="23" name="Shape 21"/>
          <p:cNvSpPr/>
          <p:nvPr/>
        </p:nvSpPr>
        <p:spPr>
          <a:xfrm>
            <a:off x="7818120" y="3383280"/>
            <a:ext cx="73152" cy="73152"/>
          </a:xfrm>
          <a:prstGeom prst="ellipse">
            <a:avLst/>
          </a:prstGeom>
          <a:solidFill>
            <a:srgbClr val="1A1A28"/>
          </a:solidFill>
          <a:ln w="12700">
            <a:solidFill>
              <a:srgbClr val="1A1A28"/>
            </a:solidFill>
            <a:prstDash val="solid"/>
          </a:ln>
        </p:spPr>
        <p:txBody>
          <a:bodyPr/>
          <a:lstStyle/>
          <a:p>
            <a:endParaRPr lang="en-US"/>
          </a:p>
        </p:txBody>
      </p:sp>
      <p:sp>
        <p:nvSpPr>
          <p:cNvPr id="24" name="Shape 22"/>
          <p:cNvSpPr/>
          <p:nvPr/>
        </p:nvSpPr>
        <p:spPr>
          <a:xfrm>
            <a:off x="8321040" y="3383280"/>
            <a:ext cx="73152" cy="73152"/>
          </a:xfrm>
          <a:prstGeom prst="ellipse">
            <a:avLst/>
          </a:prstGeom>
          <a:solidFill>
            <a:srgbClr val="1A1A28"/>
          </a:solidFill>
          <a:ln w="12700">
            <a:solidFill>
              <a:srgbClr val="1A1A28"/>
            </a:solidFill>
            <a:prstDash val="solid"/>
          </a:ln>
        </p:spPr>
        <p:txBody>
          <a:bodyPr/>
          <a:lstStyle/>
          <a:p>
            <a:endParaRPr lang="en-US"/>
          </a:p>
        </p:txBody>
      </p:sp>
      <p:sp>
        <p:nvSpPr>
          <p:cNvPr id="25" name="Shape 23"/>
          <p:cNvSpPr/>
          <p:nvPr/>
        </p:nvSpPr>
        <p:spPr>
          <a:xfrm>
            <a:off x="6812280" y="4114800"/>
            <a:ext cx="73152" cy="73152"/>
          </a:xfrm>
          <a:prstGeom prst="ellipse">
            <a:avLst/>
          </a:prstGeom>
          <a:solidFill>
            <a:srgbClr val="1A1A28"/>
          </a:solidFill>
          <a:ln w="12700">
            <a:solidFill>
              <a:srgbClr val="1A1A28"/>
            </a:solidFill>
            <a:prstDash val="solid"/>
          </a:ln>
        </p:spPr>
        <p:txBody>
          <a:bodyPr/>
          <a:lstStyle/>
          <a:p>
            <a:endParaRPr lang="en-US"/>
          </a:p>
        </p:txBody>
      </p:sp>
      <p:sp>
        <p:nvSpPr>
          <p:cNvPr id="26" name="Shape 24"/>
          <p:cNvSpPr/>
          <p:nvPr/>
        </p:nvSpPr>
        <p:spPr>
          <a:xfrm>
            <a:off x="7315200" y="4114800"/>
            <a:ext cx="73152" cy="73152"/>
          </a:xfrm>
          <a:prstGeom prst="ellipse">
            <a:avLst/>
          </a:prstGeom>
          <a:solidFill>
            <a:srgbClr val="1A1A28"/>
          </a:solidFill>
          <a:ln w="12700">
            <a:solidFill>
              <a:srgbClr val="1A1A28"/>
            </a:solidFill>
            <a:prstDash val="solid"/>
          </a:ln>
        </p:spPr>
        <p:txBody>
          <a:bodyPr/>
          <a:lstStyle/>
          <a:p>
            <a:endParaRPr lang="en-US"/>
          </a:p>
        </p:txBody>
      </p:sp>
      <p:sp>
        <p:nvSpPr>
          <p:cNvPr id="27" name="Shape 25"/>
          <p:cNvSpPr/>
          <p:nvPr/>
        </p:nvSpPr>
        <p:spPr>
          <a:xfrm>
            <a:off x="7818120" y="4114800"/>
            <a:ext cx="73152" cy="73152"/>
          </a:xfrm>
          <a:prstGeom prst="ellipse">
            <a:avLst/>
          </a:prstGeom>
          <a:solidFill>
            <a:srgbClr val="1A1A28"/>
          </a:solidFill>
          <a:ln w="12700">
            <a:solidFill>
              <a:srgbClr val="1A1A28"/>
            </a:solidFill>
            <a:prstDash val="solid"/>
          </a:ln>
        </p:spPr>
        <p:txBody>
          <a:bodyPr/>
          <a:lstStyle/>
          <a:p>
            <a:endParaRPr lang="en-US"/>
          </a:p>
        </p:txBody>
      </p:sp>
      <p:sp>
        <p:nvSpPr>
          <p:cNvPr id="28" name="Shape 26"/>
          <p:cNvSpPr/>
          <p:nvPr/>
        </p:nvSpPr>
        <p:spPr>
          <a:xfrm>
            <a:off x="8321040" y="4114800"/>
            <a:ext cx="73152" cy="73152"/>
          </a:xfrm>
          <a:prstGeom prst="ellipse">
            <a:avLst/>
          </a:prstGeom>
          <a:solidFill>
            <a:srgbClr val="1A1A28"/>
          </a:solidFill>
          <a:ln w="12700">
            <a:solidFill>
              <a:srgbClr val="1A1A28"/>
            </a:solidFill>
            <a:prstDash val="solid"/>
          </a:ln>
        </p:spPr>
        <p:txBody>
          <a:bodyPr/>
          <a:lstStyle/>
          <a:p>
            <a:endParaRPr lang="en-US"/>
          </a:p>
        </p:txBody>
      </p:sp>
      <p:sp>
        <p:nvSpPr>
          <p:cNvPr id="29" name="Text 27"/>
          <p:cNvSpPr/>
          <p:nvPr/>
        </p:nvSpPr>
        <p:spPr>
          <a:xfrm>
            <a:off x="274320" y="640080"/>
            <a:ext cx="5943600" cy="274320"/>
          </a:xfrm>
          <a:prstGeom prst="rect">
            <a:avLst/>
          </a:prstGeom>
          <a:noFill/>
          <a:ln/>
        </p:spPr>
        <p:txBody>
          <a:bodyPr wrap="square" rtlCol="0" anchor="ctr"/>
          <a:lstStyle/>
          <a:p>
            <a:pPr marL="0" indent="0">
              <a:buNone/>
            </a:pPr>
            <a:r>
              <a:rPr lang="en-US" sz="900" b="1" kern="0" spc="300" dirty="0">
                <a:solidFill>
                  <a:srgbClr val="FF6B35"/>
                </a:solidFill>
              </a:rPr>
              <a:t>UNIT 3 FINAL PROJECT</a:t>
            </a:r>
            <a:endParaRPr lang="en-US" sz="900" dirty="0"/>
          </a:p>
        </p:txBody>
      </p:sp>
      <p:sp>
        <p:nvSpPr>
          <p:cNvPr id="30" name="Text 28"/>
          <p:cNvSpPr/>
          <p:nvPr/>
        </p:nvSpPr>
        <p:spPr>
          <a:xfrm>
            <a:off x="274320" y="1005840"/>
            <a:ext cx="6126480" cy="914400"/>
          </a:xfrm>
          <a:prstGeom prst="rect">
            <a:avLst/>
          </a:prstGeom>
          <a:noFill/>
          <a:ln/>
        </p:spPr>
        <p:txBody>
          <a:bodyPr wrap="square" rtlCol="0" anchor="ctr"/>
          <a:lstStyle/>
          <a:p>
            <a:pPr marL="0" indent="0">
              <a:buNone/>
            </a:pPr>
            <a:r>
              <a:rPr lang="en-US" sz="4600" b="1" dirty="0">
                <a:solidFill>
                  <a:srgbClr val="E8E8FF"/>
                </a:solidFill>
                <a:latin typeface="Trebuchet MS" pitchFamily="34" charset="0"/>
                <a:ea typeface="Trebuchet MS" pitchFamily="34" charset="-122"/>
                <a:cs typeface="Trebuchet MS" pitchFamily="34" charset="-120"/>
              </a:rPr>
              <a:t>Riyadh Restaurant</a:t>
            </a:r>
            <a:endParaRPr lang="en-US" sz="4600" dirty="0"/>
          </a:p>
        </p:txBody>
      </p:sp>
      <p:sp>
        <p:nvSpPr>
          <p:cNvPr id="31" name="Text 29"/>
          <p:cNvSpPr/>
          <p:nvPr/>
        </p:nvSpPr>
        <p:spPr>
          <a:xfrm>
            <a:off x="274320" y="1874520"/>
            <a:ext cx="6126480" cy="640080"/>
          </a:xfrm>
          <a:prstGeom prst="rect">
            <a:avLst/>
          </a:prstGeom>
          <a:noFill/>
          <a:ln/>
        </p:spPr>
        <p:txBody>
          <a:bodyPr wrap="square" rtlCol="0" anchor="ctr"/>
          <a:lstStyle/>
          <a:p>
            <a:pPr marL="0" indent="0">
              <a:buNone/>
            </a:pPr>
            <a:r>
              <a:rPr lang="en-US" sz="2800" dirty="0">
                <a:solidFill>
                  <a:srgbClr val="00D4FF"/>
                </a:solidFill>
                <a:latin typeface="Trebuchet MS" pitchFamily="34" charset="0"/>
                <a:ea typeface="Trebuchet MS" pitchFamily="34" charset="-122"/>
                <a:cs typeface="Trebuchet MS" pitchFamily="34" charset="-120"/>
              </a:rPr>
              <a:t>Exploratory Data Analysis</a:t>
            </a:r>
            <a:endParaRPr lang="en-US" sz="2800" dirty="0"/>
          </a:p>
        </p:txBody>
      </p:sp>
      <p:sp>
        <p:nvSpPr>
          <p:cNvPr id="32" name="Text 30"/>
          <p:cNvSpPr/>
          <p:nvPr/>
        </p:nvSpPr>
        <p:spPr>
          <a:xfrm>
            <a:off x="274320" y="2606040"/>
            <a:ext cx="5943600" cy="731520"/>
          </a:xfrm>
          <a:prstGeom prst="rect">
            <a:avLst/>
          </a:prstGeom>
          <a:noFill/>
          <a:ln/>
        </p:spPr>
        <p:txBody>
          <a:bodyPr wrap="square" rtlCol="0" anchor="ctr"/>
          <a:lstStyle/>
          <a:p>
            <a:pPr marL="0" indent="0">
              <a:lnSpc>
                <a:spcPct val="140000"/>
              </a:lnSpc>
              <a:buNone/>
            </a:pPr>
            <a:r>
              <a:rPr lang="en-US" sz="1100" dirty="0">
                <a:solidFill>
                  <a:srgbClr val="6060A0"/>
                </a:solidFill>
              </a:rPr>
              <a:t>A comprehensive study of 11,000+ food &amp; dining venues across Riyadh</a:t>
            </a:r>
            <a:endParaRPr lang="en-US" sz="1100" dirty="0"/>
          </a:p>
          <a:p>
            <a:pPr marL="0" indent="0">
              <a:lnSpc>
                <a:spcPct val="140000"/>
              </a:lnSpc>
              <a:buNone/>
            </a:pPr>
            <a:r>
              <a:rPr lang="en-US" sz="1100" dirty="0">
                <a:solidFill>
                  <a:srgbClr val="6060A0"/>
                </a:solidFill>
              </a:rPr>
              <a:t>using Foursquare data sourced from Kaggle.</a:t>
            </a:r>
            <a:endParaRPr lang="en-US" sz="1100" dirty="0"/>
          </a:p>
        </p:txBody>
      </p:sp>
      <p:sp>
        <p:nvSpPr>
          <p:cNvPr id="33" name="Shape 31"/>
          <p:cNvSpPr/>
          <p:nvPr/>
        </p:nvSpPr>
        <p:spPr>
          <a:xfrm>
            <a:off x="274320" y="3520440"/>
            <a:ext cx="1371600" cy="777240"/>
          </a:xfrm>
          <a:prstGeom prst="rect">
            <a:avLst/>
          </a:prstGeom>
          <a:solidFill>
            <a:srgbClr val="12121E"/>
          </a:solidFill>
          <a:ln w="6350">
            <a:solidFill>
              <a:srgbClr val="1A1A28"/>
            </a:solidFill>
            <a:prstDash val="solid"/>
          </a:ln>
        </p:spPr>
        <p:txBody>
          <a:bodyPr/>
          <a:lstStyle/>
          <a:p>
            <a:endParaRPr lang="en-US"/>
          </a:p>
        </p:txBody>
      </p:sp>
      <p:sp>
        <p:nvSpPr>
          <p:cNvPr id="34" name="Text 32"/>
          <p:cNvSpPr/>
          <p:nvPr/>
        </p:nvSpPr>
        <p:spPr>
          <a:xfrm>
            <a:off x="274320" y="3566160"/>
            <a:ext cx="1371600" cy="365760"/>
          </a:xfrm>
          <a:prstGeom prst="rect">
            <a:avLst/>
          </a:prstGeom>
          <a:noFill/>
          <a:ln/>
        </p:spPr>
        <p:txBody>
          <a:bodyPr wrap="square" rtlCol="0" anchor="ctr"/>
          <a:lstStyle/>
          <a:p>
            <a:pPr marL="0" indent="0" algn="ctr">
              <a:buNone/>
            </a:pPr>
            <a:r>
              <a:rPr lang="en-US" sz="1800" b="1" dirty="0">
                <a:solidFill>
                  <a:srgbClr val="FF6B35"/>
                </a:solidFill>
                <a:latin typeface="Trebuchet MS" pitchFamily="34" charset="0"/>
                <a:ea typeface="Trebuchet MS" pitchFamily="34" charset="-122"/>
                <a:cs typeface="Trebuchet MS" pitchFamily="34" charset="-120"/>
              </a:rPr>
              <a:t>11K+</a:t>
            </a:r>
            <a:endParaRPr lang="en-US" sz="1800" dirty="0"/>
          </a:p>
        </p:txBody>
      </p:sp>
      <p:sp>
        <p:nvSpPr>
          <p:cNvPr id="35" name="Text 33"/>
          <p:cNvSpPr/>
          <p:nvPr/>
        </p:nvSpPr>
        <p:spPr>
          <a:xfrm>
            <a:off x="274320" y="3931920"/>
            <a:ext cx="1371600" cy="256032"/>
          </a:xfrm>
          <a:prstGeom prst="rect">
            <a:avLst/>
          </a:prstGeom>
          <a:noFill/>
          <a:ln/>
        </p:spPr>
        <p:txBody>
          <a:bodyPr wrap="square" rtlCol="0" anchor="ctr"/>
          <a:lstStyle/>
          <a:p>
            <a:pPr marL="0" indent="0" algn="ctr">
              <a:buNone/>
            </a:pPr>
            <a:r>
              <a:rPr lang="en-US" sz="800" dirty="0">
                <a:solidFill>
                  <a:srgbClr val="6060A0"/>
                </a:solidFill>
              </a:rPr>
              <a:t>Venues</a:t>
            </a:r>
            <a:endParaRPr lang="en-US" sz="800" dirty="0"/>
          </a:p>
        </p:txBody>
      </p:sp>
      <p:sp>
        <p:nvSpPr>
          <p:cNvPr id="36" name="Shape 34"/>
          <p:cNvSpPr/>
          <p:nvPr/>
        </p:nvSpPr>
        <p:spPr>
          <a:xfrm>
            <a:off x="1783080" y="3520440"/>
            <a:ext cx="1371600" cy="777240"/>
          </a:xfrm>
          <a:prstGeom prst="rect">
            <a:avLst/>
          </a:prstGeom>
          <a:solidFill>
            <a:srgbClr val="12121E"/>
          </a:solidFill>
          <a:ln w="6350">
            <a:solidFill>
              <a:srgbClr val="1A1A28"/>
            </a:solidFill>
            <a:prstDash val="solid"/>
          </a:ln>
        </p:spPr>
        <p:txBody>
          <a:bodyPr/>
          <a:lstStyle/>
          <a:p>
            <a:endParaRPr lang="en-US"/>
          </a:p>
        </p:txBody>
      </p:sp>
      <p:sp>
        <p:nvSpPr>
          <p:cNvPr id="37" name="Text 35"/>
          <p:cNvSpPr/>
          <p:nvPr/>
        </p:nvSpPr>
        <p:spPr>
          <a:xfrm>
            <a:off x="1783080" y="3566160"/>
            <a:ext cx="1371600" cy="365760"/>
          </a:xfrm>
          <a:prstGeom prst="rect">
            <a:avLst/>
          </a:prstGeom>
          <a:noFill/>
          <a:ln/>
        </p:spPr>
        <p:txBody>
          <a:bodyPr wrap="square" rtlCol="0" anchor="ctr"/>
          <a:lstStyle/>
          <a:p>
            <a:pPr marL="0" indent="0" algn="ctr">
              <a:buNone/>
            </a:pPr>
            <a:r>
              <a:rPr lang="en-US" sz="1800" b="1" dirty="0">
                <a:solidFill>
                  <a:srgbClr val="FF6B35"/>
                </a:solidFill>
                <a:latin typeface="Trebuchet MS" pitchFamily="34" charset="0"/>
                <a:ea typeface="Trebuchet MS" pitchFamily="34" charset="-122"/>
                <a:cs typeface="Trebuchet MS" pitchFamily="34" charset="-120"/>
              </a:rPr>
              <a:t>27K</a:t>
            </a:r>
            <a:endParaRPr lang="en-US" sz="1800" dirty="0"/>
          </a:p>
        </p:txBody>
      </p:sp>
      <p:sp>
        <p:nvSpPr>
          <p:cNvPr id="38" name="Text 36"/>
          <p:cNvSpPr/>
          <p:nvPr/>
        </p:nvSpPr>
        <p:spPr>
          <a:xfrm>
            <a:off x="1783080" y="3931920"/>
            <a:ext cx="1371600" cy="256032"/>
          </a:xfrm>
          <a:prstGeom prst="rect">
            <a:avLst/>
          </a:prstGeom>
          <a:noFill/>
          <a:ln/>
        </p:spPr>
        <p:txBody>
          <a:bodyPr wrap="square" rtlCol="0" anchor="ctr"/>
          <a:lstStyle/>
          <a:p>
            <a:pPr marL="0" indent="0" algn="ctr">
              <a:buNone/>
            </a:pPr>
            <a:r>
              <a:rPr lang="en-US" sz="800" dirty="0">
                <a:solidFill>
                  <a:srgbClr val="6060A0"/>
                </a:solidFill>
              </a:rPr>
              <a:t>Raw Records</a:t>
            </a:r>
            <a:endParaRPr lang="en-US" sz="800" dirty="0"/>
          </a:p>
        </p:txBody>
      </p:sp>
      <p:sp>
        <p:nvSpPr>
          <p:cNvPr id="39" name="Shape 37"/>
          <p:cNvSpPr/>
          <p:nvPr/>
        </p:nvSpPr>
        <p:spPr>
          <a:xfrm>
            <a:off x="3291840" y="3520440"/>
            <a:ext cx="1371600" cy="777240"/>
          </a:xfrm>
          <a:prstGeom prst="rect">
            <a:avLst/>
          </a:prstGeom>
          <a:solidFill>
            <a:srgbClr val="12121E"/>
          </a:solidFill>
          <a:ln w="6350">
            <a:solidFill>
              <a:srgbClr val="1A1A28"/>
            </a:solidFill>
            <a:prstDash val="solid"/>
          </a:ln>
        </p:spPr>
        <p:txBody>
          <a:bodyPr/>
          <a:lstStyle/>
          <a:p>
            <a:endParaRPr lang="en-US"/>
          </a:p>
        </p:txBody>
      </p:sp>
      <p:sp>
        <p:nvSpPr>
          <p:cNvPr id="40" name="Text 38"/>
          <p:cNvSpPr/>
          <p:nvPr/>
        </p:nvSpPr>
        <p:spPr>
          <a:xfrm>
            <a:off x="3291840" y="3566160"/>
            <a:ext cx="1371600" cy="365760"/>
          </a:xfrm>
          <a:prstGeom prst="rect">
            <a:avLst/>
          </a:prstGeom>
          <a:noFill/>
          <a:ln/>
        </p:spPr>
        <p:txBody>
          <a:bodyPr wrap="square" rtlCol="0" anchor="ctr"/>
          <a:lstStyle/>
          <a:p>
            <a:pPr marL="0" indent="0" algn="ctr">
              <a:buNone/>
            </a:pPr>
            <a:r>
              <a:rPr lang="en-US" sz="1800" b="1" dirty="0">
                <a:solidFill>
                  <a:srgbClr val="FF6B35"/>
                </a:solidFill>
                <a:latin typeface="Trebuchet MS" pitchFamily="34" charset="0"/>
                <a:ea typeface="Trebuchet MS" pitchFamily="34" charset="-122"/>
                <a:cs typeface="Trebuchet MS" pitchFamily="34" charset="-120"/>
              </a:rPr>
              <a:t>89%</a:t>
            </a:r>
            <a:endParaRPr lang="en-US" sz="1800" dirty="0"/>
          </a:p>
        </p:txBody>
      </p:sp>
      <p:sp>
        <p:nvSpPr>
          <p:cNvPr id="41" name="Text 39"/>
          <p:cNvSpPr/>
          <p:nvPr/>
        </p:nvSpPr>
        <p:spPr>
          <a:xfrm>
            <a:off x="3291840" y="3931920"/>
            <a:ext cx="1371600" cy="256032"/>
          </a:xfrm>
          <a:prstGeom prst="rect">
            <a:avLst/>
          </a:prstGeom>
          <a:noFill/>
          <a:ln/>
        </p:spPr>
        <p:txBody>
          <a:bodyPr wrap="square" rtlCol="0" anchor="ctr"/>
          <a:lstStyle/>
          <a:p>
            <a:pPr marL="0" indent="0" algn="ctr">
              <a:buNone/>
            </a:pPr>
            <a:r>
              <a:rPr lang="en-US" sz="800" dirty="0">
                <a:solidFill>
                  <a:srgbClr val="6060A0"/>
                </a:solidFill>
              </a:rPr>
              <a:t>Best Model Acc.</a:t>
            </a:r>
            <a:endParaRPr lang="en-US" sz="800" dirty="0"/>
          </a:p>
        </p:txBody>
      </p:sp>
      <p:sp>
        <p:nvSpPr>
          <p:cNvPr id="42" name="Shape 40"/>
          <p:cNvSpPr/>
          <p:nvPr/>
        </p:nvSpPr>
        <p:spPr>
          <a:xfrm>
            <a:off x="4800600" y="3520440"/>
            <a:ext cx="1371600" cy="777240"/>
          </a:xfrm>
          <a:prstGeom prst="rect">
            <a:avLst/>
          </a:prstGeom>
          <a:solidFill>
            <a:srgbClr val="12121E"/>
          </a:solidFill>
          <a:ln w="6350">
            <a:solidFill>
              <a:srgbClr val="1A1A28"/>
            </a:solidFill>
            <a:prstDash val="solid"/>
          </a:ln>
        </p:spPr>
        <p:txBody>
          <a:bodyPr/>
          <a:lstStyle/>
          <a:p>
            <a:endParaRPr lang="en-US"/>
          </a:p>
        </p:txBody>
      </p:sp>
      <p:sp>
        <p:nvSpPr>
          <p:cNvPr id="43" name="Text 41"/>
          <p:cNvSpPr/>
          <p:nvPr/>
        </p:nvSpPr>
        <p:spPr>
          <a:xfrm>
            <a:off x="4800600" y="3566160"/>
            <a:ext cx="1371600" cy="365760"/>
          </a:xfrm>
          <a:prstGeom prst="rect">
            <a:avLst/>
          </a:prstGeom>
          <a:noFill/>
          <a:ln/>
        </p:spPr>
        <p:txBody>
          <a:bodyPr wrap="square" rtlCol="0" anchor="ctr"/>
          <a:lstStyle/>
          <a:p>
            <a:pPr marL="0" indent="0" algn="ctr">
              <a:buNone/>
            </a:pPr>
            <a:r>
              <a:rPr lang="en-US" sz="1800" b="1" dirty="0">
                <a:solidFill>
                  <a:srgbClr val="FF6B35"/>
                </a:solidFill>
                <a:latin typeface="Trebuchet MS" pitchFamily="34" charset="0"/>
                <a:ea typeface="Trebuchet MS" pitchFamily="34" charset="-122"/>
                <a:cs typeface="Trebuchet MS" pitchFamily="34" charset="-120"/>
              </a:rPr>
              <a:t>10</a:t>
            </a:r>
            <a:endParaRPr lang="en-US" sz="1800" dirty="0"/>
          </a:p>
        </p:txBody>
      </p:sp>
      <p:sp>
        <p:nvSpPr>
          <p:cNvPr id="44" name="Text 42"/>
          <p:cNvSpPr/>
          <p:nvPr/>
        </p:nvSpPr>
        <p:spPr>
          <a:xfrm>
            <a:off x="4800600" y="3931920"/>
            <a:ext cx="1371600" cy="256032"/>
          </a:xfrm>
          <a:prstGeom prst="rect">
            <a:avLst/>
          </a:prstGeom>
          <a:noFill/>
          <a:ln/>
        </p:spPr>
        <p:txBody>
          <a:bodyPr wrap="square" rtlCol="0" anchor="ctr"/>
          <a:lstStyle/>
          <a:p>
            <a:pPr marL="0" indent="0" algn="ctr">
              <a:buNone/>
            </a:pPr>
            <a:r>
              <a:rPr lang="en-US" sz="800" dirty="0">
                <a:solidFill>
                  <a:srgbClr val="6060A0"/>
                </a:solidFill>
              </a:rPr>
              <a:t>Top Categories</a:t>
            </a:r>
            <a:endParaRPr lang="en-US" sz="800" dirty="0"/>
          </a:p>
        </p:txBody>
      </p:sp>
      <p:sp>
        <p:nvSpPr>
          <p:cNvPr id="45" name="Shape 43"/>
          <p:cNvSpPr/>
          <p:nvPr/>
        </p:nvSpPr>
        <p:spPr>
          <a:xfrm>
            <a:off x="6858000" y="274320"/>
            <a:ext cx="2011680" cy="2011680"/>
          </a:xfrm>
          <a:prstGeom prst="rect">
            <a:avLst/>
          </a:prstGeom>
          <a:solidFill>
            <a:srgbClr val="FFFFFF"/>
          </a:solidFill>
          <a:ln w="6350">
            <a:solidFill>
              <a:srgbClr val="1A1A28"/>
            </a:solidFill>
            <a:prstDash val="solid"/>
          </a:ln>
          <a:effectLst>
            <a:softEdge rad="127000"/>
          </a:effectLst>
        </p:spPr>
        <p:txBody>
          <a:bodyPr/>
          <a:lstStyle/>
          <a:p>
            <a:endParaRPr lang="en-US"/>
          </a:p>
        </p:txBody>
      </p:sp>
      <p:pic>
        <p:nvPicPr>
          <p:cNvPr id="46" name="Image 0" descr="preencoded.png"/>
          <p:cNvPicPr>
            <a:picLocks noChangeAspect="1"/>
          </p:cNvPicPr>
          <p:nvPr/>
        </p:nvPicPr>
        <p:blipFill>
          <a:blip r:embed="rId3"/>
          <a:stretch>
            <a:fillRect/>
          </a:stretch>
        </p:blipFill>
        <p:spPr>
          <a:xfrm>
            <a:off x="6903720" y="320040"/>
            <a:ext cx="1920240" cy="1920240"/>
          </a:xfrm>
          <a:prstGeom prst="rect">
            <a:avLst/>
          </a:prstGeom>
        </p:spPr>
      </p:pic>
      <p:sp>
        <p:nvSpPr>
          <p:cNvPr id="47" name="Shape 44"/>
          <p:cNvSpPr/>
          <p:nvPr/>
        </p:nvSpPr>
        <p:spPr>
          <a:xfrm>
            <a:off x="274320" y="4224528"/>
            <a:ext cx="6126480" cy="804672"/>
          </a:xfrm>
          <a:prstGeom prst="rect">
            <a:avLst/>
          </a:prstGeom>
          <a:solidFill>
            <a:srgbClr val="0F0F1E"/>
          </a:solidFill>
          <a:ln w="6350">
            <a:solidFill>
              <a:srgbClr val="1A1A28"/>
            </a:solidFill>
            <a:prstDash val="solid"/>
          </a:ln>
        </p:spPr>
        <p:txBody>
          <a:bodyPr/>
          <a:lstStyle/>
          <a:p>
            <a:endParaRPr lang="en-US"/>
          </a:p>
        </p:txBody>
      </p:sp>
      <p:sp>
        <p:nvSpPr>
          <p:cNvPr id="48" name="Shape 45"/>
          <p:cNvSpPr/>
          <p:nvPr/>
        </p:nvSpPr>
        <p:spPr>
          <a:xfrm>
            <a:off x="274320" y="4224528"/>
            <a:ext cx="45720" cy="804672"/>
          </a:xfrm>
          <a:prstGeom prst="rect">
            <a:avLst/>
          </a:prstGeom>
          <a:solidFill>
            <a:srgbClr val="FF6B35"/>
          </a:solidFill>
          <a:ln w="12700">
            <a:solidFill>
              <a:srgbClr val="FF6B35"/>
            </a:solidFill>
            <a:prstDash val="solid"/>
          </a:ln>
        </p:spPr>
        <p:txBody>
          <a:bodyPr/>
          <a:lstStyle/>
          <a:p>
            <a:endParaRPr lang="en-US"/>
          </a:p>
        </p:txBody>
      </p:sp>
      <p:sp>
        <p:nvSpPr>
          <p:cNvPr id="49" name="Text 46"/>
          <p:cNvSpPr/>
          <p:nvPr/>
        </p:nvSpPr>
        <p:spPr>
          <a:xfrm>
            <a:off x="384048" y="4261104"/>
            <a:ext cx="1005840" cy="228600"/>
          </a:xfrm>
          <a:prstGeom prst="rect">
            <a:avLst/>
          </a:prstGeom>
          <a:noFill/>
          <a:ln/>
        </p:spPr>
        <p:txBody>
          <a:bodyPr wrap="square" rtlCol="0" anchor="ctr"/>
          <a:lstStyle/>
          <a:p>
            <a:pPr marL="0" indent="0">
              <a:buNone/>
            </a:pPr>
            <a:r>
              <a:rPr lang="en-US" sz="750" kern="0" spc="100" dirty="0">
                <a:solidFill>
                  <a:srgbClr val="6060A0"/>
                </a:solidFill>
              </a:rPr>
              <a:t>Student</a:t>
            </a:r>
            <a:endParaRPr lang="en-US" sz="750" dirty="0"/>
          </a:p>
        </p:txBody>
      </p:sp>
      <p:sp>
        <p:nvSpPr>
          <p:cNvPr id="50" name="Text 47"/>
          <p:cNvSpPr/>
          <p:nvPr/>
        </p:nvSpPr>
        <p:spPr>
          <a:xfrm>
            <a:off x="384048" y="4462272"/>
            <a:ext cx="2743200" cy="292608"/>
          </a:xfrm>
          <a:prstGeom prst="rect">
            <a:avLst/>
          </a:prstGeom>
          <a:noFill/>
          <a:ln/>
        </p:spPr>
        <p:txBody>
          <a:bodyPr wrap="square" rtlCol="0" anchor="ctr"/>
          <a:lstStyle/>
          <a:p>
            <a:pPr marL="0" indent="0">
              <a:buNone/>
            </a:pPr>
            <a:r>
              <a:rPr lang="en-US" sz="1300" b="1" dirty="0">
                <a:solidFill>
                  <a:srgbClr val="E8E8FF"/>
                </a:solidFill>
                <a:latin typeface="Trebuchet MS" pitchFamily="34" charset="0"/>
                <a:ea typeface="Trebuchet MS" pitchFamily="34" charset="-122"/>
                <a:cs typeface="Trebuchet MS" pitchFamily="34" charset="-120"/>
              </a:rPr>
              <a:t>Abdulrahman Bajunaid</a:t>
            </a:r>
            <a:endParaRPr lang="en-US" sz="1300" dirty="0"/>
          </a:p>
        </p:txBody>
      </p:sp>
      <p:sp>
        <p:nvSpPr>
          <p:cNvPr id="51" name="Shape 48"/>
          <p:cNvSpPr/>
          <p:nvPr/>
        </p:nvSpPr>
        <p:spPr>
          <a:xfrm>
            <a:off x="3246120" y="4279392"/>
            <a:ext cx="0" cy="658368"/>
          </a:xfrm>
          <a:prstGeom prst="line">
            <a:avLst/>
          </a:prstGeom>
          <a:noFill/>
          <a:ln w="6350">
            <a:solidFill>
              <a:srgbClr val="1A1A28"/>
            </a:solidFill>
            <a:prstDash val="solid"/>
          </a:ln>
        </p:spPr>
        <p:txBody>
          <a:bodyPr/>
          <a:lstStyle/>
          <a:p>
            <a:endParaRPr lang="en-US"/>
          </a:p>
        </p:txBody>
      </p:sp>
      <p:sp>
        <p:nvSpPr>
          <p:cNvPr id="52" name="Text 49"/>
          <p:cNvSpPr/>
          <p:nvPr/>
        </p:nvSpPr>
        <p:spPr>
          <a:xfrm>
            <a:off x="3429000" y="4261104"/>
            <a:ext cx="1280160" cy="228600"/>
          </a:xfrm>
          <a:prstGeom prst="rect">
            <a:avLst/>
          </a:prstGeom>
          <a:noFill/>
          <a:ln/>
        </p:spPr>
        <p:txBody>
          <a:bodyPr wrap="square" rtlCol="0" anchor="ctr"/>
          <a:lstStyle/>
          <a:p>
            <a:pPr marL="0" indent="0">
              <a:buNone/>
            </a:pPr>
            <a:r>
              <a:rPr lang="en-US" sz="750" kern="0" spc="100" dirty="0">
                <a:solidFill>
                  <a:srgbClr val="6060A0"/>
                </a:solidFill>
              </a:rPr>
              <a:t>Instructor</a:t>
            </a:r>
            <a:endParaRPr lang="en-US" sz="750" dirty="0"/>
          </a:p>
        </p:txBody>
      </p:sp>
      <p:sp>
        <p:nvSpPr>
          <p:cNvPr id="53" name="Text 50"/>
          <p:cNvSpPr/>
          <p:nvPr/>
        </p:nvSpPr>
        <p:spPr>
          <a:xfrm>
            <a:off x="3429000" y="4462272"/>
            <a:ext cx="1828800" cy="292608"/>
          </a:xfrm>
          <a:prstGeom prst="rect">
            <a:avLst/>
          </a:prstGeom>
          <a:noFill/>
          <a:ln/>
        </p:spPr>
        <p:txBody>
          <a:bodyPr wrap="square" rtlCol="0" anchor="ctr"/>
          <a:lstStyle/>
          <a:p>
            <a:pPr marL="0" indent="0">
              <a:buNone/>
            </a:pPr>
            <a:r>
              <a:rPr lang="en-US" sz="1000" b="1" dirty="0">
                <a:solidFill>
                  <a:srgbClr val="00D4FF"/>
                </a:solidFill>
              </a:rPr>
              <a:t>Khulud Alshammari</a:t>
            </a:r>
            <a:endParaRPr lang="en-US" sz="1000" dirty="0"/>
          </a:p>
        </p:txBody>
      </p:sp>
      <p:sp>
        <p:nvSpPr>
          <p:cNvPr id="54" name="Shape 51"/>
          <p:cNvSpPr/>
          <p:nvPr/>
        </p:nvSpPr>
        <p:spPr>
          <a:xfrm>
            <a:off x="5303520" y="4279392"/>
            <a:ext cx="0" cy="658368"/>
          </a:xfrm>
          <a:prstGeom prst="line">
            <a:avLst/>
          </a:prstGeom>
          <a:noFill/>
          <a:ln w="6350">
            <a:solidFill>
              <a:srgbClr val="1A1A28"/>
            </a:solidFill>
            <a:prstDash val="solid"/>
          </a:ln>
        </p:spPr>
        <p:txBody>
          <a:bodyPr/>
          <a:lstStyle/>
          <a:p>
            <a:endParaRPr lang="en-US"/>
          </a:p>
        </p:txBody>
      </p:sp>
      <p:sp>
        <p:nvSpPr>
          <p:cNvPr id="55" name="Text 52"/>
          <p:cNvSpPr/>
          <p:nvPr/>
        </p:nvSpPr>
        <p:spPr>
          <a:xfrm>
            <a:off x="5486400" y="4261104"/>
            <a:ext cx="1828800" cy="228600"/>
          </a:xfrm>
          <a:prstGeom prst="rect">
            <a:avLst/>
          </a:prstGeom>
          <a:noFill/>
          <a:ln/>
        </p:spPr>
        <p:txBody>
          <a:bodyPr wrap="square" rtlCol="0" anchor="ctr"/>
          <a:lstStyle/>
          <a:p>
            <a:pPr marL="0" indent="0">
              <a:buNone/>
            </a:pPr>
            <a:r>
              <a:rPr lang="en-US" sz="750" kern="0" spc="100" dirty="0">
                <a:solidFill>
                  <a:srgbClr val="6060A0"/>
                </a:solidFill>
              </a:rPr>
              <a:t>Teaching Assistant</a:t>
            </a:r>
            <a:endParaRPr lang="en-US" sz="750" dirty="0"/>
          </a:p>
        </p:txBody>
      </p:sp>
      <p:sp>
        <p:nvSpPr>
          <p:cNvPr id="56" name="Text 53"/>
          <p:cNvSpPr/>
          <p:nvPr/>
        </p:nvSpPr>
        <p:spPr>
          <a:xfrm>
            <a:off x="5486400" y="4462272"/>
            <a:ext cx="1828800" cy="292608"/>
          </a:xfrm>
          <a:prstGeom prst="rect">
            <a:avLst/>
          </a:prstGeom>
          <a:noFill/>
          <a:ln/>
        </p:spPr>
        <p:txBody>
          <a:bodyPr wrap="square" rtlCol="0" anchor="ctr"/>
          <a:lstStyle/>
          <a:p>
            <a:pPr marL="0" indent="0">
              <a:buNone/>
            </a:pPr>
            <a:r>
              <a:rPr lang="en-US" sz="1000" b="1" dirty="0">
                <a:solidFill>
                  <a:srgbClr val="4ADE80"/>
                </a:solidFill>
              </a:rPr>
              <a:t>Abdullah Alharbi</a:t>
            </a:r>
            <a:endParaRPr lang="en-US" sz="1000" dirty="0"/>
          </a:p>
        </p:txBody>
      </p:sp>
      <p:sp>
        <p:nvSpPr>
          <p:cNvPr id="57" name="Text 54"/>
          <p:cNvSpPr/>
          <p:nvPr/>
        </p:nvSpPr>
        <p:spPr>
          <a:xfrm>
            <a:off x="274320" y="4919472"/>
            <a:ext cx="8686800" cy="201168"/>
          </a:xfrm>
          <a:prstGeom prst="rect">
            <a:avLst/>
          </a:prstGeom>
          <a:noFill/>
          <a:ln/>
        </p:spPr>
        <p:txBody>
          <a:bodyPr wrap="square" rtlCol="0" anchor="ctr"/>
          <a:lstStyle/>
          <a:p>
            <a:pPr marL="0" indent="0" algn="l">
              <a:buNone/>
            </a:pPr>
            <a:r>
              <a:rPr lang="en-US" sz="700" dirty="0">
                <a:solidFill>
                  <a:srgbClr val="2A2A40"/>
                </a:solidFill>
              </a:rPr>
              <a:t>Tuwaiq Academy  ·  Unit 3 Final Project  ·  Dataset: mohammedaldakhil/27k-riyadh-places-raw</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Dataset Overview</a:t>
            </a:r>
            <a:endParaRPr lang="en-US" sz="2600" dirty="0"/>
          </a:p>
        </p:txBody>
      </p:sp>
      <p:sp>
        <p:nvSpPr>
          <p:cNvPr id="4" name="Shape 2"/>
          <p:cNvSpPr/>
          <p:nvPr/>
        </p:nvSpPr>
        <p:spPr>
          <a:xfrm>
            <a:off x="228600" y="868680"/>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5" name="Text 3"/>
          <p:cNvSpPr/>
          <p:nvPr/>
        </p:nvSpPr>
        <p:spPr>
          <a:xfrm>
            <a:off x="228600" y="868680"/>
            <a:ext cx="1828800" cy="228600"/>
          </a:xfrm>
          <a:prstGeom prst="rect">
            <a:avLst/>
          </a:prstGeom>
          <a:noFill/>
          <a:ln/>
        </p:spPr>
        <p:txBody>
          <a:bodyPr wrap="square" rtlCol="0" anchor="ctr"/>
          <a:lstStyle/>
          <a:p>
            <a:pPr marL="0" indent="0" algn="ctr">
              <a:buNone/>
            </a:pPr>
            <a:r>
              <a:rPr lang="en-US" sz="800" b="1" kern="0" spc="200" dirty="0">
                <a:solidFill>
                  <a:srgbClr val="FF6B35"/>
                </a:solidFill>
              </a:rPr>
              <a:t>SOURCE &amp; SCOPE</a:t>
            </a:r>
            <a:endParaRPr lang="en-US" sz="800" dirty="0"/>
          </a:p>
        </p:txBody>
      </p:sp>
      <p:sp>
        <p:nvSpPr>
          <p:cNvPr id="6" name="Shape 4"/>
          <p:cNvSpPr/>
          <p:nvPr/>
        </p:nvSpPr>
        <p:spPr>
          <a:xfrm>
            <a:off x="228600" y="1188720"/>
            <a:ext cx="3931920" cy="457200"/>
          </a:xfrm>
          <a:prstGeom prst="rect">
            <a:avLst/>
          </a:prstGeom>
          <a:solidFill>
            <a:srgbClr val="12121E"/>
          </a:solidFill>
          <a:ln w="6350">
            <a:solidFill>
              <a:srgbClr val="1A1A28"/>
            </a:solidFill>
            <a:prstDash val="solid"/>
          </a:ln>
        </p:spPr>
        <p:txBody>
          <a:bodyPr/>
          <a:lstStyle/>
          <a:p>
            <a:endParaRPr lang="en-US"/>
          </a:p>
        </p:txBody>
      </p:sp>
      <p:sp>
        <p:nvSpPr>
          <p:cNvPr id="7" name="Text 5"/>
          <p:cNvSpPr/>
          <p:nvPr/>
        </p:nvSpPr>
        <p:spPr>
          <a:xfrm>
            <a:off x="320040" y="1188720"/>
            <a:ext cx="1097280" cy="457200"/>
          </a:xfrm>
          <a:prstGeom prst="rect">
            <a:avLst/>
          </a:prstGeom>
          <a:noFill/>
          <a:ln/>
        </p:spPr>
        <p:txBody>
          <a:bodyPr wrap="square" rtlCol="0" anchor="ctr"/>
          <a:lstStyle/>
          <a:p>
            <a:pPr marL="0" indent="0">
              <a:buNone/>
            </a:pPr>
            <a:r>
              <a:rPr lang="en-US" sz="900" b="1" dirty="0">
                <a:solidFill>
                  <a:srgbClr val="FF6B35"/>
                </a:solidFill>
              </a:rPr>
              <a:t>📦 Source</a:t>
            </a:r>
            <a:endParaRPr lang="en-US" sz="900" dirty="0"/>
          </a:p>
        </p:txBody>
      </p:sp>
      <p:sp>
        <p:nvSpPr>
          <p:cNvPr id="8" name="Text 6"/>
          <p:cNvSpPr/>
          <p:nvPr/>
        </p:nvSpPr>
        <p:spPr>
          <a:xfrm>
            <a:off x="1371600" y="1188720"/>
            <a:ext cx="2743200" cy="457200"/>
          </a:xfrm>
          <a:prstGeom prst="rect">
            <a:avLst/>
          </a:prstGeom>
          <a:noFill/>
          <a:ln/>
        </p:spPr>
        <p:txBody>
          <a:bodyPr wrap="square" rtlCol="0" anchor="ctr"/>
          <a:lstStyle/>
          <a:p>
            <a:pPr marL="0" indent="0">
              <a:buNone/>
            </a:pPr>
            <a:r>
              <a:rPr lang="en-US" sz="900" dirty="0">
                <a:solidFill>
                  <a:srgbClr val="E8E8FF"/>
                </a:solidFill>
              </a:rPr>
              <a:t>Kaggle — mohammedaldakhil/27k-riyadh-places-raw</a:t>
            </a:r>
            <a:endParaRPr lang="en-US" sz="900" dirty="0"/>
          </a:p>
        </p:txBody>
      </p:sp>
      <p:sp>
        <p:nvSpPr>
          <p:cNvPr id="9" name="Shape 7"/>
          <p:cNvSpPr/>
          <p:nvPr/>
        </p:nvSpPr>
        <p:spPr>
          <a:xfrm>
            <a:off x="228600" y="1737360"/>
            <a:ext cx="3931920" cy="457200"/>
          </a:xfrm>
          <a:prstGeom prst="rect">
            <a:avLst/>
          </a:prstGeom>
          <a:solidFill>
            <a:srgbClr val="12121E"/>
          </a:solidFill>
          <a:ln w="6350">
            <a:solidFill>
              <a:srgbClr val="1A1A28"/>
            </a:solidFill>
            <a:prstDash val="solid"/>
          </a:ln>
        </p:spPr>
        <p:txBody>
          <a:bodyPr/>
          <a:lstStyle/>
          <a:p>
            <a:endParaRPr lang="en-US"/>
          </a:p>
        </p:txBody>
      </p:sp>
      <p:sp>
        <p:nvSpPr>
          <p:cNvPr id="10" name="Text 8"/>
          <p:cNvSpPr/>
          <p:nvPr/>
        </p:nvSpPr>
        <p:spPr>
          <a:xfrm>
            <a:off x="320040" y="1737360"/>
            <a:ext cx="1097280" cy="457200"/>
          </a:xfrm>
          <a:prstGeom prst="rect">
            <a:avLst/>
          </a:prstGeom>
          <a:noFill/>
          <a:ln/>
        </p:spPr>
        <p:txBody>
          <a:bodyPr wrap="square" rtlCol="0" anchor="ctr"/>
          <a:lstStyle/>
          <a:p>
            <a:pPr marL="0" indent="0">
              <a:buNone/>
            </a:pPr>
            <a:r>
              <a:rPr lang="en-US" sz="900" b="1" dirty="0">
                <a:solidFill>
                  <a:srgbClr val="FF6B35"/>
                </a:solidFill>
              </a:rPr>
              <a:t>🗃 Raw Size</a:t>
            </a:r>
            <a:endParaRPr lang="en-US" sz="900" dirty="0"/>
          </a:p>
        </p:txBody>
      </p:sp>
      <p:sp>
        <p:nvSpPr>
          <p:cNvPr id="11" name="Text 9"/>
          <p:cNvSpPr/>
          <p:nvPr/>
        </p:nvSpPr>
        <p:spPr>
          <a:xfrm>
            <a:off x="1371600" y="1737360"/>
            <a:ext cx="2743200" cy="457200"/>
          </a:xfrm>
          <a:prstGeom prst="rect">
            <a:avLst/>
          </a:prstGeom>
          <a:noFill/>
          <a:ln/>
        </p:spPr>
        <p:txBody>
          <a:bodyPr wrap="square" rtlCol="0" anchor="ctr"/>
          <a:lstStyle/>
          <a:p>
            <a:pPr marL="0" indent="0">
              <a:buNone/>
            </a:pPr>
            <a:r>
              <a:rPr lang="en-US" sz="900" dirty="0">
                <a:solidFill>
                  <a:srgbClr val="E8E8FF"/>
                </a:solidFill>
              </a:rPr>
              <a:t>27,000+ Riyadh places (all categories)</a:t>
            </a:r>
            <a:endParaRPr lang="en-US" sz="900" dirty="0"/>
          </a:p>
        </p:txBody>
      </p:sp>
      <p:sp>
        <p:nvSpPr>
          <p:cNvPr id="12" name="Shape 10"/>
          <p:cNvSpPr/>
          <p:nvPr/>
        </p:nvSpPr>
        <p:spPr>
          <a:xfrm>
            <a:off x="228600" y="2286000"/>
            <a:ext cx="3931920" cy="457200"/>
          </a:xfrm>
          <a:prstGeom prst="rect">
            <a:avLst/>
          </a:prstGeom>
          <a:solidFill>
            <a:srgbClr val="12121E"/>
          </a:solidFill>
          <a:ln w="6350">
            <a:solidFill>
              <a:srgbClr val="1A1A28"/>
            </a:solidFill>
            <a:prstDash val="solid"/>
          </a:ln>
        </p:spPr>
        <p:txBody>
          <a:bodyPr/>
          <a:lstStyle/>
          <a:p>
            <a:endParaRPr lang="en-US"/>
          </a:p>
        </p:txBody>
      </p:sp>
      <p:sp>
        <p:nvSpPr>
          <p:cNvPr id="13" name="Text 11"/>
          <p:cNvSpPr/>
          <p:nvPr/>
        </p:nvSpPr>
        <p:spPr>
          <a:xfrm>
            <a:off x="320040" y="2286000"/>
            <a:ext cx="1097280" cy="457200"/>
          </a:xfrm>
          <a:prstGeom prst="rect">
            <a:avLst/>
          </a:prstGeom>
          <a:noFill/>
          <a:ln/>
        </p:spPr>
        <p:txBody>
          <a:bodyPr wrap="square" rtlCol="0" anchor="ctr"/>
          <a:lstStyle/>
          <a:p>
            <a:pPr marL="0" indent="0">
              <a:buNone/>
            </a:pPr>
            <a:r>
              <a:rPr lang="en-US" sz="900" b="1" dirty="0">
                <a:solidFill>
                  <a:srgbClr val="FF6B35"/>
                </a:solidFill>
              </a:rPr>
              <a:t>🍽 Filtered</a:t>
            </a:r>
            <a:endParaRPr lang="en-US" sz="900" dirty="0"/>
          </a:p>
        </p:txBody>
      </p:sp>
      <p:sp>
        <p:nvSpPr>
          <p:cNvPr id="14" name="Text 12"/>
          <p:cNvSpPr/>
          <p:nvPr/>
        </p:nvSpPr>
        <p:spPr>
          <a:xfrm>
            <a:off x="1371600" y="2286000"/>
            <a:ext cx="2743200" cy="457200"/>
          </a:xfrm>
          <a:prstGeom prst="rect">
            <a:avLst/>
          </a:prstGeom>
          <a:noFill/>
          <a:ln/>
        </p:spPr>
        <p:txBody>
          <a:bodyPr wrap="square" rtlCol="0" anchor="ctr"/>
          <a:lstStyle/>
          <a:p>
            <a:pPr marL="0" indent="0">
              <a:buNone/>
            </a:pPr>
            <a:r>
              <a:rPr lang="en-US" sz="900" dirty="0">
                <a:solidFill>
                  <a:srgbClr val="E8E8FF"/>
                </a:solidFill>
              </a:rPr>
              <a:t>11,187 food &amp; dining venues</a:t>
            </a:r>
            <a:endParaRPr lang="en-US" sz="900" dirty="0"/>
          </a:p>
        </p:txBody>
      </p:sp>
      <p:sp>
        <p:nvSpPr>
          <p:cNvPr id="15" name="Shape 13"/>
          <p:cNvSpPr/>
          <p:nvPr/>
        </p:nvSpPr>
        <p:spPr>
          <a:xfrm>
            <a:off x="228600" y="2834640"/>
            <a:ext cx="3931920" cy="457200"/>
          </a:xfrm>
          <a:prstGeom prst="rect">
            <a:avLst/>
          </a:prstGeom>
          <a:solidFill>
            <a:srgbClr val="12121E"/>
          </a:solidFill>
          <a:ln w="6350">
            <a:solidFill>
              <a:srgbClr val="1A1A28"/>
            </a:solidFill>
            <a:prstDash val="solid"/>
          </a:ln>
        </p:spPr>
        <p:txBody>
          <a:bodyPr/>
          <a:lstStyle/>
          <a:p>
            <a:endParaRPr lang="en-US"/>
          </a:p>
        </p:txBody>
      </p:sp>
      <p:sp>
        <p:nvSpPr>
          <p:cNvPr id="16" name="Text 14"/>
          <p:cNvSpPr/>
          <p:nvPr/>
        </p:nvSpPr>
        <p:spPr>
          <a:xfrm>
            <a:off x="320040" y="2834640"/>
            <a:ext cx="1097280" cy="457200"/>
          </a:xfrm>
          <a:prstGeom prst="rect">
            <a:avLst/>
          </a:prstGeom>
          <a:noFill/>
          <a:ln/>
        </p:spPr>
        <p:txBody>
          <a:bodyPr wrap="square" rtlCol="0" anchor="ctr"/>
          <a:lstStyle/>
          <a:p>
            <a:pPr marL="0" indent="0">
              <a:buNone/>
            </a:pPr>
            <a:r>
              <a:rPr lang="en-US" sz="900" b="1" dirty="0">
                <a:solidFill>
                  <a:srgbClr val="FF6B35"/>
                </a:solidFill>
              </a:rPr>
              <a:t>📍 Location</a:t>
            </a:r>
            <a:endParaRPr lang="en-US" sz="900" dirty="0"/>
          </a:p>
        </p:txBody>
      </p:sp>
      <p:sp>
        <p:nvSpPr>
          <p:cNvPr id="17" name="Text 15"/>
          <p:cNvSpPr/>
          <p:nvPr/>
        </p:nvSpPr>
        <p:spPr>
          <a:xfrm>
            <a:off x="1371600" y="2834640"/>
            <a:ext cx="2743200" cy="457200"/>
          </a:xfrm>
          <a:prstGeom prst="rect">
            <a:avLst/>
          </a:prstGeom>
          <a:noFill/>
          <a:ln/>
        </p:spPr>
        <p:txBody>
          <a:bodyPr wrap="square" rtlCol="0" anchor="ctr"/>
          <a:lstStyle/>
          <a:p>
            <a:pPr marL="0" indent="0">
              <a:buNone/>
            </a:pPr>
            <a:r>
              <a:rPr lang="en-US" sz="900" dirty="0">
                <a:solidFill>
                  <a:srgbClr val="E8E8FF"/>
                </a:solidFill>
              </a:rPr>
              <a:t>Riyadh, Saudi Arabia</a:t>
            </a:r>
            <a:endParaRPr lang="en-US" sz="900" dirty="0"/>
          </a:p>
        </p:txBody>
      </p:sp>
      <p:sp>
        <p:nvSpPr>
          <p:cNvPr id="18" name="Shape 16"/>
          <p:cNvSpPr/>
          <p:nvPr/>
        </p:nvSpPr>
        <p:spPr>
          <a:xfrm>
            <a:off x="228600" y="3383280"/>
            <a:ext cx="3931920" cy="457200"/>
          </a:xfrm>
          <a:prstGeom prst="rect">
            <a:avLst/>
          </a:prstGeom>
          <a:solidFill>
            <a:srgbClr val="12121E"/>
          </a:solidFill>
          <a:ln w="6350">
            <a:solidFill>
              <a:srgbClr val="1A1A28"/>
            </a:solidFill>
            <a:prstDash val="solid"/>
          </a:ln>
        </p:spPr>
        <p:txBody>
          <a:bodyPr/>
          <a:lstStyle/>
          <a:p>
            <a:endParaRPr lang="en-US"/>
          </a:p>
        </p:txBody>
      </p:sp>
      <p:sp>
        <p:nvSpPr>
          <p:cNvPr id="19" name="Text 17"/>
          <p:cNvSpPr/>
          <p:nvPr/>
        </p:nvSpPr>
        <p:spPr>
          <a:xfrm>
            <a:off x="320040" y="3383280"/>
            <a:ext cx="1097280" cy="457200"/>
          </a:xfrm>
          <a:prstGeom prst="rect">
            <a:avLst/>
          </a:prstGeom>
          <a:noFill/>
          <a:ln/>
        </p:spPr>
        <p:txBody>
          <a:bodyPr wrap="square" rtlCol="0" anchor="ctr"/>
          <a:lstStyle/>
          <a:p>
            <a:pPr marL="0" indent="0">
              <a:buNone/>
            </a:pPr>
            <a:r>
              <a:rPr lang="en-US" sz="900" b="1" dirty="0">
                <a:solidFill>
                  <a:srgbClr val="FF6B35"/>
                </a:solidFill>
              </a:rPr>
              <a:t>🔑 Identifier</a:t>
            </a:r>
            <a:endParaRPr lang="en-US" sz="900" dirty="0"/>
          </a:p>
        </p:txBody>
      </p:sp>
      <p:sp>
        <p:nvSpPr>
          <p:cNvPr id="20" name="Text 18"/>
          <p:cNvSpPr/>
          <p:nvPr/>
        </p:nvSpPr>
        <p:spPr>
          <a:xfrm>
            <a:off x="1371600" y="3383280"/>
            <a:ext cx="2743200" cy="457200"/>
          </a:xfrm>
          <a:prstGeom prst="rect">
            <a:avLst/>
          </a:prstGeom>
          <a:noFill/>
          <a:ln/>
        </p:spPr>
        <p:txBody>
          <a:bodyPr wrap="square" rtlCol="0" anchor="ctr"/>
          <a:lstStyle/>
          <a:p>
            <a:pPr marL="0" indent="0">
              <a:buNone/>
            </a:pPr>
            <a:r>
              <a:rPr lang="en-US" sz="900" dirty="0">
                <a:solidFill>
                  <a:srgbClr val="E8E8FF"/>
                </a:solidFill>
              </a:rPr>
              <a:t>fsq_id (Foursquare unique ID)</a:t>
            </a:r>
            <a:endParaRPr lang="en-US" sz="900" dirty="0"/>
          </a:p>
        </p:txBody>
      </p:sp>
      <p:sp>
        <p:nvSpPr>
          <p:cNvPr id="21" name="Shape 19"/>
          <p:cNvSpPr/>
          <p:nvPr/>
        </p:nvSpPr>
        <p:spPr>
          <a:xfrm>
            <a:off x="228600" y="3931920"/>
            <a:ext cx="3931920" cy="457200"/>
          </a:xfrm>
          <a:prstGeom prst="rect">
            <a:avLst/>
          </a:prstGeom>
          <a:solidFill>
            <a:srgbClr val="12121E"/>
          </a:solidFill>
          <a:ln w="6350">
            <a:solidFill>
              <a:srgbClr val="1A1A28"/>
            </a:solidFill>
            <a:prstDash val="solid"/>
          </a:ln>
        </p:spPr>
        <p:txBody>
          <a:bodyPr/>
          <a:lstStyle/>
          <a:p>
            <a:endParaRPr lang="en-US"/>
          </a:p>
        </p:txBody>
      </p:sp>
      <p:sp>
        <p:nvSpPr>
          <p:cNvPr id="22" name="Text 20"/>
          <p:cNvSpPr/>
          <p:nvPr/>
        </p:nvSpPr>
        <p:spPr>
          <a:xfrm>
            <a:off x="320040" y="3931920"/>
            <a:ext cx="1097280" cy="457200"/>
          </a:xfrm>
          <a:prstGeom prst="rect">
            <a:avLst/>
          </a:prstGeom>
          <a:noFill/>
          <a:ln/>
        </p:spPr>
        <p:txBody>
          <a:bodyPr wrap="square" rtlCol="0" anchor="ctr"/>
          <a:lstStyle/>
          <a:p>
            <a:pPr marL="0" indent="0">
              <a:buNone/>
            </a:pPr>
            <a:r>
              <a:rPr lang="en-US" sz="900" b="1" dirty="0">
                <a:solidFill>
                  <a:srgbClr val="FF6B35"/>
                </a:solidFill>
              </a:rPr>
              <a:t>📅 Collected</a:t>
            </a:r>
            <a:endParaRPr lang="en-US" sz="900" dirty="0"/>
          </a:p>
        </p:txBody>
      </p:sp>
      <p:sp>
        <p:nvSpPr>
          <p:cNvPr id="23" name="Text 21"/>
          <p:cNvSpPr/>
          <p:nvPr/>
        </p:nvSpPr>
        <p:spPr>
          <a:xfrm>
            <a:off x="1371600" y="3931920"/>
            <a:ext cx="2743200" cy="457200"/>
          </a:xfrm>
          <a:prstGeom prst="rect">
            <a:avLst/>
          </a:prstGeom>
          <a:noFill/>
          <a:ln/>
        </p:spPr>
        <p:txBody>
          <a:bodyPr wrap="square" rtlCol="0" anchor="ctr"/>
          <a:lstStyle/>
          <a:p>
            <a:pPr marL="0" indent="0">
              <a:buNone/>
            </a:pPr>
            <a:r>
              <a:rPr lang="en-US" sz="900" dirty="0">
                <a:solidFill>
                  <a:srgbClr val="E8E8FF"/>
                </a:solidFill>
              </a:rPr>
              <a:t>Foursquare API — date_created field</a:t>
            </a:r>
            <a:endParaRPr lang="en-US" sz="900" dirty="0"/>
          </a:p>
        </p:txBody>
      </p:sp>
      <p:sp>
        <p:nvSpPr>
          <p:cNvPr id="24" name="Shape 22"/>
          <p:cNvSpPr/>
          <p:nvPr/>
        </p:nvSpPr>
        <p:spPr>
          <a:xfrm>
            <a:off x="4343400" y="868680"/>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25" name="Text 23"/>
          <p:cNvSpPr/>
          <p:nvPr/>
        </p:nvSpPr>
        <p:spPr>
          <a:xfrm>
            <a:off x="4343400" y="868680"/>
            <a:ext cx="1828800" cy="228600"/>
          </a:xfrm>
          <a:prstGeom prst="rect">
            <a:avLst/>
          </a:prstGeom>
          <a:noFill/>
          <a:ln/>
        </p:spPr>
        <p:txBody>
          <a:bodyPr wrap="square" rtlCol="0" anchor="ctr"/>
          <a:lstStyle/>
          <a:p>
            <a:pPr marL="0" indent="0" algn="ctr">
              <a:buNone/>
            </a:pPr>
            <a:r>
              <a:rPr lang="en-US" sz="800" b="1" kern="0" spc="200" dirty="0">
                <a:solidFill>
                  <a:srgbClr val="FF6B35"/>
                </a:solidFill>
              </a:rPr>
              <a:t>KEY COLUMNS</a:t>
            </a:r>
            <a:endParaRPr lang="en-US" sz="800" dirty="0"/>
          </a:p>
        </p:txBody>
      </p:sp>
      <p:sp>
        <p:nvSpPr>
          <p:cNvPr id="26" name="Shape 24"/>
          <p:cNvSpPr/>
          <p:nvPr/>
        </p:nvSpPr>
        <p:spPr>
          <a:xfrm>
            <a:off x="4343400" y="1188720"/>
            <a:ext cx="4480560" cy="320040"/>
          </a:xfrm>
          <a:prstGeom prst="rect">
            <a:avLst/>
          </a:prstGeom>
          <a:solidFill>
            <a:srgbClr val="12121E"/>
          </a:solidFill>
          <a:ln w="3810">
            <a:solidFill>
              <a:srgbClr val="1A1A28"/>
            </a:solidFill>
            <a:prstDash val="solid"/>
          </a:ln>
        </p:spPr>
        <p:txBody>
          <a:bodyPr/>
          <a:lstStyle/>
          <a:p>
            <a:endParaRPr lang="en-US"/>
          </a:p>
        </p:txBody>
      </p:sp>
      <p:sp>
        <p:nvSpPr>
          <p:cNvPr id="27" name="Text 25"/>
          <p:cNvSpPr/>
          <p:nvPr/>
        </p:nvSpPr>
        <p:spPr>
          <a:xfrm>
            <a:off x="4434840" y="1188720"/>
            <a:ext cx="1828800" cy="320040"/>
          </a:xfrm>
          <a:prstGeom prst="rect">
            <a:avLst/>
          </a:prstGeom>
          <a:noFill/>
          <a:ln/>
        </p:spPr>
        <p:txBody>
          <a:bodyPr wrap="square" rtlCol="0" anchor="ctr"/>
          <a:lstStyle/>
          <a:p>
            <a:pPr marL="0" indent="0">
              <a:buNone/>
            </a:pPr>
            <a:r>
              <a:rPr lang="en-US" sz="850" dirty="0">
                <a:solidFill>
                  <a:srgbClr val="00D4FF"/>
                </a:solidFill>
                <a:latin typeface="Consolas" pitchFamily="34" charset="0"/>
                <a:ea typeface="Consolas" pitchFamily="34" charset="-122"/>
                <a:cs typeface="Consolas" pitchFamily="34" charset="-120"/>
              </a:rPr>
              <a:t>name</a:t>
            </a:r>
            <a:endParaRPr lang="en-US" sz="850" dirty="0"/>
          </a:p>
        </p:txBody>
      </p:sp>
      <p:sp>
        <p:nvSpPr>
          <p:cNvPr id="28" name="Text 26"/>
          <p:cNvSpPr/>
          <p:nvPr/>
        </p:nvSpPr>
        <p:spPr>
          <a:xfrm>
            <a:off x="6309360" y="1188720"/>
            <a:ext cx="2377440" cy="320040"/>
          </a:xfrm>
          <a:prstGeom prst="rect">
            <a:avLst/>
          </a:prstGeom>
          <a:noFill/>
          <a:ln/>
        </p:spPr>
        <p:txBody>
          <a:bodyPr wrap="square" rtlCol="0" anchor="ctr"/>
          <a:lstStyle/>
          <a:p>
            <a:pPr marL="0" indent="0">
              <a:buNone/>
            </a:pPr>
            <a:r>
              <a:rPr lang="en-US" sz="800" dirty="0">
                <a:solidFill>
                  <a:srgbClr val="6060A0"/>
                </a:solidFill>
              </a:rPr>
              <a:t>Venue display name</a:t>
            </a:r>
            <a:endParaRPr lang="en-US" sz="800" dirty="0"/>
          </a:p>
        </p:txBody>
      </p:sp>
      <p:sp>
        <p:nvSpPr>
          <p:cNvPr id="29" name="Shape 27"/>
          <p:cNvSpPr/>
          <p:nvPr/>
        </p:nvSpPr>
        <p:spPr>
          <a:xfrm>
            <a:off x="4343400" y="1545336"/>
            <a:ext cx="4480560" cy="320040"/>
          </a:xfrm>
          <a:prstGeom prst="rect">
            <a:avLst/>
          </a:prstGeom>
          <a:solidFill>
            <a:srgbClr val="0F0F1E"/>
          </a:solidFill>
          <a:ln w="3810">
            <a:solidFill>
              <a:srgbClr val="1A1A28"/>
            </a:solidFill>
            <a:prstDash val="solid"/>
          </a:ln>
        </p:spPr>
        <p:txBody>
          <a:bodyPr/>
          <a:lstStyle/>
          <a:p>
            <a:endParaRPr lang="en-US"/>
          </a:p>
        </p:txBody>
      </p:sp>
      <p:sp>
        <p:nvSpPr>
          <p:cNvPr id="30" name="Text 28"/>
          <p:cNvSpPr/>
          <p:nvPr/>
        </p:nvSpPr>
        <p:spPr>
          <a:xfrm>
            <a:off x="4434840" y="1545336"/>
            <a:ext cx="1828800" cy="320040"/>
          </a:xfrm>
          <a:prstGeom prst="rect">
            <a:avLst/>
          </a:prstGeom>
          <a:noFill/>
          <a:ln/>
        </p:spPr>
        <p:txBody>
          <a:bodyPr wrap="square" rtlCol="0" anchor="ctr"/>
          <a:lstStyle/>
          <a:p>
            <a:pPr marL="0" indent="0">
              <a:buNone/>
            </a:pPr>
            <a:r>
              <a:rPr lang="en-US" sz="850" dirty="0">
                <a:solidFill>
                  <a:srgbClr val="00D4FF"/>
                </a:solidFill>
                <a:latin typeface="Consolas" pitchFamily="34" charset="0"/>
                <a:ea typeface="Consolas" pitchFamily="34" charset="-122"/>
                <a:cs typeface="Consolas" pitchFamily="34" charset="-120"/>
              </a:rPr>
              <a:t>category</a:t>
            </a:r>
            <a:endParaRPr lang="en-US" sz="850" dirty="0"/>
          </a:p>
        </p:txBody>
      </p:sp>
      <p:sp>
        <p:nvSpPr>
          <p:cNvPr id="31" name="Text 29"/>
          <p:cNvSpPr/>
          <p:nvPr/>
        </p:nvSpPr>
        <p:spPr>
          <a:xfrm>
            <a:off x="6309360" y="1545336"/>
            <a:ext cx="2377440" cy="320040"/>
          </a:xfrm>
          <a:prstGeom prst="rect">
            <a:avLst/>
          </a:prstGeom>
          <a:noFill/>
          <a:ln/>
        </p:spPr>
        <p:txBody>
          <a:bodyPr wrap="square" rtlCol="0" anchor="ctr"/>
          <a:lstStyle/>
          <a:p>
            <a:pPr marL="0" indent="0">
              <a:buNone/>
            </a:pPr>
            <a:r>
              <a:rPr lang="en-US" sz="800" dirty="0">
                <a:solidFill>
                  <a:srgbClr val="6060A0"/>
                </a:solidFill>
              </a:rPr>
              <a:t>Type of food venue</a:t>
            </a:r>
            <a:endParaRPr lang="en-US" sz="800" dirty="0"/>
          </a:p>
        </p:txBody>
      </p:sp>
      <p:sp>
        <p:nvSpPr>
          <p:cNvPr id="32" name="Shape 30"/>
          <p:cNvSpPr/>
          <p:nvPr/>
        </p:nvSpPr>
        <p:spPr>
          <a:xfrm>
            <a:off x="4343400" y="1901952"/>
            <a:ext cx="4480560" cy="320040"/>
          </a:xfrm>
          <a:prstGeom prst="rect">
            <a:avLst/>
          </a:prstGeom>
          <a:solidFill>
            <a:srgbClr val="12121E"/>
          </a:solidFill>
          <a:ln w="3810">
            <a:solidFill>
              <a:srgbClr val="1A1A28"/>
            </a:solidFill>
            <a:prstDash val="solid"/>
          </a:ln>
        </p:spPr>
        <p:txBody>
          <a:bodyPr/>
          <a:lstStyle/>
          <a:p>
            <a:endParaRPr lang="en-US"/>
          </a:p>
        </p:txBody>
      </p:sp>
      <p:sp>
        <p:nvSpPr>
          <p:cNvPr id="33" name="Text 31"/>
          <p:cNvSpPr/>
          <p:nvPr/>
        </p:nvSpPr>
        <p:spPr>
          <a:xfrm>
            <a:off x="4434840" y="1901952"/>
            <a:ext cx="1828800" cy="320040"/>
          </a:xfrm>
          <a:prstGeom prst="rect">
            <a:avLst/>
          </a:prstGeom>
          <a:noFill/>
          <a:ln/>
        </p:spPr>
        <p:txBody>
          <a:bodyPr wrap="square" rtlCol="0" anchor="ctr"/>
          <a:lstStyle/>
          <a:p>
            <a:pPr marL="0" indent="0">
              <a:buNone/>
            </a:pPr>
            <a:r>
              <a:rPr lang="en-US" sz="850" dirty="0">
                <a:solidFill>
                  <a:srgbClr val="00D4FF"/>
                </a:solidFill>
                <a:latin typeface="Consolas" pitchFamily="34" charset="0"/>
                <a:ea typeface="Consolas" pitchFamily="34" charset="-122"/>
                <a:cs typeface="Consolas" pitchFamily="34" charset="-120"/>
              </a:rPr>
              <a:t>latitude / longitude</a:t>
            </a:r>
            <a:endParaRPr lang="en-US" sz="850" dirty="0"/>
          </a:p>
        </p:txBody>
      </p:sp>
      <p:sp>
        <p:nvSpPr>
          <p:cNvPr id="34" name="Text 32"/>
          <p:cNvSpPr/>
          <p:nvPr/>
        </p:nvSpPr>
        <p:spPr>
          <a:xfrm>
            <a:off x="6309360" y="1901952"/>
            <a:ext cx="2377440" cy="320040"/>
          </a:xfrm>
          <a:prstGeom prst="rect">
            <a:avLst/>
          </a:prstGeom>
          <a:noFill/>
          <a:ln/>
        </p:spPr>
        <p:txBody>
          <a:bodyPr wrap="square" rtlCol="0" anchor="ctr"/>
          <a:lstStyle/>
          <a:p>
            <a:pPr marL="0" indent="0">
              <a:buNone/>
            </a:pPr>
            <a:r>
              <a:rPr lang="en-US" sz="800" dirty="0">
                <a:solidFill>
                  <a:srgbClr val="6060A0"/>
                </a:solidFill>
              </a:rPr>
              <a:t>GPS coordinates</a:t>
            </a:r>
            <a:endParaRPr lang="en-US" sz="800" dirty="0"/>
          </a:p>
        </p:txBody>
      </p:sp>
      <p:sp>
        <p:nvSpPr>
          <p:cNvPr id="35" name="Shape 33"/>
          <p:cNvSpPr/>
          <p:nvPr/>
        </p:nvSpPr>
        <p:spPr>
          <a:xfrm>
            <a:off x="4343400" y="2258568"/>
            <a:ext cx="4480560" cy="320040"/>
          </a:xfrm>
          <a:prstGeom prst="rect">
            <a:avLst/>
          </a:prstGeom>
          <a:solidFill>
            <a:srgbClr val="0F0F1E"/>
          </a:solidFill>
          <a:ln w="3810">
            <a:solidFill>
              <a:srgbClr val="1A1A28"/>
            </a:solidFill>
            <a:prstDash val="solid"/>
          </a:ln>
        </p:spPr>
        <p:txBody>
          <a:bodyPr/>
          <a:lstStyle/>
          <a:p>
            <a:endParaRPr lang="en-US"/>
          </a:p>
        </p:txBody>
      </p:sp>
      <p:sp>
        <p:nvSpPr>
          <p:cNvPr id="36" name="Text 34"/>
          <p:cNvSpPr/>
          <p:nvPr/>
        </p:nvSpPr>
        <p:spPr>
          <a:xfrm>
            <a:off x="4434840" y="2258568"/>
            <a:ext cx="1828800" cy="320040"/>
          </a:xfrm>
          <a:prstGeom prst="rect">
            <a:avLst/>
          </a:prstGeom>
          <a:noFill/>
          <a:ln/>
        </p:spPr>
        <p:txBody>
          <a:bodyPr wrap="square" rtlCol="0" anchor="ctr"/>
          <a:lstStyle/>
          <a:p>
            <a:pPr marL="0" indent="0">
              <a:buNone/>
            </a:pPr>
            <a:r>
              <a:rPr lang="en-US" sz="850" dirty="0">
                <a:solidFill>
                  <a:srgbClr val="00D4FF"/>
                </a:solidFill>
                <a:latin typeface="Consolas" pitchFamily="34" charset="0"/>
                <a:ea typeface="Consolas" pitchFamily="34" charset="-122"/>
                <a:cs typeface="Consolas" pitchFamily="34" charset="-120"/>
              </a:rPr>
              <a:t>rating</a:t>
            </a:r>
            <a:endParaRPr lang="en-US" sz="850" dirty="0"/>
          </a:p>
        </p:txBody>
      </p:sp>
      <p:sp>
        <p:nvSpPr>
          <p:cNvPr id="37" name="Text 35"/>
          <p:cNvSpPr/>
          <p:nvPr/>
        </p:nvSpPr>
        <p:spPr>
          <a:xfrm>
            <a:off x="6309360" y="2258568"/>
            <a:ext cx="2377440" cy="320040"/>
          </a:xfrm>
          <a:prstGeom prst="rect">
            <a:avLst/>
          </a:prstGeom>
          <a:noFill/>
          <a:ln/>
        </p:spPr>
        <p:txBody>
          <a:bodyPr wrap="square" rtlCol="0" anchor="ctr"/>
          <a:lstStyle/>
          <a:p>
            <a:pPr marL="0" indent="0">
              <a:buNone/>
            </a:pPr>
            <a:r>
              <a:rPr lang="en-US" sz="800" dirty="0">
                <a:solidFill>
                  <a:srgbClr val="6060A0"/>
                </a:solidFill>
              </a:rPr>
              <a:t>Foursquare score (0–10)</a:t>
            </a:r>
            <a:endParaRPr lang="en-US" sz="800" dirty="0"/>
          </a:p>
        </p:txBody>
      </p:sp>
      <p:sp>
        <p:nvSpPr>
          <p:cNvPr id="38" name="Shape 36"/>
          <p:cNvSpPr/>
          <p:nvPr/>
        </p:nvSpPr>
        <p:spPr>
          <a:xfrm>
            <a:off x="4343400" y="2615184"/>
            <a:ext cx="4480560" cy="320040"/>
          </a:xfrm>
          <a:prstGeom prst="rect">
            <a:avLst/>
          </a:prstGeom>
          <a:solidFill>
            <a:srgbClr val="12121E"/>
          </a:solidFill>
          <a:ln w="3810">
            <a:solidFill>
              <a:srgbClr val="1A1A28"/>
            </a:solidFill>
            <a:prstDash val="solid"/>
          </a:ln>
        </p:spPr>
        <p:txBody>
          <a:bodyPr/>
          <a:lstStyle/>
          <a:p>
            <a:endParaRPr lang="en-US"/>
          </a:p>
        </p:txBody>
      </p:sp>
      <p:sp>
        <p:nvSpPr>
          <p:cNvPr id="39" name="Text 37"/>
          <p:cNvSpPr/>
          <p:nvPr/>
        </p:nvSpPr>
        <p:spPr>
          <a:xfrm>
            <a:off x="4434840" y="2615184"/>
            <a:ext cx="1828800" cy="320040"/>
          </a:xfrm>
          <a:prstGeom prst="rect">
            <a:avLst/>
          </a:prstGeom>
          <a:noFill/>
          <a:ln/>
        </p:spPr>
        <p:txBody>
          <a:bodyPr wrap="square" rtlCol="0" anchor="ctr"/>
          <a:lstStyle/>
          <a:p>
            <a:pPr marL="0" indent="0">
              <a:buNone/>
            </a:pPr>
            <a:r>
              <a:rPr lang="en-US" sz="850" dirty="0">
                <a:solidFill>
                  <a:srgbClr val="00D4FF"/>
                </a:solidFill>
                <a:latin typeface="Consolas" pitchFamily="34" charset="0"/>
                <a:ea typeface="Consolas" pitchFamily="34" charset="-122"/>
                <a:cs typeface="Consolas" pitchFamily="34" charset="-120"/>
              </a:rPr>
              <a:t>price</a:t>
            </a:r>
            <a:endParaRPr lang="en-US" sz="850" dirty="0"/>
          </a:p>
        </p:txBody>
      </p:sp>
      <p:sp>
        <p:nvSpPr>
          <p:cNvPr id="40" name="Text 38"/>
          <p:cNvSpPr/>
          <p:nvPr/>
        </p:nvSpPr>
        <p:spPr>
          <a:xfrm>
            <a:off x="6309360" y="2615184"/>
            <a:ext cx="2377440" cy="320040"/>
          </a:xfrm>
          <a:prstGeom prst="rect">
            <a:avLst/>
          </a:prstGeom>
          <a:noFill/>
          <a:ln/>
        </p:spPr>
        <p:txBody>
          <a:bodyPr wrap="square" rtlCol="0" anchor="ctr"/>
          <a:lstStyle/>
          <a:p>
            <a:pPr marL="0" indent="0">
              <a:buNone/>
            </a:pPr>
            <a:r>
              <a:rPr lang="en-US" sz="800" dirty="0">
                <a:solidFill>
                  <a:srgbClr val="6060A0"/>
                </a:solidFill>
              </a:rPr>
              <a:t>Dollar signs: $, $$, $$$, $$$$</a:t>
            </a:r>
            <a:endParaRPr lang="en-US" sz="800" dirty="0"/>
          </a:p>
        </p:txBody>
      </p:sp>
      <p:sp>
        <p:nvSpPr>
          <p:cNvPr id="41" name="Shape 39"/>
          <p:cNvSpPr/>
          <p:nvPr/>
        </p:nvSpPr>
        <p:spPr>
          <a:xfrm>
            <a:off x="4343400" y="2971800"/>
            <a:ext cx="4480560" cy="320040"/>
          </a:xfrm>
          <a:prstGeom prst="rect">
            <a:avLst/>
          </a:prstGeom>
          <a:solidFill>
            <a:srgbClr val="0F0F1E"/>
          </a:solidFill>
          <a:ln w="3810">
            <a:solidFill>
              <a:srgbClr val="1A1A28"/>
            </a:solidFill>
            <a:prstDash val="solid"/>
          </a:ln>
        </p:spPr>
        <p:txBody>
          <a:bodyPr/>
          <a:lstStyle/>
          <a:p>
            <a:endParaRPr lang="en-US"/>
          </a:p>
        </p:txBody>
      </p:sp>
      <p:sp>
        <p:nvSpPr>
          <p:cNvPr id="42" name="Text 40"/>
          <p:cNvSpPr/>
          <p:nvPr/>
        </p:nvSpPr>
        <p:spPr>
          <a:xfrm>
            <a:off x="4434840" y="2971800"/>
            <a:ext cx="1828800" cy="320040"/>
          </a:xfrm>
          <a:prstGeom prst="rect">
            <a:avLst/>
          </a:prstGeom>
          <a:noFill/>
          <a:ln/>
        </p:spPr>
        <p:txBody>
          <a:bodyPr wrap="square" rtlCol="0" anchor="ctr"/>
          <a:lstStyle/>
          <a:p>
            <a:pPr marL="0" indent="0">
              <a:buNone/>
            </a:pPr>
            <a:r>
              <a:rPr lang="en-US" sz="850" dirty="0">
                <a:solidFill>
                  <a:srgbClr val="00D4FF"/>
                </a:solidFill>
                <a:latin typeface="Consolas" pitchFamily="34" charset="0"/>
                <a:ea typeface="Consolas" pitchFamily="34" charset="-122"/>
                <a:cs typeface="Consolas" pitchFamily="34" charset="-120"/>
              </a:rPr>
              <a:t>total_ratings</a:t>
            </a:r>
            <a:endParaRPr lang="en-US" sz="850" dirty="0"/>
          </a:p>
        </p:txBody>
      </p:sp>
      <p:sp>
        <p:nvSpPr>
          <p:cNvPr id="43" name="Text 41"/>
          <p:cNvSpPr/>
          <p:nvPr/>
        </p:nvSpPr>
        <p:spPr>
          <a:xfrm>
            <a:off x="6309360" y="2971800"/>
            <a:ext cx="2377440" cy="320040"/>
          </a:xfrm>
          <a:prstGeom prst="rect">
            <a:avLst/>
          </a:prstGeom>
          <a:noFill/>
          <a:ln/>
        </p:spPr>
        <p:txBody>
          <a:bodyPr wrap="square" rtlCol="0" anchor="ctr"/>
          <a:lstStyle/>
          <a:p>
            <a:pPr marL="0" indent="0">
              <a:buNone/>
            </a:pPr>
            <a:r>
              <a:rPr lang="en-US" sz="800" dirty="0">
                <a:solidFill>
                  <a:srgbClr val="6060A0"/>
                </a:solidFill>
              </a:rPr>
              <a:t>Number of user ratings</a:t>
            </a:r>
            <a:endParaRPr lang="en-US" sz="800" dirty="0"/>
          </a:p>
        </p:txBody>
      </p:sp>
      <p:sp>
        <p:nvSpPr>
          <p:cNvPr id="44" name="Shape 42"/>
          <p:cNvSpPr/>
          <p:nvPr/>
        </p:nvSpPr>
        <p:spPr>
          <a:xfrm>
            <a:off x="4343400" y="3328416"/>
            <a:ext cx="4480560" cy="320040"/>
          </a:xfrm>
          <a:prstGeom prst="rect">
            <a:avLst/>
          </a:prstGeom>
          <a:solidFill>
            <a:srgbClr val="12121E"/>
          </a:solidFill>
          <a:ln w="3810">
            <a:solidFill>
              <a:srgbClr val="1A1A28"/>
            </a:solidFill>
            <a:prstDash val="solid"/>
          </a:ln>
        </p:spPr>
        <p:txBody>
          <a:bodyPr/>
          <a:lstStyle/>
          <a:p>
            <a:endParaRPr lang="en-US"/>
          </a:p>
        </p:txBody>
      </p:sp>
      <p:sp>
        <p:nvSpPr>
          <p:cNvPr id="45" name="Text 43"/>
          <p:cNvSpPr/>
          <p:nvPr/>
        </p:nvSpPr>
        <p:spPr>
          <a:xfrm>
            <a:off x="4434840" y="3328416"/>
            <a:ext cx="1828800" cy="320040"/>
          </a:xfrm>
          <a:prstGeom prst="rect">
            <a:avLst/>
          </a:prstGeom>
          <a:noFill/>
          <a:ln/>
        </p:spPr>
        <p:txBody>
          <a:bodyPr wrap="square" rtlCol="0" anchor="ctr"/>
          <a:lstStyle/>
          <a:p>
            <a:pPr marL="0" indent="0">
              <a:buNone/>
            </a:pPr>
            <a:r>
              <a:rPr lang="en-US" sz="850" dirty="0">
                <a:solidFill>
                  <a:srgbClr val="00D4FF"/>
                </a:solidFill>
                <a:latin typeface="Consolas" pitchFamily="34" charset="0"/>
                <a:ea typeface="Consolas" pitchFamily="34" charset="-122"/>
                <a:cs typeface="Consolas" pitchFamily="34" charset="-120"/>
              </a:rPr>
              <a:t>total_photos</a:t>
            </a:r>
            <a:endParaRPr lang="en-US" sz="850" dirty="0"/>
          </a:p>
        </p:txBody>
      </p:sp>
      <p:sp>
        <p:nvSpPr>
          <p:cNvPr id="46" name="Text 44"/>
          <p:cNvSpPr/>
          <p:nvPr/>
        </p:nvSpPr>
        <p:spPr>
          <a:xfrm>
            <a:off x="6309360" y="3328416"/>
            <a:ext cx="2377440" cy="320040"/>
          </a:xfrm>
          <a:prstGeom prst="rect">
            <a:avLst/>
          </a:prstGeom>
          <a:noFill/>
          <a:ln/>
        </p:spPr>
        <p:txBody>
          <a:bodyPr wrap="square" rtlCol="0" anchor="ctr"/>
          <a:lstStyle/>
          <a:p>
            <a:pPr marL="0" indent="0">
              <a:buNone/>
            </a:pPr>
            <a:r>
              <a:rPr lang="en-US" sz="800" dirty="0">
                <a:solidFill>
                  <a:srgbClr val="6060A0"/>
                </a:solidFill>
              </a:rPr>
              <a:t>Photo count</a:t>
            </a:r>
            <a:endParaRPr lang="en-US" sz="800" dirty="0"/>
          </a:p>
        </p:txBody>
      </p:sp>
      <p:sp>
        <p:nvSpPr>
          <p:cNvPr id="47" name="Shape 45"/>
          <p:cNvSpPr/>
          <p:nvPr/>
        </p:nvSpPr>
        <p:spPr>
          <a:xfrm>
            <a:off x="4343400" y="3685032"/>
            <a:ext cx="4480560" cy="320040"/>
          </a:xfrm>
          <a:prstGeom prst="rect">
            <a:avLst/>
          </a:prstGeom>
          <a:solidFill>
            <a:srgbClr val="0F0F1E"/>
          </a:solidFill>
          <a:ln w="3810">
            <a:solidFill>
              <a:srgbClr val="1A1A28"/>
            </a:solidFill>
            <a:prstDash val="solid"/>
          </a:ln>
        </p:spPr>
        <p:txBody>
          <a:bodyPr/>
          <a:lstStyle/>
          <a:p>
            <a:endParaRPr lang="en-US"/>
          </a:p>
        </p:txBody>
      </p:sp>
      <p:sp>
        <p:nvSpPr>
          <p:cNvPr id="48" name="Text 46"/>
          <p:cNvSpPr/>
          <p:nvPr/>
        </p:nvSpPr>
        <p:spPr>
          <a:xfrm>
            <a:off x="4434840" y="3685032"/>
            <a:ext cx="1828800" cy="320040"/>
          </a:xfrm>
          <a:prstGeom prst="rect">
            <a:avLst/>
          </a:prstGeom>
          <a:noFill/>
          <a:ln/>
        </p:spPr>
        <p:txBody>
          <a:bodyPr wrap="square" rtlCol="0" anchor="ctr"/>
          <a:lstStyle/>
          <a:p>
            <a:pPr marL="0" indent="0">
              <a:buNone/>
            </a:pPr>
            <a:r>
              <a:rPr lang="en-US" sz="850" dirty="0">
                <a:solidFill>
                  <a:srgbClr val="00D4FF"/>
                </a:solidFill>
                <a:latin typeface="Consolas" pitchFamily="34" charset="0"/>
                <a:ea typeface="Consolas" pitchFamily="34" charset="-122"/>
                <a:cs typeface="Consolas" pitchFamily="34" charset="-120"/>
              </a:rPr>
              <a:t>total_tips</a:t>
            </a:r>
            <a:endParaRPr lang="en-US" sz="850" dirty="0"/>
          </a:p>
        </p:txBody>
      </p:sp>
      <p:sp>
        <p:nvSpPr>
          <p:cNvPr id="49" name="Text 47"/>
          <p:cNvSpPr/>
          <p:nvPr/>
        </p:nvSpPr>
        <p:spPr>
          <a:xfrm>
            <a:off x="6309360" y="3685032"/>
            <a:ext cx="2377440" cy="320040"/>
          </a:xfrm>
          <a:prstGeom prst="rect">
            <a:avLst/>
          </a:prstGeom>
          <a:noFill/>
          <a:ln/>
        </p:spPr>
        <p:txBody>
          <a:bodyPr wrap="square" rtlCol="0" anchor="ctr"/>
          <a:lstStyle/>
          <a:p>
            <a:pPr marL="0" indent="0">
              <a:buNone/>
            </a:pPr>
            <a:r>
              <a:rPr lang="en-US" sz="800" dirty="0">
                <a:solidFill>
                  <a:srgbClr val="6060A0"/>
                </a:solidFill>
              </a:rPr>
              <a:t>Tip/review count</a:t>
            </a:r>
            <a:endParaRPr lang="en-US" sz="800" dirty="0"/>
          </a:p>
        </p:txBody>
      </p:sp>
      <p:sp>
        <p:nvSpPr>
          <p:cNvPr id="50" name="Shape 48"/>
          <p:cNvSpPr/>
          <p:nvPr/>
        </p:nvSpPr>
        <p:spPr>
          <a:xfrm>
            <a:off x="4343400" y="4041648"/>
            <a:ext cx="4480560" cy="320040"/>
          </a:xfrm>
          <a:prstGeom prst="rect">
            <a:avLst/>
          </a:prstGeom>
          <a:solidFill>
            <a:srgbClr val="12121E"/>
          </a:solidFill>
          <a:ln w="3810">
            <a:solidFill>
              <a:srgbClr val="1A1A28"/>
            </a:solidFill>
            <a:prstDash val="solid"/>
          </a:ln>
        </p:spPr>
        <p:txBody>
          <a:bodyPr/>
          <a:lstStyle/>
          <a:p>
            <a:endParaRPr lang="en-US"/>
          </a:p>
        </p:txBody>
      </p:sp>
      <p:sp>
        <p:nvSpPr>
          <p:cNvPr id="51" name="Text 49"/>
          <p:cNvSpPr/>
          <p:nvPr/>
        </p:nvSpPr>
        <p:spPr>
          <a:xfrm>
            <a:off x="4434840" y="4041648"/>
            <a:ext cx="1828800" cy="320040"/>
          </a:xfrm>
          <a:prstGeom prst="rect">
            <a:avLst/>
          </a:prstGeom>
          <a:noFill/>
          <a:ln/>
        </p:spPr>
        <p:txBody>
          <a:bodyPr wrap="square" rtlCol="0" anchor="ctr"/>
          <a:lstStyle/>
          <a:p>
            <a:pPr marL="0" indent="0">
              <a:buNone/>
            </a:pPr>
            <a:r>
              <a:rPr lang="en-US" sz="850" dirty="0">
                <a:solidFill>
                  <a:srgbClr val="00D4FF"/>
                </a:solidFill>
                <a:latin typeface="Consolas" pitchFamily="34" charset="0"/>
                <a:ea typeface="Consolas" pitchFamily="34" charset="-122"/>
                <a:cs typeface="Consolas" pitchFamily="34" charset="-120"/>
              </a:rPr>
              <a:t>neighborhoods</a:t>
            </a:r>
            <a:endParaRPr lang="en-US" sz="850" dirty="0"/>
          </a:p>
        </p:txBody>
      </p:sp>
      <p:sp>
        <p:nvSpPr>
          <p:cNvPr id="52" name="Text 50"/>
          <p:cNvSpPr/>
          <p:nvPr/>
        </p:nvSpPr>
        <p:spPr>
          <a:xfrm>
            <a:off x="6309360" y="4041648"/>
            <a:ext cx="2377440" cy="320040"/>
          </a:xfrm>
          <a:prstGeom prst="rect">
            <a:avLst/>
          </a:prstGeom>
          <a:noFill/>
          <a:ln/>
        </p:spPr>
        <p:txBody>
          <a:bodyPr wrap="square" rtlCol="0" anchor="ctr"/>
          <a:lstStyle/>
          <a:p>
            <a:pPr marL="0" indent="0">
              <a:buNone/>
            </a:pPr>
            <a:r>
              <a:rPr lang="en-US" sz="800" dirty="0">
                <a:solidFill>
                  <a:srgbClr val="6060A0"/>
                </a:solidFill>
              </a:rPr>
              <a:t>Assigned district</a:t>
            </a:r>
            <a:endParaRPr lang="en-US" sz="800" dirty="0"/>
          </a:p>
        </p:txBody>
      </p:sp>
      <p:sp>
        <p:nvSpPr>
          <p:cNvPr id="53" name="Shape 51"/>
          <p:cNvSpPr/>
          <p:nvPr/>
        </p:nvSpPr>
        <p:spPr>
          <a:xfrm>
            <a:off x="4343400" y="4398264"/>
            <a:ext cx="4480560" cy="320040"/>
          </a:xfrm>
          <a:prstGeom prst="rect">
            <a:avLst/>
          </a:prstGeom>
          <a:solidFill>
            <a:srgbClr val="0F0F1E"/>
          </a:solidFill>
          <a:ln w="3810">
            <a:solidFill>
              <a:srgbClr val="1A1A28"/>
            </a:solidFill>
            <a:prstDash val="solid"/>
          </a:ln>
        </p:spPr>
        <p:txBody>
          <a:bodyPr/>
          <a:lstStyle/>
          <a:p>
            <a:endParaRPr lang="en-US"/>
          </a:p>
        </p:txBody>
      </p:sp>
      <p:sp>
        <p:nvSpPr>
          <p:cNvPr id="54" name="Text 52"/>
          <p:cNvSpPr/>
          <p:nvPr/>
        </p:nvSpPr>
        <p:spPr>
          <a:xfrm>
            <a:off x="4434840" y="4398264"/>
            <a:ext cx="1828800" cy="320040"/>
          </a:xfrm>
          <a:prstGeom prst="rect">
            <a:avLst/>
          </a:prstGeom>
          <a:noFill/>
          <a:ln/>
        </p:spPr>
        <p:txBody>
          <a:bodyPr wrap="square" rtlCol="0" anchor="ctr"/>
          <a:lstStyle/>
          <a:p>
            <a:pPr marL="0" indent="0">
              <a:buNone/>
            </a:pPr>
            <a:r>
              <a:rPr lang="en-US" sz="850" dirty="0">
                <a:solidFill>
                  <a:srgbClr val="00D4FF"/>
                </a:solidFill>
                <a:latin typeface="Consolas" pitchFamily="34" charset="0"/>
                <a:ea typeface="Consolas" pitchFamily="34" charset="-122"/>
                <a:cs typeface="Consolas" pitchFamily="34" charset="-120"/>
              </a:rPr>
              <a:t>price_level</a:t>
            </a:r>
            <a:endParaRPr lang="en-US" sz="850" dirty="0"/>
          </a:p>
        </p:txBody>
      </p:sp>
      <p:sp>
        <p:nvSpPr>
          <p:cNvPr id="55" name="Text 53"/>
          <p:cNvSpPr/>
          <p:nvPr/>
        </p:nvSpPr>
        <p:spPr>
          <a:xfrm>
            <a:off x="6309360" y="4398264"/>
            <a:ext cx="2377440" cy="320040"/>
          </a:xfrm>
          <a:prstGeom prst="rect">
            <a:avLst/>
          </a:prstGeom>
          <a:noFill/>
          <a:ln/>
        </p:spPr>
        <p:txBody>
          <a:bodyPr wrap="square" rtlCol="0" anchor="ctr"/>
          <a:lstStyle/>
          <a:p>
            <a:pPr marL="0" indent="0">
              <a:buNone/>
            </a:pPr>
            <a:r>
              <a:rPr lang="en-US" sz="800" dirty="0">
                <a:solidFill>
                  <a:srgbClr val="6060A0"/>
                </a:solidFill>
              </a:rPr>
              <a:t>Encoded 0–4 from price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D17"/>
        </a:solidFill>
        <a:effectLst/>
      </p:bgPr>
    </p:bg>
    <p:spTree>
      <p:nvGrpSpPr>
        <p:cNvPr id="1" name=""/>
        <p:cNvGrpSpPr/>
        <p:nvPr/>
      </p:nvGrpSpPr>
      <p:grpSpPr>
        <a:xfrm>
          <a:off x="0" y="0"/>
          <a:ext cx="0" cy="0"/>
          <a:chOff x="0" y="0"/>
          <a:chExt cx="0" cy="0"/>
        </a:xfrm>
      </p:grpSpPr>
      <p:sp>
        <p:nvSpPr>
          <p:cNvPr id="2" name="Text 0"/>
          <p:cNvSpPr/>
          <p:nvPr/>
        </p:nvSpPr>
        <p:spPr>
          <a:xfrm>
            <a:off x="201168" y="91440"/>
            <a:ext cx="8741664"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  Load &amp; Initial Inspection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1168" y="621792"/>
            <a:ext cx="8741664" cy="18288"/>
          </a:xfrm>
          <a:prstGeom prst="rect">
            <a:avLst/>
          </a:prstGeom>
          <a:solidFill>
            <a:srgbClr val="1E1E2E"/>
          </a:solidFill>
          <a:ln w="1270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201168" y="731520"/>
            <a:ext cx="45720" cy="237744"/>
          </a:xfrm>
          <a:prstGeom prst="rect">
            <a:avLst/>
          </a:prstGeom>
          <a:solidFill>
            <a:srgbClr val="00D4FF"/>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310896" y="731520"/>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D4FF"/>
                </a:solidFill>
                <a:effectLst/>
                <a:uLnTx/>
                <a:uFillTx/>
                <a:latin typeface="Calibri" pitchFamily="34" charset="0"/>
                <a:ea typeface="Calibri" pitchFamily="34" charset="-122"/>
                <a:cs typeface="Calibri" pitchFamily="34" charset="-120"/>
              </a:rPr>
              <a:t>Load the CSV and check shape, types and issues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201168" y="1005840"/>
            <a:ext cx="5029200" cy="2011680"/>
          </a:xfrm>
          <a:prstGeom prst="rect">
            <a:avLst/>
          </a:prstGeom>
          <a:solidFill>
            <a:srgbClr val="080812"/>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10896" y="1097280"/>
            <a:ext cx="4846320" cy="18836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import pandas as pd, numpy as np</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import geopandas as gpd</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 = pd.read_csv('final_dataset.csv')</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print(df.shape)   # (26985, 17)</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df.info()</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Unnamed: 0      26985  int64   ← junk index column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price           13787  object  ← 13,198 missing</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rating           8385  float   ← 18,600 missing</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total_photos    17886  float   ← has negatives!</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df.describe()</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total_photos min = -16.0  ← impossible value</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rating range: 4.7 – 9.6</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df.duplicated().sum()   # → 0  (no duplicates)</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5486400" y="731520"/>
            <a:ext cx="45720" cy="237744"/>
          </a:xfrm>
          <a:prstGeom prst="rect">
            <a:avLst/>
          </a:prstGeom>
          <a:solidFill>
            <a:srgbClr val="FACC15"/>
          </a:solidFill>
          <a:ln w="12700">
            <a:solidFill>
              <a:srgbClr val="FACC1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596128" y="731520"/>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ACC15"/>
                </a:solidFill>
                <a:effectLst/>
                <a:uLnTx/>
                <a:uFillTx/>
                <a:latin typeface="Calibri" pitchFamily="34" charset="0"/>
                <a:ea typeface="Calibri" pitchFamily="34" charset="-122"/>
                <a:cs typeface="Calibri" pitchFamily="34" charset="-120"/>
              </a:rPr>
              <a:t>What we found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486400" y="731520"/>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5486400" y="731520"/>
            <a:ext cx="45720" cy="621792"/>
          </a:xfrm>
          <a:prstGeom prst="rect">
            <a:avLst/>
          </a:prstGeom>
          <a:solidFill>
            <a:srgbClr val="00D4FF"/>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596128" y="786384"/>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D4FF"/>
                </a:solidFill>
                <a:effectLst/>
                <a:uLnTx/>
                <a:uFillTx/>
                <a:latin typeface="Calibri" pitchFamily="34" charset="0"/>
                <a:ea typeface="Calibri" pitchFamily="34" charset="-122"/>
                <a:cs typeface="Calibri" pitchFamily="34" charset="-120"/>
              </a:rPr>
              <a:t>Shape</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596128" y="987552"/>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26,985 rows × 17 columns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486400" y="1444752"/>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5486400" y="1444752"/>
            <a:ext cx="45720" cy="621792"/>
          </a:xfrm>
          <a:prstGeom prst="rect">
            <a:avLst/>
          </a:prstGeom>
          <a:solidFill>
            <a:srgbClr val="4ADE80"/>
          </a:solidFill>
          <a:ln w="12700">
            <a:solidFill>
              <a:srgbClr val="4ADE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5596128" y="1499616"/>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4ADE80"/>
                </a:solidFill>
                <a:effectLst/>
                <a:uLnTx/>
                <a:uFillTx/>
                <a:latin typeface="Calibri" pitchFamily="34" charset="0"/>
                <a:ea typeface="Calibri" pitchFamily="34" charset="-122"/>
                <a:cs typeface="Calibri" pitchFamily="34" charset="-120"/>
              </a:rPr>
              <a:t>Duplicates</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5596128" y="1700784"/>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 — no dedup needed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5486400" y="2157984"/>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5486400" y="2157984"/>
            <a:ext cx="45720" cy="621792"/>
          </a:xfrm>
          <a:prstGeom prst="rect">
            <a:avLst/>
          </a:prstGeom>
          <a:solidFill>
            <a:srgbClr val="F472B6"/>
          </a:solidFill>
          <a:ln w="12700">
            <a:solidFill>
              <a:srgbClr val="F472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596128" y="2212848"/>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472B6"/>
                </a:solidFill>
                <a:effectLst/>
                <a:uLnTx/>
                <a:uFillTx/>
                <a:latin typeface="Calibri" pitchFamily="34" charset="0"/>
                <a:ea typeface="Calibri" pitchFamily="34" charset="-122"/>
                <a:cs typeface="Calibri" pitchFamily="34" charset="-120"/>
              </a:rPr>
              <a:t>Problem</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596128" y="2414016"/>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total_photos min = –16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486400" y="2871216"/>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486400" y="2871216"/>
            <a:ext cx="45720" cy="621792"/>
          </a:xfrm>
          <a:prstGeom prst="rect">
            <a:avLst/>
          </a:prstGeom>
          <a:solidFill>
            <a:srgbClr val="FACC15"/>
          </a:solidFill>
          <a:ln w="12700">
            <a:solidFill>
              <a:srgbClr val="FACC1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5596128" y="2926080"/>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ACC15"/>
                </a:solidFill>
                <a:effectLst/>
                <a:uLnTx/>
                <a:uFillTx/>
                <a:latin typeface="Calibri" pitchFamily="34" charset="0"/>
                <a:ea typeface="Calibri" pitchFamily="34" charset="-122"/>
                <a:cs typeface="Calibri" pitchFamily="34" charset="-120"/>
              </a:rPr>
              <a:t>Missing</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596128" y="3127248"/>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price: 13,198 · rating: 18,600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5486400" y="3584448"/>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5486400" y="3584448"/>
            <a:ext cx="45720" cy="621792"/>
          </a:xfrm>
          <a:prstGeom prst="rect">
            <a:avLst/>
          </a:prstGeom>
          <a:solidFill>
            <a:srgbClr val="A78BFA"/>
          </a:solidFill>
          <a:ln w="12700">
            <a:solidFill>
              <a:srgbClr val="A78B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5596128" y="3639312"/>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A78BFA"/>
                </a:solidFill>
                <a:effectLst/>
                <a:uLnTx/>
                <a:uFillTx/>
                <a:latin typeface="Calibri" pitchFamily="34" charset="0"/>
                <a:ea typeface="Calibri" pitchFamily="34" charset="-122"/>
                <a:cs typeface="Calibri" pitchFamily="34" charset="-120"/>
              </a:rPr>
              <a:t>Junk col</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5596128" y="3840480"/>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Unnamed: 0 must be dropped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5486400" y="4297680"/>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5486400" y="4297680"/>
            <a:ext cx="45720" cy="62179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5596128" y="4352544"/>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Fake nulls</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5596128" y="4553712"/>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tips/tastes store '[]' not NaN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D17"/>
        </a:solidFill>
        <a:effectLst/>
      </p:bgPr>
    </p:bg>
    <p:spTree>
      <p:nvGrpSpPr>
        <p:cNvPr id="1" name=""/>
        <p:cNvGrpSpPr/>
        <p:nvPr/>
      </p:nvGrpSpPr>
      <p:grpSpPr>
        <a:xfrm>
          <a:off x="0" y="0"/>
          <a:ext cx="0" cy="0"/>
          <a:chOff x="0" y="0"/>
          <a:chExt cx="0" cy="0"/>
        </a:xfrm>
      </p:grpSpPr>
      <p:sp>
        <p:nvSpPr>
          <p:cNvPr id="2" name="Text 0"/>
          <p:cNvSpPr/>
          <p:nvPr/>
        </p:nvSpPr>
        <p:spPr>
          <a:xfrm>
            <a:off x="201168" y="91440"/>
            <a:ext cx="8741664"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  Fix Fake Nulls in tips &amp; tastes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1168" y="621792"/>
            <a:ext cx="8741664" cy="18288"/>
          </a:xfrm>
          <a:prstGeom prst="rect">
            <a:avLst/>
          </a:prstGeom>
          <a:solidFill>
            <a:srgbClr val="1E1E2E"/>
          </a:solidFill>
          <a:ln w="1270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201168" y="731520"/>
            <a:ext cx="45720" cy="237744"/>
          </a:xfrm>
          <a:prstGeom prst="rect">
            <a:avLst/>
          </a:prstGeom>
          <a:solidFill>
            <a:srgbClr val="F472B6"/>
          </a:solidFill>
          <a:ln w="12700">
            <a:solidFill>
              <a:srgbClr val="F472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310896" y="731520"/>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472B6"/>
                </a:solidFill>
                <a:effectLst/>
                <a:uLnTx/>
                <a:uFillTx/>
                <a:latin typeface="Calibri" pitchFamily="34" charset="0"/>
                <a:ea typeface="Calibri" pitchFamily="34" charset="-122"/>
                <a:cs typeface="Calibri" pitchFamily="34" charset="-120"/>
              </a:rPr>
              <a:t>pandas isnull() said 0 missing — but that was wrong</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201168" y="987552"/>
            <a:ext cx="8741664"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Foursquare stores empty lists as the string '[]', which pandas treats as a valid value. df.isnull().sum() reported 0 missing for tips and tastes — both completely wrong.</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201168" y="1298448"/>
            <a:ext cx="8741664" cy="1353312"/>
          </a:xfrm>
          <a:prstGeom prst="rect">
            <a:avLst/>
          </a:prstGeom>
          <a:solidFill>
            <a:srgbClr val="080812"/>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310896" y="1389888"/>
            <a:ext cx="8558784" cy="122529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Detect the fake nulls first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print((df['tips']   == '[]').sum())    # → 24,976</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print((df['tastes'] == '[]').sum())    # → 25,126</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Replace '[]' string with real NaN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df['tips']   = df['tips'].replace('[]', np.nan)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df['tastes'] = df['tastes'].replace('[]', np.nan)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Verify</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print(df['tips'].isna().sum())    # → 24,976  ✓</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print(df['tastes'].isna().sum())  # → 25,126  ✓</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201168" y="2743200"/>
            <a:ext cx="45720" cy="237744"/>
          </a:xfrm>
          <a:prstGeom prst="rect">
            <a:avLst/>
          </a:prstGeom>
          <a:solidFill>
            <a:srgbClr val="4ADE80"/>
          </a:solidFill>
          <a:ln w="12700">
            <a:solidFill>
              <a:srgbClr val="4ADE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10896" y="2743200"/>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4ADE80"/>
                </a:solidFill>
                <a:effectLst/>
                <a:uLnTx/>
                <a:uFillTx/>
                <a:latin typeface="Calibri" pitchFamily="34" charset="0"/>
                <a:ea typeface="Calibri" pitchFamily="34" charset="-122"/>
                <a:cs typeface="Calibri" pitchFamily="34" charset="-120"/>
              </a:rPr>
              <a:t>Why it matters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201168" y="2999232"/>
            <a:ext cx="8741664"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If we had not caught this, any .notna() filter or aggregation on tips/tastes would have incorrectly counted 24,976 empty records as valid data. Since 92–93% of both columns were empty anyway, they have very limited analytical value at this stage.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201168" y="3621024"/>
            <a:ext cx="2011680"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201168" y="3621024"/>
            <a:ext cx="45720" cy="621792"/>
          </a:xfrm>
          <a:prstGeom prst="rect">
            <a:avLst/>
          </a:prstGeom>
          <a:solidFill>
            <a:srgbClr val="F472B6"/>
          </a:solidFill>
          <a:ln w="12700">
            <a:solidFill>
              <a:srgbClr val="F472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310896" y="3675888"/>
            <a:ext cx="1865376"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472B6"/>
                </a:solidFill>
                <a:effectLst/>
                <a:uLnTx/>
                <a:uFillTx/>
                <a:latin typeface="Calibri" pitchFamily="34" charset="0"/>
                <a:ea typeface="Calibri" pitchFamily="34" charset="-122"/>
                <a:cs typeface="Calibri" pitchFamily="34" charset="-120"/>
              </a:rPr>
              <a:t>tips fake nulls</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310896" y="3877056"/>
            <a:ext cx="1865376"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24,976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2340864" y="3621024"/>
            <a:ext cx="2011680"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2340864" y="3621024"/>
            <a:ext cx="45720" cy="621792"/>
          </a:xfrm>
          <a:prstGeom prst="rect">
            <a:avLst/>
          </a:prstGeom>
          <a:solidFill>
            <a:srgbClr val="F472B6"/>
          </a:solidFill>
          <a:ln w="12700">
            <a:solidFill>
              <a:srgbClr val="F472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2450592" y="3675888"/>
            <a:ext cx="1865376"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472B6"/>
                </a:solidFill>
                <a:effectLst/>
                <a:uLnTx/>
                <a:uFillTx/>
                <a:latin typeface="Calibri" pitchFamily="34" charset="0"/>
                <a:ea typeface="Calibri" pitchFamily="34" charset="-122"/>
                <a:cs typeface="Calibri" pitchFamily="34" charset="-120"/>
              </a:rPr>
              <a:t>tastes fake nulls</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2450592" y="3877056"/>
            <a:ext cx="1865376"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25,126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480560" y="3621024"/>
            <a:ext cx="2103120"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4480560" y="3621024"/>
            <a:ext cx="45720" cy="621792"/>
          </a:xfrm>
          <a:prstGeom prst="rect">
            <a:avLst/>
          </a:prstGeom>
          <a:solidFill>
            <a:srgbClr val="FACC15"/>
          </a:solidFill>
          <a:ln w="12700">
            <a:solidFill>
              <a:srgbClr val="FACC1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4590288" y="3675888"/>
            <a:ext cx="1956816"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ACC15"/>
                </a:solidFill>
                <a:effectLst/>
                <a:uLnTx/>
                <a:uFillTx/>
                <a:latin typeface="Calibri" pitchFamily="34" charset="0"/>
                <a:ea typeface="Calibri" pitchFamily="34" charset="-122"/>
                <a:cs typeface="Calibri" pitchFamily="34" charset="-120"/>
              </a:rPr>
              <a:t>tips empty %</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590288" y="3877056"/>
            <a:ext cx="1956816"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92.6%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6711696" y="3621024"/>
            <a:ext cx="2231136"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6711696" y="3621024"/>
            <a:ext cx="45720" cy="621792"/>
          </a:xfrm>
          <a:prstGeom prst="rect">
            <a:avLst/>
          </a:prstGeom>
          <a:solidFill>
            <a:srgbClr val="FACC15"/>
          </a:solidFill>
          <a:ln w="12700">
            <a:solidFill>
              <a:srgbClr val="FACC1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6821424" y="3675888"/>
            <a:ext cx="208483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ACC15"/>
                </a:solidFill>
                <a:effectLst/>
                <a:uLnTx/>
                <a:uFillTx/>
                <a:latin typeface="Calibri" pitchFamily="34" charset="0"/>
                <a:ea typeface="Calibri" pitchFamily="34" charset="-122"/>
                <a:cs typeface="Calibri" pitchFamily="34" charset="-120"/>
              </a:rPr>
              <a:t>tastes empty %</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6821424" y="3877056"/>
            <a:ext cx="2084832"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93.1%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D17"/>
        </a:solidFill>
        <a:effectLst/>
      </p:bgPr>
    </p:bg>
    <p:spTree>
      <p:nvGrpSpPr>
        <p:cNvPr id="1" name=""/>
        <p:cNvGrpSpPr/>
        <p:nvPr/>
      </p:nvGrpSpPr>
      <p:grpSpPr>
        <a:xfrm>
          <a:off x="0" y="0"/>
          <a:ext cx="0" cy="0"/>
          <a:chOff x="0" y="0"/>
          <a:chExt cx="0" cy="0"/>
        </a:xfrm>
      </p:grpSpPr>
      <p:sp>
        <p:nvSpPr>
          <p:cNvPr id="2" name="Text 0"/>
          <p:cNvSpPr/>
          <p:nvPr/>
        </p:nvSpPr>
        <p:spPr>
          <a:xfrm>
            <a:off x="201168" y="91440"/>
            <a:ext cx="8741664"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  Drop Junk Column · Fill Zeros · Fix Negatives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1168" y="621792"/>
            <a:ext cx="8741664" cy="18288"/>
          </a:xfrm>
          <a:prstGeom prst="rect">
            <a:avLst/>
          </a:prstGeom>
          <a:solidFill>
            <a:srgbClr val="1E1E2E"/>
          </a:solidFill>
          <a:ln w="1270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201168" y="731520"/>
            <a:ext cx="5029200" cy="3566160"/>
          </a:xfrm>
          <a:prstGeom prst="rect">
            <a:avLst/>
          </a:prstGeom>
          <a:solidFill>
            <a:srgbClr val="080812"/>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310896" y="822960"/>
            <a:ext cx="4846320" cy="343814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 Drop the auto-generated CSV index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Unnamed: 0 is a row number from the export — no value.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It appears in describe() as a fake numeric feature.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df.drop(columns=['Unnamed: 0'], inplace=True)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df now has 16 columns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 Fill tips &amp; photos with 0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Missing count = 0 activity, not unknown.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fillna(0) is semantically correct for count columns.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df['total_tips']   = df['total_tips'].fillna(0)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df['total_photos'] = df['total_photos'].fillna(0)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 Fix impossible negative photo counts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describe() showed min = -16.0 — a data artifact.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Clip to 0, don't drop — rest of the row is still valid.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df.loc[df['total_photos'] &lt; 0, 'total_photos'] = 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 Verify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df.describe()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total_photos min: 0.0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total_tips   min: 0.0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df.isnull().sum()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total_photos: 0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total_tips:   0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date_created: 1  ← kept intentionally (valid restaurant)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486400" y="731520"/>
            <a:ext cx="45720" cy="237744"/>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5596128" y="731520"/>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Decision rationale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5486400" y="731520"/>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5486400" y="731520"/>
            <a:ext cx="45720" cy="62179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596128" y="786384"/>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Drop Unnamed: 0</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596128" y="987552"/>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CSV artifact — no business meaning, confuses model features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486400" y="1536192"/>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5486400" y="1536192"/>
            <a:ext cx="45720" cy="621792"/>
          </a:xfrm>
          <a:prstGeom prst="rect">
            <a:avLst/>
          </a:prstGeom>
          <a:solidFill>
            <a:srgbClr val="4ADE80"/>
          </a:solidFill>
          <a:ln w="12700">
            <a:solidFill>
              <a:srgbClr val="4ADE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5596128" y="1591056"/>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4ADE80"/>
                </a:solidFill>
                <a:effectLst/>
                <a:uLnTx/>
                <a:uFillTx/>
                <a:latin typeface="Calibri" pitchFamily="34" charset="0"/>
                <a:ea typeface="Calibri" pitchFamily="34" charset="-122"/>
                <a:cs typeface="Calibri" pitchFamily="34" charset="-120"/>
              </a:rPr>
              <a:t>fillna(0) for tips</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5596128" y="1792224"/>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 tips recorded = 0 tips. Semantically correct, not unknown.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486400" y="2340864"/>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486400" y="2340864"/>
            <a:ext cx="45720" cy="621792"/>
          </a:xfrm>
          <a:prstGeom prst="rect">
            <a:avLst/>
          </a:prstGeom>
          <a:solidFill>
            <a:srgbClr val="4ADE80"/>
          </a:solidFill>
          <a:ln w="12700">
            <a:solidFill>
              <a:srgbClr val="4ADE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596128" y="2395728"/>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4ADE80"/>
                </a:solidFill>
                <a:effectLst/>
                <a:uLnTx/>
                <a:uFillTx/>
                <a:latin typeface="Calibri" pitchFamily="34" charset="0"/>
                <a:ea typeface="Calibri" pitchFamily="34" charset="-122"/>
                <a:cs typeface="Calibri" pitchFamily="34" charset="-120"/>
              </a:rPr>
              <a:t>fillna(0) for photos</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596128" y="2596896"/>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Same logic — absence of photos means 0, not missing data.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486400" y="3145536"/>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5486400" y="3145536"/>
            <a:ext cx="45720" cy="621792"/>
          </a:xfrm>
          <a:prstGeom prst="rect">
            <a:avLst/>
          </a:prstGeom>
          <a:solidFill>
            <a:srgbClr val="FACC15"/>
          </a:solidFill>
          <a:ln w="12700">
            <a:solidFill>
              <a:srgbClr val="FACC1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5596128" y="3200400"/>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ACC15"/>
                </a:solidFill>
                <a:effectLst/>
                <a:uLnTx/>
                <a:uFillTx/>
                <a:latin typeface="Calibri" pitchFamily="34" charset="0"/>
                <a:ea typeface="Calibri" pitchFamily="34" charset="-122"/>
                <a:cs typeface="Calibri" pitchFamily="34" charset="-120"/>
              </a:rPr>
              <a:t>Clip negatives to 0</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5596128" y="3401568"/>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photo count &lt; 0 is impossible. Clip preserves the row.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5486400" y="3950208"/>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5486400" y="3950208"/>
            <a:ext cx="45720" cy="621792"/>
          </a:xfrm>
          <a:prstGeom prst="rect">
            <a:avLst/>
          </a:prstGeom>
          <a:solidFill>
            <a:srgbClr val="A78BFA"/>
          </a:solidFill>
          <a:ln w="12700">
            <a:solidFill>
              <a:srgbClr val="A78B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5596128" y="4005072"/>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A78BFA"/>
                </a:solidFill>
                <a:effectLst/>
                <a:uLnTx/>
                <a:uFillTx/>
                <a:latin typeface="Calibri" pitchFamily="34" charset="0"/>
                <a:ea typeface="Calibri" pitchFamily="34" charset="-122"/>
                <a:cs typeface="Calibri" pitchFamily="34" charset="-120"/>
              </a:rPr>
              <a:t>Keep date NaN</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5596128" y="4206240"/>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 row missing date_created — it's a valid restaurant, keep 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0D17"/>
        </a:solidFill>
        <a:effectLst/>
      </p:bgPr>
    </p:bg>
    <p:spTree>
      <p:nvGrpSpPr>
        <p:cNvPr id="1" name=""/>
        <p:cNvGrpSpPr/>
        <p:nvPr/>
      </p:nvGrpSpPr>
      <p:grpSpPr>
        <a:xfrm>
          <a:off x="0" y="0"/>
          <a:ext cx="0" cy="0"/>
          <a:chOff x="0" y="0"/>
          <a:chExt cx="0" cy="0"/>
        </a:xfrm>
      </p:grpSpPr>
      <p:sp>
        <p:nvSpPr>
          <p:cNvPr id="2" name="Text 0"/>
          <p:cNvSpPr/>
          <p:nvPr/>
        </p:nvSpPr>
        <p:spPr>
          <a:xfrm>
            <a:off x="201168" y="91440"/>
            <a:ext cx="8741664"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  Filter to Food Venues — 53 Keywords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1168" y="621792"/>
            <a:ext cx="8741664" cy="18288"/>
          </a:xfrm>
          <a:prstGeom prst="rect">
            <a:avLst/>
          </a:prstGeom>
          <a:solidFill>
            <a:srgbClr val="1E1E2E"/>
          </a:solidFill>
          <a:ln w="1270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201168" y="731520"/>
            <a:ext cx="45720" cy="237744"/>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310896" y="731520"/>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The raw dataset has pharmacies, mosques, schools, malls — we only want food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201168" y="987552"/>
            <a:ext cx="5029200" cy="2926080"/>
          </a:xfrm>
          <a:prstGeom prst="rect">
            <a:avLst/>
          </a:prstGeom>
          <a:solidFill>
            <a:srgbClr val="080812"/>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10896" y="1078992"/>
            <a:ext cx="4846320" cy="27980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food_keywords =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'restaurant','cafe',   'coffee', 'pizza', 'burger',</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'sandwich',  'shawarma','kebab',  'falafel','bakery',</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'dessert',   'ice cream','donut', 'juice',  'smoothie',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'bbq',       'grill',   'steak',  'chicken','seafood',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'diner',     'bistro',  'buffet', 'breakfast','waffle',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'crepe',     'tea',     'ramen',  'sushi',  'noodle',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'taco',      'mexican', 'italian','food',   'snack',</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'lounge',    'hookah',  'wings',  'doner',  'poke',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'salad',     'gelato',  'candy',  'chocolate','vegan',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'butcher',   'pastry',  'cupcake','creperie','bagel','deli',</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 53 keywords total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Filter — case-insensitive match on raw category strings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MUST run BEFORE category normalization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df_restaurants = df[</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df['category'].str.contains(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'|'.join(food_keywords), case=False, na=False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].reset_index(drop=True)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print(df_restaurants.shape)  # (11187, 17)</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5486400" y="731520"/>
            <a:ext cx="45720" cy="237744"/>
          </a:xfrm>
          <a:prstGeom prst="rect">
            <a:avLst/>
          </a:prstGeom>
          <a:solidFill>
            <a:srgbClr val="4ADE80"/>
          </a:solidFill>
          <a:ln w="12700">
            <a:solidFill>
              <a:srgbClr val="4ADE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596128" y="731520"/>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4ADE80"/>
                </a:solidFill>
                <a:effectLst/>
                <a:uLnTx/>
                <a:uFillTx/>
                <a:latin typeface="Calibri" pitchFamily="34" charset="0"/>
                <a:ea typeface="Calibri" pitchFamily="34" charset="-122"/>
                <a:cs typeface="Calibri" pitchFamily="34" charset="-120"/>
              </a:rPr>
              <a:t>Results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486400" y="987552"/>
            <a:ext cx="171907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5486400" y="987552"/>
            <a:ext cx="45720" cy="621792"/>
          </a:xfrm>
          <a:prstGeom prst="rect">
            <a:avLst/>
          </a:prstGeom>
          <a:solidFill>
            <a:srgbClr val="00D4FF"/>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596128" y="1042416"/>
            <a:ext cx="157276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D4FF"/>
                </a:solidFill>
                <a:effectLst/>
                <a:uLnTx/>
                <a:uFillTx/>
                <a:latin typeface="Calibri" pitchFamily="34" charset="0"/>
                <a:ea typeface="Calibri" pitchFamily="34" charset="-122"/>
                <a:cs typeface="Calibri" pitchFamily="34" charset="-120"/>
              </a:rPr>
              <a:t>Before</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596128" y="1243584"/>
            <a:ext cx="157276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26,985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7333488" y="987552"/>
            <a:ext cx="1609344"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7333488" y="987552"/>
            <a:ext cx="45720" cy="621792"/>
          </a:xfrm>
          <a:prstGeom prst="rect">
            <a:avLst/>
          </a:prstGeom>
          <a:solidFill>
            <a:srgbClr val="4ADE80"/>
          </a:solidFill>
          <a:ln w="12700">
            <a:solidFill>
              <a:srgbClr val="4ADE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7443216" y="1042416"/>
            <a:ext cx="14630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4ADE80"/>
                </a:solidFill>
                <a:effectLst/>
                <a:uLnTx/>
                <a:uFillTx/>
                <a:latin typeface="Calibri" pitchFamily="34" charset="0"/>
                <a:ea typeface="Calibri" pitchFamily="34" charset="-122"/>
                <a:cs typeface="Calibri" pitchFamily="34" charset="-120"/>
              </a:rPr>
              <a:t>After</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7443216" y="1243584"/>
            <a:ext cx="146304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11,187</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5486400" y="1719072"/>
            <a:ext cx="171907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5486400" y="1719072"/>
            <a:ext cx="45720" cy="621792"/>
          </a:xfrm>
          <a:prstGeom prst="rect">
            <a:avLst/>
          </a:prstGeom>
          <a:solidFill>
            <a:srgbClr val="F472B6"/>
          </a:solidFill>
          <a:ln w="12700">
            <a:solidFill>
              <a:srgbClr val="F472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596128" y="1773936"/>
            <a:ext cx="157276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472B6"/>
                </a:solidFill>
                <a:effectLst/>
                <a:uLnTx/>
                <a:uFillTx/>
                <a:latin typeface="Calibri" pitchFamily="34" charset="0"/>
                <a:ea typeface="Calibri" pitchFamily="34" charset="-122"/>
                <a:cs typeface="Calibri" pitchFamily="34" charset="-120"/>
              </a:rPr>
              <a:t>Removed</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596128" y="1975104"/>
            <a:ext cx="157276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15,798</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7333488" y="1719072"/>
            <a:ext cx="1609344"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7333488" y="1719072"/>
            <a:ext cx="45720" cy="621792"/>
          </a:xfrm>
          <a:prstGeom prst="rect">
            <a:avLst/>
          </a:prstGeom>
          <a:solidFill>
            <a:srgbClr val="FACC15"/>
          </a:solidFill>
          <a:ln w="12700">
            <a:solidFill>
              <a:srgbClr val="FACC1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7443216" y="1773936"/>
            <a:ext cx="14630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ACC15"/>
                </a:solidFill>
                <a:effectLst/>
                <a:uLnTx/>
                <a:uFillTx/>
                <a:latin typeface="Calibri" pitchFamily="34" charset="0"/>
                <a:ea typeface="Calibri" pitchFamily="34" charset="-122"/>
                <a:cs typeface="Calibri" pitchFamily="34" charset="-120"/>
              </a:rPr>
              <a:t>Retained</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7443216" y="1975104"/>
            <a:ext cx="146304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41.5%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5486400" y="2514600"/>
            <a:ext cx="45720" cy="237744"/>
          </a:xfrm>
          <a:prstGeom prst="rect">
            <a:avLst/>
          </a:prstGeom>
          <a:solidFill>
            <a:srgbClr val="F472B6"/>
          </a:solidFill>
          <a:ln w="12700">
            <a:solidFill>
              <a:srgbClr val="F472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5596128" y="2514600"/>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472B6"/>
                </a:solidFill>
                <a:effectLst/>
                <a:uLnTx/>
                <a:uFillTx/>
                <a:latin typeface="Calibri" pitchFamily="34" charset="0"/>
                <a:ea typeface="Calibri" pitchFamily="34" charset="-122"/>
                <a:cs typeface="Calibri" pitchFamily="34" charset="-120"/>
              </a:rPr>
              <a:t>Removed venue types (examples)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5486400" y="2761488"/>
            <a:ext cx="3456432"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Pharmacy · Dentist · Mosque · Government Building</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Shopping Mall · Farm · Chalet · Park · School · Hospital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5486400" y="3337560"/>
            <a:ext cx="45720" cy="237744"/>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5596128" y="3337560"/>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Critical order rule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5486400" y="3584448"/>
            <a:ext cx="3456432"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This filter runs on raw category strings BEFORE normalization. If run after, str.contains() finds none of the keywords (they've already been replaced) and df_restaurants ends up with 0 rows.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201168" y="4005072"/>
            <a:ext cx="45720" cy="237744"/>
          </a:xfrm>
          <a:prstGeom prst="rect">
            <a:avLst/>
          </a:prstGeom>
          <a:solidFill>
            <a:srgbClr val="FACC15"/>
          </a:solidFill>
          <a:ln w="12700">
            <a:solidFill>
              <a:srgbClr val="FACC1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310896" y="4005072"/>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ACC15"/>
                </a:solidFill>
                <a:effectLst/>
                <a:uLnTx/>
                <a:uFillTx/>
                <a:latin typeface="Calibri" pitchFamily="34" charset="0"/>
                <a:ea typeface="Calibri" pitchFamily="34" charset="-122"/>
                <a:cs typeface="Calibri" pitchFamily="34" charset="-120"/>
              </a:rPr>
              <a:t>Immediately after: encode price_level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201168" y="4251960"/>
            <a:ext cx="8741664" cy="658368"/>
          </a:xfrm>
          <a:prstGeom prst="rect">
            <a:avLst/>
          </a:prstGeom>
          <a:solidFill>
            <a:srgbClr val="080812"/>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310896" y="4343400"/>
            <a:ext cx="8558784" cy="53035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Must use df_restaurants (not df) — different index after reset_index()</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df_restaurants['price_level'] = df_restaurants['price'].str.count(r'\$')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 → 1,  $$ → 2,  $$$ → 3,  $$$$ → 4,  NaN → 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0D17"/>
        </a:solidFill>
        <a:effectLst/>
      </p:bgPr>
    </p:bg>
    <p:spTree>
      <p:nvGrpSpPr>
        <p:cNvPr id="1" name=""/>
        <p:cNvGrpSpPr/>
        <p:nvPr/>
      </p:nvGrpSpPr>
      <p:grpSpPr>
        <a:xfrm>
          <a:off x="0" y="0"/>
          <a:ext cx="0" cy="0"/>
          <a:chOff x="0" y="0"/>
          <a:chExt cx="0" cy="0"/>
        </a:xfrm>
      </p:grpSpPr>
      <p:sp>
        <p:nvSpPr>
          <p:cNvPr id="2" name="Text 0"/>
          <p:cNvSpPr/>
          <p:nvPr/>
        </p:nvSpPr>
        <p:spPr>
          <a:xfrm>
            <a:off x="201168" y="91440"/>
            <a:ext cx="8741664"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  Category Normalization — 216 Tags → 35 Clean Categories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1168" y="621792"/>
            <a:ext cx="8741664" cy="18288"/>
          </a:xfrm>
          <a:prstGeom prst="rect">
            <a:avLst/>
          </a:prstGeom>
          <a:solidFill>
            <a:srgbClr val="1E1E2E"/>
          </a:solidFill>
          <a:ln w="1270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201168" y="731520"/>
            <a:ext cx="8741664" cy="2560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Foursquare stores categories as Python list strings like "['Coffee Shop', 'Café', 'Breakfast Spot']". There are 216 unique combinations — we need to collapse them into 35 clean canonical categories.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201168" y="1024128"/>
            <a:ext cx="4251960" cy="3611880"/>
          </a:xfrm>
          <a:prstGeom prst="rect">
            <a:avLst/>
          </a:prstGeom>
          <a:solidFill>
            <a:srgbClr val="080812"/>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310896" y="1115568"/>
            <a:ext cx="4069080" cy="34838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import ast</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5A6A4A"/>
                </a:solidFill>
                <a:effectLst/>
                <a:uLnTx/>
                <a:uFillTx/>
                <a:latin typeface="Consolas" panose="020B0609020204030204" pitchFamily="49" charset="0"/>
                <a:ea typeface="Consolas" pitchFamily="34" charset="-122"/>
                <a:cs typeface="Consolas" pitchFamily="34" charset="-120"/>
              </a:rPr>
              <a:t># Priority lookup table — first match wins</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PRIORITY = [</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('Coffee Shop',  ['Coffee Shop','Coffee Roaster',</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'Cafe, Coffee, and Tea House',...]),</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('Burger Joint', ['Burger Joint']),</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('Fast Food',    ['Fast Food Restaurant',</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'Fried Chicken Joint','Wings Joint',...]),</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('Middle Eastern Restaurant',</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['Middle Eastern Restaurant',</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'Falafel Restaurant','Kebab Restaurant',</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'Lebanese Restaurant','Yemeni Restaurant',...]),</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5A6A4A"/>
                </a:solidFill>
                <a:effectLst/>
                <a:uLnTx/>
                <a:uFillTx/>
                <a:latin typeface="Consolas" panose="020B0609020204030204" pitchFamily="49" charset="0"/>
                <a:ea typeface="Consolas" pitchFamily="34" charset="-122"/>
                <a:cs typeface="Consolas" pitchFamily="34" charset="-120"/>
              </a:rPr>
              <a:t>  # ... 31 more entries</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def assign_canonical(cat_str):</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if not isinstance(cat_str, str): return pd.NA</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try:</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cat_list = ast.literal_eval(cat_str)</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except:</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return pd.NA</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if not cat_list: return pd.NA</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for canonical, tags in PRIORITY:</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for tag in tags:</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if tag in cat_list:</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return canonical   # first match wins</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return cat_list[0]   # fallback: use first tag</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5A6A4A"/>
                </a:solidFill>
                <a:effectLst/>
                <a:uLnTx/>
                <a:uFillTx/>
                <a:latin typeface="Consolas" panose="020B0609020204030204" pitchFamily="49" charset="0"/>
                <a:ea typeface="Consolas" pitchFamily="34" charset="-122"/>
                <a:cs typeface="Consolas" pitchFamily="34" charset="-120"/>
              </a:rPr>
              <a:t># Apply</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df_restaurants['category'] = \</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df_restaurants['category'].apply(assign_canonical)</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5A6A4A"/>
                </a:solidFill>
                <a:effectLst/>
                <a:uLnTx/>
                <a:uFillTx/>
                <a:latin typeface="Consolas" panose="020B0609020204030204" pitchFamily="49" charset="0"/>
                <a:ea typeface="Consolas" pitchFamily="34" charset="-122"/>
                <a:cs typeface="Consolas" pitchFamily="34" charset="-120"/>
              </a:rPr>
              <a:t># Drop unmatched + reset index</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df_restaurants = df_restaurants \</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.dropna(subset=['category']) \</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    .reset_index(drop=True)</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 b="0" i="0" u="none" strike="noStrike" kern="1200" cap="none" spc="0" normalizeH="0" baseline="0" noProof="0" dirty="0">
                <a:ln>
                  <a:noFill/>
                </a:ln>
                <a:solidFill>
                  <a:srgbClr val="E0E0FF"/>
                </a:solidFill>
                <a:effectLst/>
                <a:uLnTx/>
                <a:uFillTx/>
                <a:latin typeface="Consolas" panose="020B0609020204030204" pitchFamily="49" charset="0"/>
                <a:ea typeface="Consolas" pitchFamily="34" charset="-122"/>
                <a:cs typeface="Consolas" pitchFamily="34" charset="-120"/>
              </a:rPr>
              <a:t>df_restaurants['category'].nunique()  # → 35</a:t>
            </a:r>
            <a:endParaRPr kumimoji="0" lang="en-US" sz="580" b="0" i="0" u="none" strike="noStrike" kern="1200" cap="none" spc="0" normalizeH="0" baseline="0" noProof="0" dirty="0">
              <a:ln>
                <a:noFill/>
              </a:ln>
              <a:solidFill>
                <a:prstClr val="black"/>
              </a:solidFill>
              <a:effectLst/>
              <a:uLnTx/>
              <a:uFillTx/>
              <a:latin typeface="Consolas" panose="020B0609020204030204" pitchFamily="49" charset="0"/>
            </a:endParaRPr>
          </a:p>
        </p:txBody>
      </p:sp>
      <p:sp>
        <p:nvSpPr>
          <p:cNvPr id="7" name="Shape 5"/>
          <p:cNvSpPr/>
          <p:nvPr/>
        </p:nvSpPr>
        <p:spPr>
          <a:xfrm>
            <a:off x="4663440" y="731520"/>
            <a:ext cx="45720" cy="237744"/>
          </a:xfrm>
          <a:prstGeom prst="rect">
            <a:avLst/>
          </a:prstGeom>
          <a:solidFill>
            <a:srgbClr val="00D4FF"/>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4773168" y="731520"/>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D4FF"/>
                </a:solidFill>
                <a:effectLst/>
                <a:uLnTx/>
                <a:uFillTx/>
                <a:latin typeface="Calibri" pitchFamily="34" charset="0"/>
                <a:ea typeface="Calibri" pitchFamily="34" charset="-122"/>
                <a:cs typeface="Calibri" pitchFamily="34" charset="-120"/>
              </a:rPr>
              <a:t>Before &amp; after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663440" y="987552"/>
            <a:ext cx="4279392" cy="1417320"/>
          </a:xfrm>
          <a:prstGeom prst="rect">
            <a:avLst/>
          </a:prstGeom>
          <a:solidFill>
            <a:srgbClr val="080812"/>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4773168" y="1078992"/>
            <a:ext cx="4096512" cy="12893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BEFORE — 216 unique combinations:</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"['Coffee Shop', 'Breakfast Spot']"  → 891</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"['Coffee Shop']"                    → 763</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"['Middle Eastern', 'Fast Food']"    → 412</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Same type counted as 3 separate buckets</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663440" y="2450592"/>
            <a:ext cx="4279392" cy="1417320"/>
          </a:xfrm>
          <a:prstGeom prst="rect">
            <a:avLst/>
          </a:prstGeom>
          <a:solidFill>
            <a:srgbClr val="080812"/>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773168" y="2542032"/>
            <a:ext cx="4096512" cy="12893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AFTER — 35 clean categories:</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Coffee Shop                → 2,050</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Burger Joint               →   640</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Middle Eastern Restaurant  →   420</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All Coffee Shops unified ✓</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663440" y="3968496"/>
            <a:ext cx="45720" cy="237744"/>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4773168" y="3968496"/>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Why PRIORITY order matters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4663440" y="4224528"/>
            <a:ext cx="4279392"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A venue tagged ['Coffee Shop', 'Lounge'] should be classified as Coffee Shop, not Lounge. The PRIORITY list is ordered by specificity — Coffee Shop appears before Lounge &amp; Hookah Bar. The first match wins, so more specific categories take precedence.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0D17"/>
        </a:solidFill>
        <a:effectLst/>
      </p:bgPr>
    </p:bg>
    <p:spTree>
      <p:nvGrpSpPr>
        <p:cNvPr id="1" name=""/>
        <p:cNvGrpSpPr/>
        <p:nvPr/>
      </p:nvGrpSpPr>
      <p:grpSpPr>
        <a:xfrm>
          <a:off x="0" y="0"/>
          <a:ext cx="0" cy="0"/>
          <a:chOff x="0" y="0"/>
          <a:chExt cx="0" cy="0"/>
        </a:xfrm>
      </p:grpSpPr>
      <p:sp>
        <p:nvSpPr>
          <p:cNvPr id="2" name="Text 0"/>
          <p:cNvSpPr/>
          <p:nvPr/>
        </p:nvSpPr>
        <p:spPr>
          <a:xfrm>
            <a:off x="201168" y="91440"/>
            <a:ext cx="8741664"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6.  Spatial Join — Assign Neighborhoods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1168" y="621792"/>
            <a:ext cx="8741664" cy="18288"/>
          </a:xfrm>
          <a:prstGeom prst="rect">
            <a:avLst/>
          </a:prstGeom>
          <a:solidFill>
            <a:srgbClr val="1E1E2E"/>
          </a:solidFill>
          <a:ln w="1270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201168" y="731520"/>
            <a:ext cx="8741664" cy="2560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Each restaurant needs a neighborhood name. We use a GeoJSON file of Riyadh districts and GeoPandas to match GPS coordinates to district polygons.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201168" y="1024128"/>
            <a:ext cx="5029200" cy="3474720"/>
          </a:xfrm>
          <a:prstGeom prst="rect">
            <a:avLst/>
          </a:prstGeom>
          <a:solidFill>
            <a:srgbClr val="080812"/>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310896" y="1115568"/>
            <a:ext cx="4846320" cy="33467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Validate coordinates first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df_restaurants['latitude']  = pd.to_numeric(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df_restaurants['latitude'],  errors='coerce')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df_restaurants['longitude'] = pd.to_numeric(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df_restaurants['longitude'], errors='coerce')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df_restaurants = df_restaurants.dropna(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subset=['latitude','longitude']).reset_index(drop=True)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550" b="1" dirty="0">
              <a:solidFill>
                <a:schemeClr val="bg1"/>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Load Riyadh district polygons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districts = gpd.read_file('districts.geojson')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riyadh_districts = districts[districts['city_id']==3]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riyadh_districts = riyadh_districts.to_crs('EPSG:4326')</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550" b="1" dirty="0">
              <a:solidFill>
                <a:schemeClr val="bg1"/>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Convert restaurants to GeoDataFrame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gdf = gpd.GeoDataFrame(df_restaurants,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geometry=gpd.points_from_xy(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df_restaurants['longitude'],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df_restaurants['latitude']),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crs='EPSG:4326')</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550" b="1" dirty="0">
              <a:solidFill>
                <a:schemeClr val="bg1"/>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Spatial join — exact polygon match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joined = gpd.sjoin(gdf,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riyadh_districts[['name_en','geometry']],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how='left', predicate='within')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550" b="1" dirty="0">
              <a:solidFill>
                <a:schemeClr val="bg1"/>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Fallback — nearest district for unmatched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missing = joined['name_en'].isna()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if missing.sum() &gt; 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nearest = gpd.sjoin_nearest(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gdf[missing].to_crs(epsg=32638),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riyadh_districts.to_crs(epsg=32638),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how='left')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joined.loc[nearest.index,'name_en'] = nearest['name_en'].values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550" b="1" dirty="0">
              <a:solidFill>
                <a:schemeClr val="bg1"/>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Assign back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df_restaurants['neighborhoods'] = joined['name_en'].values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550" b="1" dirty="0">
              <a:solidFill>
                <a:schemeClr val="bg1"/>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Result: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Exact match:   10,418 / 11,187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b="1" dirty="0">
                <a:solidFill>
                  <a:schemeClr val="bg1"/>
                </a:solidFill>
                <a:latin typeface="Consolas" panose="020B0609020204030204" pitchFamily="49" charset="0"/>
              </a:rPr>
              <a:t># After fallback: 0 still missing</a:t>
            </a:r>
          </a:p>
        </p:txBody>
      </p:sp>
      <p:sp>
        <p:nvSpPr>
          <p:cNvPr id="7" name="Shape 5"/>
          <p:cNvSpPr/>
          <p:nvPr/>
        </p:nvSpPr>
        <p:spPr>
          <a:xfrm>
            <a:off x="5486400" y="731520"/>
            <a:ext cx="45720" cy="237744"/>
          </a:xfrm>
          <a:prstGeom prst="rect">
            <a:avLst/>
          </a:prstGeom>
          <a:solidFill>
            <a:srgbClr val="4ADE80"/>
          </a:solidFill>
          <a:ln w="12700">
            <a:solidFill>
              <a:srgbClr val="4ADE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596128" y="731520"/>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4ADE80"/>
                </a:solidFill>
                <a:effectLst/>
                <a:uLnTx/>
                <a:uFillTx/>
                <a:latin typeface="Calibri" pitchFamily="34" charset="0"/>
                <a:ea typeface="Calibri" pitchFamily="34" charset="-122"/>
                <a:cs typeface="Calibri" pitchFamily="34" charset="-120"/>
              </a:rPr>
              <a:t>Results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486400" y="987552"/>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5486400" y="987552"/>
            <a:ext cx="45720" cy="621792"/>
          </a:xfrm>
          <a:prstGeom prst="rect">
            <a:avLst/>
          </a:prstGeom>
          <a:solidFill>
            <a:srgbClr val="4ADE80"/>
          </a:solidFill>
          <a:ln w="12700">
            <a:solidFill>
              <a:srgbClr val="4ADE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5596128" y="1042416"/>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4ADE80"/>
                </a:solidFill>
                <a:effectLst/>
                <a:uLnTx/>
                <a:uFillTx/>
                <a:latin typeface="Calibri" pitchFamily="34" charset="0"/>
                <a:ea typeface="Calibri" pitchFamily="34" charset="-122"/>
                <a:cs typeface="Calibri" pitchFamily="34" charset="-120"/>
              </a:rPr>
              <a:t>Exact polygon match</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596128" y="1243584"/>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10,418 / 11,187</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5486400" y="1700784"/>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5486400" y="1700784"/>
            <a:ext cx="45720" cy="621792"/>
          </a:xfrm>
          <a:prstGeom prst="rect">
            <a:avLst/>
          </a:prstGeom>
          <a:solidFill>
            <a:srgbClr val="FACC15"/>
          </a:solidFill>
          <a:ln w="12700">
            <a:solidFill>
              <a:srgbClr val="FACC1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5596128" y="1755648"/>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ACC15"/>
                </a:solidFill>
                <a:effectLst/>
                <a:uLnTx/>
                <a:uFillTx/>
                <a:latin typeface="Calibri" pitchFamily="34" charset="0"/>
                <a:ea typeface="Calibri" pitchFamily="34" charset="-122"/>
                <a:cs typeface="Calibri" pitchFamily="34" charset="-120"/>
              </a:rPr>
              <a:t>Nearest-neighbor fallback</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5596128" y="1956816"/>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769 venues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5486400" y="2414016"/>
            <a:ext cx="34564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5486400" y="2414016"/>
            <a:ext cx="45720" cy="621792"/>
          </a:xfrm>
          <a:prstGeom prst="rect">
            <a:avLst/>
          </a:prstGeom>
          <a:solidFill>
            <a:srgbClr val="4ADE80"/>
          </a:solidFill>
          <a:ln w="12700">
            <a:solidFill>
              <a:srgbClr val="4ADE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5596128" y="2468880"/>
            <a:ext cx="3310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4ADE80"/>
                </a:solidFill>
                <a:effectLst/>
                <a:uLnTx/>
                <a:uFillTx/>
                <a:latin typeface="Calibri" pitchFamily="34" charset="0"/>
                <a:ea typeface="Calibri" pitchFamily="34" charset="-122"/>
                <a:cs typeface="Calibri" pitchFamily="34" charset="-120"/>
              </a:rPr>
              <a:t>Still unassigned after fallback</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5596128" y="2670048"/>
            <a:ext cx="33101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5486400" y="3154680"/>
            <a:ext cx="45720" cy="237744"/>
          </a:xfrm>
          <a:prstGeom prst="rect">
            <a:avLst/>
          </a:prstGeom>
          <a:solidFill>
            <a:srgbClr val="00D4FF"/>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5596128" y="3154680"/>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D4FF"/>
                </a:solidFill>
                <a:effectLst/>
                <a:uLnTx/>
                <a:uFillTx/>
                <a:latin typeface="Calibri" pitchFamily="34" charset="0"/>
                <a:ea typeface="Calibri" pitchFamily="34" charset="-122"/>
                <a:cs typeface="Calibri" pitchFamily="34" charset="-120"/>
              </a:rPr>
              <a:t>Why nearest-neighbor fallback?</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5486400" y="3401568"/>
            <a:ext cx="3456432"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769 GPS points fell just outside polygon boundaries — common with GPS jitter near district edges. sjoin_nearest assigns each point to the closest district centroid, ensuring every venue gets a valid neighborhood with no data loss.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5486400" y="4315968"/>
            <a:ext cx="45720" cy="237744"/>
          </a:xfrm>
          <a:prstGeom prst="rect">
            <a:avLst/>
          </a:prstGeom>
          <a:solidFill>
            <a:srgbClr val="F472B6"/>
          </a:solidFill>
          <a:ln w="12700">
            <a:solidFill>
              <a:srgbClr val="F472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5596128" y="4315968"/>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472B6"/>
                </a:solidFill>
                <a:effectLst/>
                <a:uLnTx/>
                <a:uFillTx/>
                <a:latin typeface="Calibri" pitchFamily="34" charset="0"/>
                <a:ea typeface="Calibri" pitchFamily="34" charset="-122"/>
                <a:cs typeface="Calibri" pitchFamily="34" charset="-120"/>
              </a:rPr>
              <a:t>Critical: run AFTER category normalization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5486400" y="4553712"/>
            <a:ext cx="3456432"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Neighborhoods must be assigned after dropna + reset_index. Running it before causes index length mismatch → all neighborhoods become wrong.</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D17"/>
        </a:solidFill>
        <a:effectLst/>
      </p:bgPr>
    </p:bg>
    <p:spTree>
      <p:nvGrpSpPr>
        <p:cNvPr id="1" name=""/>
        <p:cNvGrpSpPr/>
        <p:nvPr/>
      </p:nvGrpSpPr>
      <p:grpSpPr>
        <a:xfrm>
          <a:off x="0" y="0"/>
          <a:ext cx="0" cy="0"/>
          <a:chOff x="0" y="0"/>
          <a:chExt cx="0" cy="0"/>
        </a:xfrm>
      </p:grpSpPr>
      <p:sp>
        <p:nvSpPr>
          <p:cNvPr id="2" name="Text 0"/>
          <p:cNvSpPr/>
          <p:nvPr/>
        </p:nvSpPr>
        <p:spPr>
          <a:xfrm>
            <a:off x="201168" y="91440"/>
            <a:ext cx="8741664"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  Final Dataset — Shape Check &amp; Summary</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1168" y="621792"/>
            <a:ext cx="8741664" cy="18288"/>
          </a:xfrm>
          <a:prstGeom prst="rect">
            <a:avLst/>
          </a:prstGeom>
          <a:solidFill>
            <a:srgbClr val="1E1E2E"/>
          </a:solidFill>
          <a:ln w="1270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201168" y="749808"/>
            <a:ext cx="5029200" cy="2560320"/>
          </a:xfrm>
          <a:prstGeom prst="rect">
            <a:avLst/>
          </a:prstGeom>
          <a:solidFill>
            <a:srgbClr val="080812"/>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310896" y="841248"/>
            <a:ext cx="4846320" cy="24323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Final verification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print(df_restaurants.shape)   # (11187, 18)</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print(df_restaurants.columns.tolist())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['fsq_id','name','latitude','longitude','address',</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'category','date_created','name_clean',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'suspicious_name','price','rating','total_photos',</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'total_ratings','total_tips','tastes','tips',</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'price_level','neighborhoods']</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df_restaurants.isnull().sum()</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latitude:     0  ✓</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longitude:    0  ✓</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category:     0  ✓</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total_photos: 0  ✓</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total_tips:   0  ✓</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price:     1028  (acceptable — kept as NaN)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rating:    5876  (acceptable — kept as NaN)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date_created: 1  (kept — valid restaurant)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0E0FF"/>
                </a:solidFill>
                <a:effectLst/>
                <a:uLnTx/>
                <a:uFillTx/>
                <a:latin typeface="Consolas" pitchFamily="34" charset="0"/>
                <a:ea typeface="Consolas" pitchFamily="34" charset="-122"/>
                <a:cs typeface="Consolas" pitchFamily="34" charset="-120"/>
              </a:rPr>
              <a:t>df_restaurants.describe()</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rating range: 4.7 – 9.6</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total_photos min: 0.0  ✓  (fixed)</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A6A4A"/>
                </a:solidFill>
                <a:effectLst/>
                <a:uLnTx/>
                <a:uFillTx/>
                <a:latin typeface="Consolas" pitchFamily="34" charset="0"/>
                <a:ea typeface="Consolas" pitchFamily="34" charset="-122"/>
                <a:cs typeface="Consolas" pitchFamily="34" charset="-120"/>
              </a:rPr>
              <a:t># price_level: 0 – 4</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486400" y="749808"/>
            <a:ext cx="45720" cy="237744"/>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5596128" y="749808"/>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Pipeline summary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5486400" y="749808"/>
            <a:ext cx="3456432" cy="457200"/>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5486400" y="749808"/>
            <a:ext cx="45720" cy="45720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596128" y="777240"/>
            <a:ext cx="640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Step 1</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596128" y="932688"/>
            <a:ext cx="32461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Load → inspect shape, types, ranges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486400" y="1261872"/>
            <a:ext cx="3456432" cy="457200"/>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5486400" y="1261872"/>
            <a:ext cx="45720" cy="457200"/>
          </a:xfrm>
          <a:prstGeom prst="rect">
            <a:avLst/>
          </a:prstGeom>
          <a:solidFill>
            <a:srgbClr val="00D4FF"/>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5596128" y="1289304"/>
            <a:ext cx="640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00D4FF"/>
                </a:solidFill>
                <a:effectLst/>
                <a:uLnTx/>
                <a:uFillTx/>
                <a:latin typeface="Calibri" pitchFamily="34" charset="0"/>
                <a:ea typeface="Calibri" pitchFamily="34" charset="-122"/>
                <a:cs typeface="Calibri" pitchFamily="34" charset="-120"/>
              </a:rPr>
              <a:t>Step 2</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5596128" y="1444752"/>
            <a:ext cx="32461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Fix fake nulls in tips &amp; tastes ('[]' → NaN)</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486400" y="1773936"/>
            <a:ext cx="3456432" cy="457200"/>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486400" y="1773936"/>
            <a:ext cx="45720" cy="457200"/>
          </a:xfrm>
          <a:prstGeom prst="rect">
            <a:avLst/>
          </a:prstGeom>
          <a:solidFill>
            <a:srgbClr val="4ADE80"/>
          </a:solidFill>
          <a:ln w="12700">
            <a:solidFill>
              <a:srgbClr val="4ADE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596128" y="1801368"/>
            <a:ext cx="640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4ADE80"/>
                </a:solidFill>
                <a:effectLst/>
                <a:uLnTx/>
                <a:uFillTx/>
                <a:latin typeface="Calibri" pitchFamily="34" charset="0"/>
                <a:ea typeface="Calibri" pitchFamily="34" charset="-122"/>
                <a:cs typeface="Calibri" pitchFamily="34" charset="-120"/>
              </a:rPr>
              <a:t>Step 3</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596128" y="1956816"/>
            <a:ext cx="32461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Drop Unnamed:0 · fillna(0) · clip negatives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486400" y="2286000"/>
            <a:ext cx="3456432" cy="457200"/>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5486400" y="2286000"/>
            <a:ext cx="45720" cy="457200"/>
          </a:xfrm>
          <a:prstGeom prst="rect">
            <a:avLst/>
          </a:prstGeom>
          <a:solidFill>
            <a:srgbClr val="FACC15"/>
          </a:solidFill>
          <a:ln w="12700">
            <a:solidFill>
              <a:srgbClr val="FACC1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5596128" y="2313432"/>
            <a:ext cx="640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FACC15"/>
                </a:solidFill>
                <a:effectLst/>
                <a:uLnTx/>
                <a:uFillTx/>
                <a:latin typeface="Calibri" pitchFamily="34" charset="0"/>
                <a:ea typeface="Calibri" pitchFamily="34" charset="-122"/>
                <a:cs typeface="Calibri" pitchFamily="34" charset="-120"/>
              </a:rPr>
              <a:t>Step 4</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5596128" y="2468880"/>
            <a:ext cx="32461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Filter 27K → 11,187 with 53 food keywords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5486400" y="2798064"/>
            <a:ext cx="3456432" cy="457200"/>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5486400" y="2798064"/>
            <a:ext cx="45720" cy="457200"/>
          </a:xfrm>
          <a:prstGeom prst="rect">
            <a:avLst/>
          </a:prstGeom>
          <a:solidFill>
            <a:srgbClr val="F472B6"/>
          </a:solidFill>
          <a:ln w="12700">
            <a:solidFill>
              <a:srgbClr val="F472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5596128" y="2825496"/>
            <a:ext cx="640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F472B6"/>
                </a:solidFill>
                <a:effectLst/>
                <a:uLnTx/>
                <a:uFillTx/>
                <a:latin typeface="Calibri" pitchFamily="34" charset="0"/>
                <a:ea typeface="Calibri" pitchFamily="34" charset="-122"/>
                <a:cs typeface="Calibri" pitchFamily="34" charset="-120"/>
              </a:rPr>
              <a:t>Step 4b</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5596128" y="2980944"/>
            <a:ext cx="32461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Encode price_level from $ signs (use df_r!)</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5486400" y="3310128"/>
            <a:ext cx="3456432" cy="457200"/>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5486400" y="3310128"/>
            <a:ext cx="45720" cy="457200"/>
          </a:xfrm>
          <a:prstGeom prst="rect">
            <a:avLst/>
          </a:prstGeom>
          <a:solidFill>
            <a:srgbClr val="A78BFA"/>
          </a:solidFill>
          <a:ln w="12700">
            <a:solidFill>
              <a:srgbClr val="A78B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5596128" y="3337560"/>
            <a:ext cx="640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A78BFA"/>
                </a:solidFill>
                <a:effectLst/>
                <a:uLnTx/>
                <a:uFillTx/>
                <a:latin typeface="Calibri" pitchFamily="34" charset="0"/>
                <a:ea typeface="Calibri" pitchFamily="34" charset="-122"/>
                <a:cs typeface="Calibri" pitchFamily="34" charset="-120"/>
              </a:rPr>
              <a:t>Step 5</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5596128" y="3493008"/>
            <a:ext cx="32461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Normalize 216 raw tags → 35 categories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5486400" y="3822192"/>
            <a:ext cx="3456432" cy="457200"/>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5486400" y="3822192"/>
            <a:ext cx="45720" cy="45720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5596128" y="3849624"/>
            <a:ext cx="640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Step 6</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5596128" y="4005072"/>
            <a:ext cx="32461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Spatial join → assign neighborhoods (run last)</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7" name="Group 56">
            <a:extLst>
              <a:ext uri="{FF2B5EF4-FFF2-40B4-BE49-F238E27FC236}">
                <a16:creationId xmlns:a16="http://schemas.microsoft.com/office/drawing/2014/main" id="{888A4033-2507-8BCF-A3B5-3EA41287A272}"/>
              </a:ext>
            </a:extLst>
          </p:cNvPr>
          <p:cNvGrpSpPr/>
          <p:nvPr/>
        </p:nvGrpSpPr>
        <p:grpSpPr>
          <a:xfrm>
            <a:off x="201168" y="3401568"/>
            <a:ext cx="5138928" cy="676656"/>
            <a:chOff x="201168" y="3401568"/>
            <a:chExt cx="8650224" cy="621792"/>
          </a:xfrm>
        </p:grpSpPr>
        <p:sp>
          <p:nvSpPr>
            <p:cNvPr id="36" name="Shape 34"/>
            <p:cNvSpPr/>
            <p:nvPr/>
          </p:nvSpPr>
          <p:spPr>
            <a:xfrm>
              <a:off x="201168" y="3401568"/>
              <a:ext cx="16276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p:cNvSpPr/>
            <p:nvPr/>
          </p:nvSpPr>
          <p:spPr>
            <a:xfrm>
              <a:off x="201168" y="3401568"/>
              <a:ext cx="45720" cy="621792"/>
            </a:xfrm>
            <a:prstGeom prst="rect">
              <a:avLst/>
            </a:prstGeom>
            <a:solidFill>
              <a:srgbClr val="4ADE80"/>
            </a:solidFill>
            <a:ln w="12700">
              <a:solidFill>
                <a:srgbClr val="4ADE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310896" y="3456432"/>
              <a:ext cx="14813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4ADE80"/>
                  </a:solidFill>
                  <a:effectLst/>
                  <a:uLnTx/>
                  <a:uFillTx/>
                  <a:latin typeface="Calibri" pitchFamily="34" charset="0"/>
                  <a:ea typeface="Calibri" pitchFamily="34" charset="-122"/>
                  <a:cs typeface="Calibri" pitchFamily="34" charset="-120"/>
                </a:rPr>
                <a:t>Final rows</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310896" y="3657600"/>
              <a:ext cx="14813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11,187</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1956816" y="3401568"/>
              <a:ext cx="16276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p:cNvSpPr/>
            <p:nvPr/>
          </p:nvSpPr>
          <p:spPr>
            <a:xfrm>
              <a:off x="1956816" y="3401568"/>
              <a:ext cx="45720" cy="621792"/>
            </a:xfrm>
            <a:prstGeom prst="rect">
              <a:avLst/>
            </a:prstGeom>
            <a:solidFill>
              <a:srgbClr val="00D4FF"/>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p:cNvSpPr/>
            <p:nvPr/>
          </p:nvSpPr>
          <p:spPr>
            <a:xfrm>
              <a:off x="2066544" y="3456432"/>
              <a:ext cx="14813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D4FF"/>
                  </a:solidFill>
                  <a:effectLst/>
                  <a:uLnTx/>
                  <a:uFillTx/>
                  <a:latin typeface="Calibri" pitchFamily="34" charset="0"/>
                  <a:ea typeface="Calibri" pitchFamily="34" charset="-122"/>
                  <a:cs typeface="Calibri" pitchFamily="34" charset="-120"/>
                </a:rPr>
                <a:t>Columns</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p:cNvSpPr/>
            <p:nvPr/>
          </p:nvSpPr>
          <p:spPr>
            <a:xfrm>
              <a:off x="2066544" y="3657600"/>
              <a:ext cx="14813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18</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2"/>
            <p:cNvSpPr/>
            <p:nvPr/>
          </p:nvSpPr>
          <p:spPr>
            <a:xfrm>
              <a:off x="3712464" y="3401568"/>
              <a:ext cx="16276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p:cNvSpPr/>
            <p:nvPr/>
          </p:nvSpPr>
          <p:spPr>
            <a:xfrm>
              <a:off x="3712464" y="3401568"/>
              <a:ext cx="45720" cy="621792"/>
            </a:xfrm>
            <a:prstGeom prst="rect">
              <a:avLst/>
            </a:prstGeom>
            <a:solidFill>
              <a:srgbClr val="FACC15"/>
            </a:solidFill>
            <a:ln w="12700">
              <a:solidFill>
                <a:srgbClr val="FACC1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p:cNvSpPr/>
            <p:nvPr/>
          </p:nvSpPr>
          <p:spPr>
            <a:xfrm>
              <a:off x="3822192" y="3456432"/>
              <a:ext cx="14813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ACC15"/>
                  </a:solidFill>
                  <a:effectLst/>
                  <a:uLnTx/>
                  <a:uFillTx/>
                  <a:latin typeface="Calibri" pitchFamily="34" charset="0"/>
                  <a:ea typeface="Calibri" pitchFamily="34" charset="-122"/>
                  <a:cs typeface="Calibri" pitchFamily="34" charset="-120"/>
                </a:rPr>
                <a:t>Rated venues</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5"/>
            <p:cNvSpPr/>
            <p:nvPr/>
          </p:nvSpPr>
          <p:spPr>
            <a:xfrm>
              <a:off x="3822192" y="3657600"/>
              <a:ext cx="14813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5,311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46"/>
            <p:cNvSpPr/>
            <p:nvPr/>
          </p:nvSpPr>
          <p:spPr>
            <a:xfrm>
              <a:off x="5468112" y="3401568"/>
              <a:ext cx="16276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p:cNvSpPr/>
            <p:nvPr/>
          </p:nvSpPr>
          <p:spPr>
            <a:xfrm>
              <a:off x="5468112" y="3401568"/>
              <a:ext cx="45720" cy="621792"/>
            </a:xfrm>
            <a:prstGeom prst="rect">
              <a:avLst/>
            </a:prstGeom>
            <a:solidFill>
              <a:srgbClr val="A78BFA"/>
            </a:solidFill>
            <a:ln w="12700">
              <a:solidFill>
                <a:srgbClr val="A78B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8"/>
            <p:cNvSpPr/>
            <p:nvPr/>
          </p:nvSpPr>
          <p:spPr>
            <a:xfrm>
              <a:off x="5577840" y="3456432"/>
              <a:ext cx="14813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A78BFA"/>
                  </a:solidFill>
                  <a:effectLst/>
                  <a:uLnTx/>
                  <a:uFillTx/>
                  <a:latin typeface="Calibri" pitchFamily="34" charset="0"/>
                  <a:ea typeface="Calibri" pitchFamily="34" charset="-122"/>
                  <a:cs typeface="Calibri" pitchFamily="34" charset="-120"/>
                </a:rPr>
                <a:t>Categories</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9"/>
            <p:cNvSpPr/>
            <p:nvPr/>
          </p:nvSpPr>
          <p:spPr>
            <a:xfrm>
              <a:off x="5577840" y="3657600"/>
              <a:ext cx="14813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Shape 50"/>
            <p:cNvSpPr/>
            <p:nvPr/>
          </p:nvSpPr>
          <p:spPr>
            <a:xfrm>
              <a:off x="7223760" y="3401568"/>
              <a:ext cx="1627632" cy="621792"/>
            </a:xfrm>
            <a:prstGeom prst="rect">
              <a:avLst/>
            </a:prstGeom>
            <a:solidFill>
              <a:srgbClr val="12121E"/>
            </a:solidFill>
            <a:ln w="7620">
              <a:solidFill>
                <a:srgbClr val="1E1E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p:cNvSpPr/>
            <p:nvPr/>
          </p:nvSpPr>
          <p:spPr>
            <a:xfrm>
              <a:off x="7223760" y="3401568"/>
              <a:ext cx="45720" cy="62179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p:cNvSpPr/>
            <p:nvPr/>
          </p:nvSpPr>
          <p:spPr>
            <a:xfrm>
              <a:off x="7333488" y="3456432"/>
              <a:ext cx="14813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Neighborhoods</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3"/>
            <p:cNvSpPr/>
            <p:nvPr/>
          </p:nvSpPr>
          <p:spPr>
            <a:xfrm>
              <a:off x="7333488" y="3657600"/>
              <a:ext cx="148132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128</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56" name="Text 54"/>
          <p:cNvSpPr/>
          <p:nvPr/>
        </p:nvSpPr>
        <p:spPr>
          <a:xfrm>
            <a:off x="201168" y="4526994"/>
            <a:ext cx="8741664" cy="29925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090C8"/>
                </a:solidFill>
                <a:effectLst/>
                <a:uLnTx/>
                <a:uFillTx/>
                <a:latin typeface="Calibri" pitchFamily="34" charset="0"/>
                <a:ea typeface="Calibri" pitchFamily="34" charset="-122"/>
                <a:cs typeface="Calibri" pitchFamily="34" charset="-120"/>
              </a:rPr>
              <a:t>The dataset is now clean and ready for EDA and ML. Missing values in price (1,028) and rating (5,876) are kept intentionally — imputing them would introduce false signal. All structural columns (coordinates, category, neighborhoods, price_level) are complete with zero nulls.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EDA · Rating Distribution</a:t>
            </a:r>
            <a:endParaRPr lang="en-US" sz="2600" dirty="0"/>
          </a:p>
        </p:txBody>
      </p:sp>
      <p:sp>
        <p:nvSpPr>
          <p:cNvPr id="4" name="Shape 2"/>
          <p:cNvSpPr/>
          <p:nvPr/>
        </p:nvSpPr>
        <p:spPr>
          <a:xfrm>
            <a:off x="228600" y="868680"/>
            <a:ext cx="5303520" cy="356616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graphicFrame>
        <p:nvGraphicFramePr>
          <p:cNvPr id="5" name="Chart 0"/>
          <p:cNvGraphicFramePr/>
          <p:nvPr>
            <p:extLst>
              <p:ext uri="{D42A27DB-BD31-4B8C-83A1-F6EECF244321}">
                <p14:modId xmlns:p14="http://schemas.microsoft.com/office/powerpoint/2010/main" val="630520770"/>
              </p:ext>
            </p:extLst>
          </p:nvPr>
        </p:nvGraphicFramePr>
        <p:xfrm>
          <a:off x="497771" y="923544"/>
          <a:ext cx="4765177" cy="3127248"/>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60720" y="868680"/>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7" name="Text 4"/>
          <p:cNvSpPr/>
          <p:nvPr/>
        </p:nvSpPr>
        <p:spPr>
          <a:xfrm>
            <a:off x="5760720" y="868680"/>
            <a:ext cx="1828800" cy="228600"/>
          </a:xfrm>
          <a:prstGeom prst="rect">
            <a:avLst/>
          </a:prstGeom>
          <a:noFill/>
          <a:ln/>
        </p:spPr>
        <p:txBody>
          <a:bodyPr wrap="square" rtlCol="0" anchor="ctr"/>
          <a:lstStyle/>
          <a:p>
            <a:pPr marL="0" indent="0" algn="ctr">
              <a:buNone/>
            </a:pPr>
            <a:r>
              <a:rPr lang="en-US" sz="800" b="1" kern="0" spc="200" dirty="0">
                <a:solidFill>
                  <a:srgbClr val="FF6B35"/>
                </a:solidFill>
              </a:rPr>
              <a:t>KEY STATISTICS</a:t>
            </a:r>
            <a:endParaRPr lang="en-US" sz="800" dirty="0"/>
          </a:p>
        </p:txBody>
      </p:sp>
      <p:sp>
        <p:nvSpPr>
          <p:cNvPr id="8" name="Shape 5"/>
          <p:cNvSpPr/>
          <p:nvPr/>
        </p:nvSpPr>
        <p:spPr>
          <a:xfrm>
            <a:off x="5760720" y="1188720"/>
            <a:ext cx="3108960" cy="68580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9" name="Text 6"/>
          <p:cNvSpPr/>
          <p:nvPr/>
        </p:nvSpPr>
        <p:spPr>
          <a:xfrm>
            <a:off x="5760720" y="1216152"/>
            <a:ext cx="1097280" cy="640080"/>
          </a:xfrm>
          <a:prstGeom prst="rect">
            <a:avLst/>
          </a:prstGeom>
          <a:noFill/>
          <a:ln/>
        </p:spPr>
        <p:txBody>
          <a:bodyPr wrap="square" rtlCol="0" anchor="ctr"/>
          <a:lstStyle/>
          <a:p>
            <a:pPr marL="0" indent="0" algn="ctr">
              <a:buNone/>
            </a:pPr>
            <a:r>
              <a:rPr lang="en-US" sz="2200" b="1" dirty="0">
                <a:solidFill>
                  <a:srgbClr val="FF6B35"/>
                </a:solidFill>
                <a:latin typeface="Trebuchet MS" pitchFamily="34" charset="0"/>
                <a:ea typeface="Trebuchet MS" pitchFamily="34" charset="-122"/>
                <a:cs typeface="Trebuchet MS" pitchFamily="34" charset="-120"/>
              </a:rPr>
              <a:t>7.82</a:t>
            </a:r>
            <a:endParaRPr lang="en-US" sz="2200" dirty="0"/>
          </a:p>
        </p:txBody>
      </p:sp>
      <p:sp>
        <p:nvSpPr>
          <p:cNvPr id="10" name="Text 7"/>
          <p:cNvSpPr/>
          <p:nvPr/>
        </p:nvSpPr>
        <p:spPr>
          <a:xfrm>
            <a:off x="6903720" y="1261872"/>
            <a:ext cx="1920240" cy="548640"/>
          </a:xfrm>
          <a:prstGeom prst="rect">
            <a:avLst/>
          </a:prstGeom>
          <a:noFill/>
          <a:ln/>
        </p:spPr>
        <p:txBody>
          <a:bodyPr wrap="square" rtlCol="0" anchor="ctr"/>
          <a:lstStyle/>
          <a:p>
            <a:pPr marL="0" indent="0">
              <a:buNone/>
            </a:pPr>
            <a:r>
              <a:rPr lang="en-US" sz="900" dirty="0">
                <a:solidFill>
                  <a:srgbClr val="6060A0"/>
                </a:solidFill>
              </a:rPr>
              <a:t>Mean Rating</a:t>
            </a:r>
            <a:endParaRPr lang="en-US" sz="900" dirty="0"/>
          </a:p>
        </p:txBody>
      </p:sp>
      <p:sp>
        <p:nvSpPr>
          <p:cNvPr id="11" name="Shape 8"/>
          <p:cNvSpPr/>
          <p:nvPr/>
        </p:nvSpPr>
        <p:spPr>
          <a:xfrm>
            <a:off x="5760720" y="1993392"/>
            <a:ext cx="3108960" cy="68580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12" name="Text 9"/>
          <p:cNvSpPr/>
          <p:nvPr/>
        </p:nvSpPr>
        <p:spPr>
          <a:xfrm>
            <a:off x="5760720" y="2020824"/>
            <a:ext cx="1097280" cy="640080"/>
          </a:xfrm>
          <a:prstGeom prst="rect">
            <a:avLst/>
          </a:prstGeom>
          <a:noFill/>
          <a:ln/>
        </p:spPr>
        <p:txBody>
          <a:bodyPr wrap="square" rtlCol="0" anchor="ctr"/>
          <a:lstStyle/>
          <a:p>
            <a:pPr marL="0" indent="0" algn="ctr">
              <a:buNone/>
            </a:pPr>
            <a:r>
              <a:rPr lang="en-US" sz="2200" b="1" dirty="0">
                <a:solidFill>
                  <a:srgbClr val="00D4FF"/>
                </a:solidFill>
                <a:latin typeface="Trebuchet MS" pitchFamily="34" charset="0"/>
                <a:ea typeface="Trebuchet MS" pitchFamily="34" charset="-122"/>
                <a:cs typeface="Trebuchet MS" pitchFamily="34" charset="-120"/>
              </a:rPr>
              <a:t>7.90</a:t>
            </a:r>
            <a:endParaRPr lang="en-US" sz="2200" dirty="0"/>
          </a:p>
        </p:txBody>
      </p:sp>
      <p:sp>
        <p:nvSpPr>
          <p:cNvPr id="13" name="Text 10"/>
          <p:cNvSpPr/>
          <p:nvPr/>
        </p:nvSpPr>
        <p:spPr>
          <a:xfrm>
            <a:off x="6903720" y="2066544"/>
            <a:ext cx="1920240" cy="548640"/>
          </a:xfrm>
          <a:prstGeom prst="rect">
            <a:avLst/>
          </a:prstGeom>
          <a:noFill/>
          <a:ln/>
        </p:spPr>
        <p:txBody>
          <a:bodyPr wrap="square" rtlCol="0" anchor="ctr"/>
          <a:lstStyle/>
          <a:p>
            <a:pPr marL="0" indent="0">
              <a:buNone/>
            </a:pPr>
            <a:r>
              <a:rPr lang="en-US" sz="900" dirty="0">
                <a:solidFill>
                  <a:srgbClr val="6060A0"/>
                </a:solidFill>
              </a:rPr>
              <a:t>Median Rating</a:t>
            </a:r>
            <a:endParaRPr lang="en-US" sz="900" dirty="0"/>
          </a:p>
        </p:txBody>
      </p:sp>
      <p:sp>
        <p:nvSpPr>
          <p:cNvPr id="14" name="Shape 11"/>
          <p:cNvSpPr/>
          <p:nvPr/>
        </p:nvSpPr>
        <p:spPr>
          <a:xfrm>
            <a:off x="5760720" y="2798064"/>
            <a:ext cx="3108960" cy="68580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15" name="Text 12"/>
          <p:cNvSpPr/>
          <p:nvPr/>
        </p:nvSpPr>
        <p:spPr>
          <a:xfrm>
            <a:off x="5760720" y="2825496"/>
            <a:ext cx="1097280" cy="640080"/>
          </a:xfrm>
          <a:prstGeom prst="rect">
            <a:avLst/>
          </a:prstGeom>
          <a:noFill/>
          <a:ln/>
        </p:spPr>
        <p:txBody>
          <a:bodyPr wrap="square" rtlCol="0" anchor="ctr"/>
          <a:lstStyle/>
          <a:p>
            <a:pPr marL="0" indent="0" algn="ctr">
              <a:buNone/>
            </a:pPr>
            <a:r>
              <a:rPr lang="en-US" sz="2200" b="1" dirty="0">
                <a:solidFill>
                  <a:srgbClr val="4ADE80"/>
                </a:solidFill>
                <a:latin typeface="Trebuchet MS" pitchFamily="34" charset="0"/>
                <a:ea typeface="Trebuchet MS" pitchFamily="34" charset="-122"/>
                <a:cs typeface="Trebuchet MS" pitchFamily="34" charset="-120"/>
              </a:rPr>
              <a:t>7.5–8.5</a:t>
            </a:r>
            <a:endParaRPr lang="en-US" sz="2200" dirty="0"/>
          </a:p>
        </p:txBody>
      </p:sp>
      <p:sp>
        <p:nvSpPr>
          <p:cNvPr id="16" name="Text 13"/>
          <p:cNvSpPr/>
          <p:nvPr/>
        </p:nvSpPr>
        <p:spPr>
          <a:xfrm>
            <a:off x="6903720" y="2871216"/>
            <a:ext cx="1920240" cy="548640"/>
          </a:xfrm>
          <a:prstGeom prst="rect">
            <a:avLst/>
          </a:prstGeom>
          <a:noFill/>
          <a:ln/>
        </p:spPr>
        <p:txBody>
          <a:bodyPr wrap="square" rtlCol="0" anchor="ctr"/>
          <a:lstStyle/>
          <a:p>
            <a:pPr marL="0" indent="0">
              <a:buNone/>
            </a:pPr>
            <a:r>
              <a:rPr lang="en-US" sz="900" dirty="0">
                <a:solidFill>
                  <a:srgbClr val="6060A0"/>
                </a:solidFill>
              </a:rPr>
              <a:t>Most common</a:t>
            </a:r>
            <a:endParaRPr lang="en-US" sz="900" dirty="0"/>
          </a:p>
        </p:txBody>
      </p:sp>
      <p:sp>
        <p:nvSpPr>
          <p:cNvPr id="17" name="Shape 14"/>
          <p:cNvSpPr/>
          <p:nvPr/>
        </p:nvSpPr>
        <p:spPr>
          <a:xfrm>
            <a:off x="5760720" y="3602736"/>
            <a:ext cx="3108960" cy="68580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18" name="Text 15"/>
          <p:cNvSpPr/>
          <p:nvPr/>
        </p:nvSpPr>
        <p:spPr>
          <a:xfrm>
            <a:off x="5760720" y="3630168"/>
            <a:ext cx="1097280" cy="640080"/>
          </a:xfrm>
          <a:prstGeom prst="rect">
            <a:avLst/>
          </a:prstGeom>
          <a:noFill/>
          <a:ln/>
        </p:spPr>
        <p:txBody>
          <a:bodyPr wrap="square" rtlCol="0" anchor="ctr"/>
          <a:lstStyle/>
          <a:p>
            <a:pPr marL="0" indent="0" algn="ctr">
              <a:buNone/>
            </a:pPr>
            <a:r>
              <a:rPr lang="en-US" sz="2200" b="1" dirty="0">
                <a:solidFill>
                  <a:srgbClr val="F472B6"/>
                </a:solidFill>
                <a:latin typeface="Trebuchet MS" pitchFamily="34" charset="0"/>
                <a:ea typeface="Trebuchet MS" pitchFamily="34" charset="-122"/>
                <a:cs typeface="Trebuchet MS" pitchFamily="34" charset="-120"/>
              </a:rPr>
              <a:t>&lt; 3%</a:t>
            </a:r>
            <a:endParaRPr lang="en-US" sz="2200" dirty="0"/>
          </a:p>
        </p:txBody>
      </p:sp>
      <p:sp>
        <p:nvSpPr>
          <p:cNvPr id="19" name="Text 16"/>
          <p:cNvSpPr/>
          <p:nvPr/>
        </p:nvSpPr>
        <p:spPr>
          <a:xfrm>
            <a:off x="6903720" y="3675888"/>
            <a:ext cx="1920240" cy="548640"/>
          </a:xfrm>
          <a:prstGeom prst="rect">
            <a:avLst/>
          </a:prstGeom>
          <a:noFill/>
          <a:ln/>
        </p:spPr>
        <p:txBody>
          <a:bodyPr wrap="square" rtlCol="0" anchor="ctr"/>
          <a:lstStyle/>
          <a:p>
            <a:pPr marL="0" indent="0">
              <a:buNone/>
            </a:pPr>
            <a:r>
              <a:rPr lang="en-US" sz="900" dirty="0">
                <a:solidFill>
                  <a:srgbClr val="6060A0"/>
                </a:solidFill>
              </a:rPr>
              <a:t>Below 6</a:t>
            </a:r>
            <a:endParaRPr lang="en-US" sz="900" dirty="0"/>
          </a:p>
        </p:txBody>
      </p:sp>
      <p:sp>
        <p:nvSpPr>
          <p:cNvPr id="20" name="Shape 17"/>
          <p:cNvSpPr/>
          <p:nvPr/>
        </p:nvSpPr>
        <p:spPr>
          <a:xfrm>
            <a:off x="228600" y="4572000"/>
            <a:ext cx="36576" cy="411480"/>
          </a:xfrm>
          <a:prstGeom prst="rect">
            <a:avLst/>
          </a:prstGeom>
          <a:solidFill>
            <a:srgbClr val="FF6B35"/>
          </a:solidFill>
          <a:ln w="12700">
            <a:solidFill>
              <a:srgbClr val="FF6B35"/>
            </a:solidFill>
            <a:prstDash val="solid"/>
          </a:ln>
        </p:spPr>
        <p:txBody>
          <a:bodyPr/>
          <a:lstStyle/>
          <a:p>
            <a:endParaRPr lang="en-US"/>
          </a:p>
        </p:txBody>
      </p:sp>
      <p:sp>
        <p:nvSpPr>
          <p:cNvPr id="21" name="Shape 18"/>
          <p:cNvSpPr/>
          <p:nvPr/>
        </p:nvSpPr>
        <p:spPr>
          <a:xfrm>
            <a:off x="265176" y="4572000"/>
            <a:ext cx="8650224" cy="411480"/>
          </a:xfrm>
          <a:prstGeom prst="rect">
            <a:avLst/>
          </a:prstGeom>
          <a:solidFill>
            <a:srgbClr val="0F0F1E"/>
          </a:solidFill>
          <a:ln w="6350">
            <a:solidFill>
              <a:srgbClr val="1A1A28"/>
            </a:solidFill>
            <a:prstDash val="solid"/>
          </a:ln>
        </p:spPr>
        <p:txBody>
          <a:bodyPr/>
          <a:lstStyle/>
          <a:p>
            <a:endParaRPr lang="en-US"/>
          </a:p>
        </p:txBody>
      </p:sp>
      <p:sp>
        <p:nvSpPr>
          <p:cNvPr id="22" name="Text 19"/>
          <p:cNvSpPr/>
          <p:nvPr/>
        </p:nvSpPr>
        <p:spPr>
          <a:xfrm>
            <a:off x="365760" y="4572000"/>
            <a:ext cx="8503920" cy="411480"/>
          </a:xfrm>
          <a:prstGeom prst="rect">
            <a:avLst/>
          </a:prstGeom>
          <a:noFill/>
          <a:ln/>
        </p:spPr>
        <p:txBody>
          <a:bodyPr wrap="square" rtlCol="0" anchor="ctr"/>
          <a:lstStyle/>
          <a:p>
            <a:pPr marL="0" indent="0">
              <a:buNone/>
            </a:pPr>
            <a:r>
              <a:rPr lang="en-US" sz="900" i="1" dirty="0">
                <a:solidFill>
                  <a:srgbClr val="9090C8"/>
                </a:solidFill>
              </a:rPr>
              <a:t>Restaurant ratings follow a slightly left-skewed bell curve centered between 7.5 and 8.5, with mean 7.82 and median 7.90. The tight gap between mean and median confirms a symmetric, stable distribution. Very few restaurants fall below 6.0, indicating a consistently above-average dining scene across Riyadh.</a:t>
            </a:r>
            <a:endParaRPr lang="en-US" sz="900" dirty="0"/>
          </a:p>
        </p:txBody>
      </p:sp>
      <p:sp>
        <p:nvSpPr>
          <p:cNvPr id="23" name="Shape 20"/>
          <p:cNvSpPr/>
          <p:nvPr/>
        </p:nvSpPr>
        <p:spPr>
          <a:xfrm>
            <a:off x="228600" y="4133088"/>
            <a:ext cx="8686800" cy="384048"/>
          </a:xfrm>
          <a:prstGeom prst="rect">
            <a:avLst/>
          </a:prstGeom>
          <a:solidFill>
            <a:srgbClr val="080810"/>
          </a:solidFill>
          <a:ln w="6350">
            <a:solidFill>
              <a:srgbClr val="2A2A44"/>
            </a:solidFill>
            <a:prstDash val="solid"/>
          </a:ln>
        </p:spPr>
        <p:txBody>
          <a:bodyPr/>
          <a:lstStyle/>
          <a:p>
            <a:endParaRPr lang="en-US"/>
          </a:p>
        </p:txBody>
      </p:sp>
      <p:sp>
        <p:nvSpPr>
          <p:cNvPr id="24" name="Text 21"/>
          <p:cNvSpPr/>
          <p:nvPr/>
        </p:nvSpPr>
        <p:spPr>
          <a:xfrm>
            <a:off x="320040" y="4133088"/>
            <a:ext cx="8549640" cy="384048"/>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sns.histplot(df_restaurants['rating'], bins=20, kde=True)</a:t>
            </a:r>
            <a:endParaRPr lang="en-US" sz="750" dirty="0"/>
          </a:p>
          <a:p>
            <a:pPr marL="0" indent="0">
              <a:buNone/>
            </a:pPr>
            <a:r>
              <a:rPr lang="en-US" sz="750" dirty="0">
                <a:solidFill>
                  <a:srgbClr val="A0FFA0"/>
                </a:solidFill>
                <a:latin typeface="Consolas" pitchFamily="34" charset="0"/>
                <a:ea typeface="Consolas" pitchFamily="34" charset="-122"/>
                <a:cs typeface="Consolas" pitchFamily="34" charset="-120"/>
              </a:rPr>
              <a:t>plt.axvline(mean_rating, color='red', linestyle='--', label=f'Mean: {mean_rating:.2f}')</a:t>
            </a:r>
            <a:endParaRPr lang="en-US" sz="750" dirty="0"/>
          </a:p>
          <a:p>
            <a:pPr marL="0" indent="0">
              <a:buNone/>
            </a:pPr>
            <a:r>
              <a:rPr lang="en-US" sz="750" dirty="0">
                <a:solidFill>
                  <a:srgbClr val="A0FFA0"/>
                </a:solidFill>
                <a:latin typeface="Consolas" pitchFamily="34" charset="0"/>
                <a:ea typeface="Consolas" pitchFamily="34" charset="-122"/>
                <a:cs typeface="Consolas" pitchFamily="34" charset="-120"/>
              </a:rPr>
              <a:t>plt.axvline(median_rating, color='blue', linestyle='-', label=f'Median: {median_rating:.2f}')</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EDA · Price Level Distribution</a:t>
            </a:r>
            <a:endParaRPr lang="en-US" sz="2600" dirty="0"/>
          </a:p>
        </p:txBody>
      </p:sp>
      <p:sp>
        <p:nvSpPr>
          <p:cNvPr id="4" name="Shape 2"/>
          <p:cNvSpPr/>
          <p:nvPr/>
        </p:nvSpPr>
        <p:spPr>
          <a:xfrm>
            <a:off x="228600" y="868680"/>
            <a:ext cx="5303520" cy="356616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graphicFrame>
        <p:nvGraphicFramePr>
          <p:cNvPr id="5" name="Chart 0"/>
          <p:cNvGraphicFramePr/>
          <p:nvPr>
            <p:extLst>
              <p:ext uri="{D42A27DB-BD31-4B8C-83A1-F6EECF244321}">
                <p14:modId xmlns:p14="http://schemas.microsoft.com/office/powerpoint/2010/main" val="3248108741"/>
              </p:ext>
            </p:extLst>
          </p:nvPr>
        </p:nvGraphicFramePr>
        <p:xfrm>
          <a:off x="320040" y="790830"/>
          <a:ext cx="51206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60720" y="868680"/>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7" name="Text 4"/>
          <p:cNvSpPr/>
          <p:nvPr/>
        </p:nvSpPr>
        <p:spPr>
          <a:xfrm>
            <a:off x="5760720" y="868680"/>
            <a:ext cx="1828800" cy="228600"/>
          </a:xfrm>
          <a:prstGeom prst="rect">
            <a:avLst/>
          </a:prstGeom>
          <a:noFill/>
          <a:ln/>
        </p:spPr>
        <p:txBody>
          <a:bodyPr wrap="square" rtlCol="0" anchor="ctr"/>
          <a:lstStyle/>
          <a:p>
            <a:pPr marL="0" indent="0" algn="ctr">
              <a:buNone/>
            </a:pPr>
            <a:r>
              <a:rPr lang="en-US" sz="800" b="1" kern="0" spc="200" dirty="0">
                <a:solidFill>
                  <a:srgbClr val="FF6B35"/>
                </a:solidFill>
              </a:rPr>
              <a:t>BREAKDOWN</a:t>
            </a:r>
            <a:endParaRPr lang="en-US" sz="800" dirty="0"/>
          </a:p>
        </p:txBody>
      </p:sp>
      <p:sp>
        <p:nvSpPr>
          <p:cNvPr id="8" name="Shape 5"/>
          <p:cNvSpPr/>
          <p:nvPr/>
        </p:nvSpPr>
        <p:spPr>
          <a:xfrm>
            <a:off x="5760720" y="1188720"/>
            <a:ext cx="3108960" cy="566928"/>
          </a:xfrm>
          <a:prstGeom prst="rect">
            <a:avLst/>
          </a:prstGeom>
          <a:solidFill>
            <a:srgbClr val="12121E"/>
          </a:solidFill>
          <a:ln w="6350">
            <a:solidFill>
              <a:srgbClr val="1A1A28"/>
            </a:solidFill>
            <a:prstDash val="solid"/>
          </a:ln>
        </p:spPr>
        <p:txBody>
          <a:bodyPr/>
          <a:lstStyle/>
          <a:p>
            <a:endParaRPr lang="en-US"/>
          </a:p>
        </p:txBody>
      </p:sp>
      <p:sp>
        <p:nvSpPr>
          <p:cNvPr id="9" name="Shape 6"/>
          <p:cNvSpPr/>
          <p:nvPr/>
        </p:nvSpPr>
        <p:spPr>
          <a:xfrm>
            <a:off x="5760720" y="1188720"/>
            <a:ext cx="54864" cy="566928"/>
          </a:xfrm>
          <a:prstGeom prst="rect">
            <a:avLst/>
          </a:prstGeom>
          <a:solidFill>
            <a:srgbClr val="6060A0"/>
          </a:solidFill>
          <a:ln w="12700">
            <a:solidFill>
              <a:srgbClr val="6060A0"/>
            </a:solidFill>
            <a:prstDash val="solid"/>
          </a:ln>
        </p:spPr>
        <p:txBody>
          <a:bodyPr/>
          <a:lstStyle/>
          <a:p>
            <a:endParaRPr lang="en-US"/>
          </a:p>
        </p:txBody>
      </p:sp>
      <p:sp>
        <p:nvSpPr>
          <p:cNvPr id="10" name="Text 7"/>
          <p:cNvSpPr/>
          <p:nvPr/>
        </p:nvSpPr>
        <p:spPr>
          <a:xfrm>
            <a:off x="5897880" y="1216152"/>
            <a:ext cx="2011680" cy="502920"/>
          </a:xfrm>
          <a:prstGeom prst="rect">
            <a:avLst/>
          </a:prstGeom>
          <a:noFill/>
          <a:ln/>
        </p:spPr>
        <p:txBody>
          <a:bodyPr wrap="square" rtlCol="0" anchor="ctr"/>
          <a:lstStyle/>
          <a:p>
            <a:pPr marL="0" indent="0">
              <a:buNone/>
            </a:pPr>
            <a:r>
              <a:rPr lang="en-US" sz="900" dirty="0">
                <a:solidFill>
                  <a:srgbClr val="E8E8FF"/>
                </a:solidFill>
              </a:rPr>
              <a:t>0 — Unpriced</a:t>
            </a:r>
            <a:endParaRPr lang="en-US" sz="900" dirty="0"/>
          </a:p>
        </p:txBody>
      </p:sp>
      <p:sp>
        <p:nvSpPr>
          <p:cNvPr id="11" name="Text 8"/>
          <p:cNvSpPr/>
          <p:nvPr/>
        </p:nvSpPr>
        <p:spPr>
          <a:xfrm>
            <a:off x="7955280" y="1216152"/>
            <a:ext cx="822960" cy="502920"/>
          </a:xfrm>
          <a:prstGeom prst="rect">
            <a:avLst/>
          </a:prstGeom>
          <a:noFill/>
          <a:ln/>
        </p:spPr>
        <p:txBody>
          <a:bodyPr wrap="square" rtlCol="0" anchor="ctr"/>
          <a:lstStyle/>
          <a:p>
            <a:pPr marL="0" indent="0" algn="ctr">
              <a:buNone/>
            </a:pPr>
            <a:r>
              <a:rPr lang="en-US" sz="1200" b="1" dirty="0">
                <a:solidFill>
                  <a:srgbClr val="6060A0"/>
                </a:solidFill>
              </a:rPr>
              <a:t>~820</a:t>
            </a:r>
            <a:endParaRPr lang="en-US" sz="1200" dirty="0"/>
          </a:p>
        </p:txBody>
      </p:sp>
      <p:sp>
        <p:nvSpPr>
          <p:cNvPr id="12" name="Shape 9"/>
          <p:cNvSpPr/>
          <p:nvPr/>
        </p:nvSpPr>
        <p:spPr>
          <a:xfrm>
            <a:off x="5760720" y="1847088"/>
            <a:ext cx="3108960" cy="566928"/>
          </a:xfrm>
          <a:prstGeom prst="rect">
            <a:avLst/>
          </a:prstGeom>
          <a:solidFill>
            <a:srgbClr val="12121E"/>
          </a:solidFill>
          <a:ln w="6350">
            <a:solidFill>
              <a:srgbClr val="1A1A28"/>
            </a:solidFill>
            <a:prstDash val="solid"/>
          </a:ln>
        </p:spPr>
        <p:txBody>
          <a:bodyPr/>
          <a:lstStyle/>
          <a:p>
            <a:endParaRPr lang="en-US"/>
          </a:p>
        </p:txBody>
      </p:sp>
      <p:sp>
        <p:nvSpPr>
          <p:cNvPr id="13" name="Shape 10"/>
          <p:cNvSpPr/>
          <p:nvPr/>
        </p:nvSpPr>
        <p:spPr>
          <a:xfrm>
            <a:off x="5760720" y="1847088"/>
            <a:ext cx="54864" cy="566928"/>
          </a:xfrm>
          <a:prstGeom prst="rect">
            <a:avLst/>
          </a:prstGeom>
          <a:solidFill>
            <a:srgbClr val="FF6B35"/>
          </a:solidFill>
          <a:ln w="12700">
            <a:solidFill>
              <a:srgbClr val="FF6B35"/>
            </a:solidFill>
            <a:prstDash val="solid"/>
          </a:ln>
        </p:spPr>
        <p:txBody>
          <a:bodyPr/>
          <a:lstStyle/>
          <a:p>
            <a:endParaRPr lang="en-US"/>
          </a:p>
        </p:txBody>
      </p:sp>
      <p:sp>
        <p:nvSpPr>
          <p:cNvPr id="14" name="Text 11"/>
          <p:cNvSpPr/>
          <p:nvPr/>
        </p:nvSpPr>
        <p:spPr>
          <a:xfrm>
            <a:off x="5897880" y="1874520"/>
            <a:ext cx="2011680" cy="502920"/>
          </a:xfrm>
          <a:prstGeom prst="rect">
            <a:avLst/>
          </a:prstGeom>
          <a:noFill/>
          <a:ln/>
        </p:spPr>
        <p:txBody>
          <a:bodyPr wrap="square" rtlCol="0" anchor="ctr"/>
          <a:lstStyle/>
          <a:p>
            <a:pPr marL="0" indent="0">
              <a:buNone/>
            </a:pPr>
            <a:r>
              <a:rPr lang="en-US" sz="900" dirty="0">
                <a:solidFill>
                  <a:srgbClr val="E8E8FF"/>
                </a:solidFill>
              </a:rPr>
              <a:t>1 — $ (Budget)</a:t>
            </a:r>
            <a:endParaRPr lang="en-US" sz="900" dirty="0"/>
          </a:p>
        </p:txBody>
      </p:sp>
      <p:sp>
        <p:nvSpPr>
          <p:cNvPr id="15" name="Text 12"/>
          <p:cNvSpPr/>
          <p:nvPr/>
        </p:nvSpPr>
        <p:spPr>
          <a:xfrm>
            <a:off x="7955280" y="1874520"/>
            <a:ext cx="822960" cy="502920"/>
          </a:xfrm>
          <a:prstGeom prst="rect">
            <a:avLst/>
          </a:prstGeom>
          <a:noFill/>
          <a:ln/>
        </p:spPr>
        <p:txBody>
          <a:bodyPr wrap="square" rtlCol="0" anchor="ctr"/>
          <a:lstStyle/>
          <a:p>
            <a:pPr marL="0" indent="0" algn="ctr">
              <a:buNone/>
            </a:pPr>
            <a:r>
              <a:rPr lang="en-US" sz="1200" b="1" dirty="0">
                <a:solidFill>
                  <a:srgbClr val="FF6B35"/>
                </a:solidFill>
              </a:rPr>
              <a:t>~2,400</a:t>
            </a:r>
            <a:endParaRPr lang="en-US" sz="1200" dirty="0"/>
          </a:p>
        </p:txBody>
      </p:sp>
      <p:sp>
        <p:nvSpPr>
          <p:cNvPr id="16" name="Shape 13"/>
          <p:cNvSpPr/>
          <p:nvPr/>
        </p:nvSpPr>
        <p:spPr>
          <a:xfrm>
            <a:off x="5760720" y="2505456"/>
            <a:ext cx="3108960" cy="566928"/>
          </a:xfrm>
          <a:prstGeom prst="rect">
            <a:avLst/>
          </a:prstGeom>
          <a:solidFill>
            <a:srgbClr val="12121E"/>
          </a:solidFill>
          <a:ln w="6350">
            <a:solidFill>
              <a:srgbClr val="1A1A28"/>
            </a:solidFill>
            <a:prstDash val="solid"/>
          </a:ln>
        </p:spPr>
        <p:txBody>
          <a:bodyPr/>
          <a:lstStyle/>
          <a:p>
            <a:endParaRPr lang="en-US"/>
          </a:p>
        </p:txBody>
      </p:sp>
      <p:sp>
        <p:nvSpPr>
          <p:cNvPr id="17" name="Shape 14"/>
          <p:cNvSpPr/>
          <p:nvPr/>
        </p:nvSpPr>
        <p:spPr>
          <a:xfrm>
            <a:off x="5760720" y="2505456"/>
            <a:ext cx="54864" cy="566928"/>
          </a:xfrm>
          <a:prstGeom prst="rect">
            <a:avLst/>
          </a:prstGeom>
          <a:solidFill>
            <a:srgbClr val="00D4FF"/>
          </a:solidFill>
          <a:ln w="12700">
            <a:solidFill>
              <a:srgbClr val="00D4FF"/>
            </a:solidFill>
            <a:prstDash val="solid"/>
          </a:ln>
        </p:spPr>
        <p:txBody>
          <a:bodyPr/>
          <a:lstStyle/>
          <a:p>
            <a:endParaRPr lang="en-US"/>
          </a:p>
        </p:txBody>
      </p:sp>
      <p:sp>
        <p:nvSpPr>
          <p:cNvPr id="18" name="Text 15"/>
          <p:cNvSpPr/>
          <p:nvPr/>
        </p:nvSpPr>
        <p:spPr>
          <a:xfrm>
            <a:off x="5897880" y="2532888"/>
            <a:ext cx="2011680" cy="502920"/>
          </a:xfrm>
          <a:prstGeom prst="rect">
            <a:avLst/>
          </a:prstGeom>
          <a:noFill/>
          <a:ln/>
        </p:spPr>
        <p:txBody>
          <a:bodyPr wrap="square" rtlCol="0" anchor="ctr"/>
          <a:lstStyle/>
          <a:p>
            <a:pPr marL="0" indent="0">
              <a:buNone/>
            </a:pPr>
            <a:r>
              <a:rPr lang="en-US" sz="900" dirty="0">
                <a:solidFill>
                  <a:srgbClr val="E8E8FF"/>
                </a:solidFill>
              </a:rPr>
              <a:t>2 — $$ (Mid)</a:t>
            </a:r>
            <a:endParaRPr lang="en-US" sz="900" dirty="0"/>
          </a:p>
        </p:txBody>
      </p:sp>
      <p:sp>
        <p:nvSpPr>
          <p:cNvPr id="19" name="Text 16"/>
          <p:cNvSpPr/>
          <p:nvPr/>
        </p:nvSpPr>
        <p:spPr>
          <a:xfrm>
            <a:off x="7955280" y="2532888"/>
            <a:ext cx="822960" cy="502920"/>
          </a:xfrm>
          <a:prstGeom prst="rect">
            <a:avLst/>
          </a:prstGeom>
          <a:noFill/>
          <a:ln/>
        </p:spPr>
        <p:txBody>
          <a:bodyPr wrap="square" rtlCol="0" anchor="ctr"/>
          <a:lstStyle/>
          <a:p>
            <a:pPr marL="0" indent="0" algn="ctr">
              <a:buNone/>
            </a:pPr>
            <a:r>
              <a:rPr lang="en-US" sz="1200" b="1" dirty="0">
                <a:solidFill>
                  <a:srgbClr val="00D4FF"/>
                </a:solidFill>
              </a:rPr>
              <a:t>~700</a:t>
            </a:r>
            <a:endParaRPr lang="en-US" sz="1200" dirty="0"/>
          </a:p>
        </p:txBody>
      </p:sp>
      <p:sp>
        <p:nvSpPr>
          <p:cNvPr id="20" name="Shape 17"/>
          <p:cNvSpPr/>
          <p:nvPr/>
        </p:nvSpPr>
        <p:spPr>
          <a:xfrm>
            <a:off x="5760720" y="3163824"/>
            <a:ext cx="3108960" cy="566928"/>
          </a:xfrm>
          <a:prstGeom prst="rect">
            <a:avLst/>
          </a:prstGeom>
          <a:solidFill>
            <a:srgbClr val="12121E"/>
          </a:solidFill>
          <a:ln w="6350">
            <a:solidFill>
              <a:srgbClr val="1A1A28"/>
            </a:solidFill>
            <a:prstDash val="solid"/>
          </a:ln>
        </p:spPr>
        <p:txBody>
          <a:bodyPr/>
          <a:lstStyle/>
          <a:p>
            <a:endParaRPr lang="en-US"/>
          </a:p>
        </p:txBody>
      </p:sp>
      <p:sp>
        <p:nvSpPr>
          <p:cNvPr id="21" name="Shape 18"/>
          <p:cNvSpPr/>
          <p:nvPr/>
        </p:nvSpPr>
        <p:spPr>
          <a:xfrm>
            <a:off x="5760720" y="3163824"/>
            <a:ext cx="54864" cy="566928"/>
          </a:xfrm>
          <a:prstGeom prst="rect">
            <a:avLst/>
          </a:prstGeom>
          <a:solidFill>
            <a:srgbClr val="4ADE80"/>
          </a:solidFill>
          <a:ln w="12700">
            <a:solidFill>
              <a:srgbClr val="4ADE80"/>
            </a:solidFill>
            <a:prstDash val="solid"/>
          </a:ln>
        </p:spPr>
        <p:txBody>
          <a:bodyPr/>
          <a:lstStyle/>
          <a:p>
            <a:endParaRPr lang="en-US"/>
          </a:p>
        </p:txBody>
      </p:sp>
      <p:sp>
        <p:nvSpPr>
          <p:cNvPr id="22" name="Text 19"/>
          <p:cNvSpPr/>
          <p:nvPr/>
        </p:nvSpPr>
        <p:spPr>
          <a:xfrm>
            <a:off x="5897880" y="3191256"/>
            <a:ext cx="2011680" cy="502920"/>
          </a:xfrm>
          <a:prstGeom prst="rect">
            <a:avLst/>
          </a:prstGeom>
          <a:noFill/>
          <a:ln/>
        </p:spPr>
        <p:txBody>
          <a:bodyPr wrap="square" rtlCol="0" anchor="ctr"/>
          <a:lstStyle/>
          <a:p>
            <a:pPr marL="0" indent="0">
              <a:buNone/>
            </a:pPr>
            <a:r>
              <a:rPr lang="en-US" sz="900" dirty="0">
                <a:solidFill>
                  <a:srgbClr val="E8E8FF"/>
                </a:solidFill>
              </a:rPr>
              <a:t>3 — $$$ (Premium)</a:t>
            </a:r>
            <a:endParaRPr lang="en-US" sz="900" dirty="0"/>
          </a:p>
        </p:txBody>
      </p:sp>
      <p:sp>
        <p:nvSpPr>
          <p:cNvPr id="23" name="Text 20"/>
          <p:cNvSpPr/>
          <p:nvPr/>
        </p:nvSpPr>
        <p:spPr>
          <a:xfrm>
            <a:off x="7955280" y="3191256"/>
            <a:ext cx="822960" cy="502920"/>
          </a:xfrm>
          <a:prstGeom prst="rect">
            <a:avLst/>
          </a:prstGeom>
          <a:noFill/>
          <a:ln/>
        </p:spPr>
        <p:txBody>
          <a:bodyPr wrap="square" rtlCol="0" anchor="ctr"/>
          <a:lstStyle/>
          <a:p>
            <a:pPr marL="0" indent="0" algn="ctr">
              <a:buNone/>
            </a:pPr>
            <a:r>
              <a:rPr lang="en-US" sz="1200" b="1" dirty="0">
                <a:solidFill>
                  <a:srgbClr val="4ADE80"/>
                </a:solidFill>
              </a:rPr>
              <a:t>~150</a:t>
            </a:r>
            <a:endParaRPr lang="en-US" sz="1200" dirty="0"/>
          </a:p>
        </p:txBody>
      </p:sp>
      <p:sp>
        <p:nvSpPr>
          <p:cNvPr id="24" name="Shape 21"/>
          <p:cNvSpPr/>
          <p:nvPr/>
        </p:nvSpPr>
        <p:spPr>
          <a:xfrm>
            <a:off x="5760720" y="3822192"/>
            <a:ext cx="3108960" cy="566928"/>
          </a:xfrm>
          <a:prstGeom prst="rect">
            <a:avLst/>
          </a:prstGeom>
          <a:solidFill>
            <a:srgbClr val="12121E"/>
          </a:solidFill>
          <a:ln w="6350">
            <a:solidFill>
              <a:srgbClr val="1A1A28"/>
            </a:solidFill>
            <a:prstDash val="solid"/>
          </a:ln>
        </p:spPr>
        <p:txBody>
          <a:bodyPr/>
          <a:lstStyle/>
          <a:p>
            <a:endParaRPr lang="en-US"/>
          </a:p>
        </p:txBody>
      </p:sp>
      <p:sp>
        <p:nvSpPr>
          <p:cNvPr id="25" name="Shape 22"/>
          <p:cNvSpPr/>
          <p:nvPr/>
        </p:nvSpPr>
        <p:spPr>
          <a:xfrm>
            <a:off x="5760720" y="3822192"/>
            <a:ext cx="54864" cy="566928"/>
          </a:xfrm>
          <a:prstGeom prst="rect">
            <a:avLst/>
          </a:prstGeom>
          <a:solidFill>
            <a:srgbClr val="F472B6"/>
          </a:solidFill>
          <a:ln w="12700">
            <a:solidFill>
              <a:srgbClr val="F472B6"/>
            </a:solidFill>
            <a:prstDash val="solid"/>
          </a:ln>
        </p:spPr>
        <p:txBody>
          <a:bodyPr/>
          <a:lstStyle/>
          <a:p>
            <a:endParaRPr lang="en-US"/>
          </a:p>
        </p:txBody>
      </p:sp>
      <p:sp>
        <p:nvSpPr>
          <p:cNvPr id="26" name="Text 23"/>
          <p:cNvSpPr/>
          <p:nvPr/>
        </p:nvSpPr>
        <p:spPr>
          <a:xfrm>
            <a:off x="5897880" y="3849624"/>
            <a:ext cx="2011680" cy="502920"/>
          </a:xfrm>
          <a:prstGeom prst="rect">
            <a:avLst/>
          </a:prstGeom>
          <a:noFill/>
          <a:ln/>
        </p:spPr>
        <p:txBody>
          <a:bodyPr wrap="square" rtlCol="0" anchor="ctr"/>
          <a:lstStyle/>
          <a:p>
            <a:pPr marL="0" indent="0">
              <a:buNone/>
            </a:pPr>
            <a:r>
              <a:rPr lang="en-US" sz="900" dirty="0">
                <a:solidFill>
                  <a:srgbClr val="E8E8FF"/>
                </a:solidFill>
              </a:rPr>
              <a:t>4 — $$$$ (Luxury)</a:t>
            </a:r>
            <a:endParaRPr lang="en-US" sz="900" dirty="0"/>
          </a:p>
        </p:txBody>
      </p:sp>
      <p:sp>
        <p:nvSpPr>
          <p:cNvPr id="27" name="Text 24"/>
          <p:cNvSpPr/>
          <p:nvPr/>
        </p:nvSpPr>
        <p:spPr>
          <a:xfrm>
            <a:off x="7955280" y="3849624"/>
            <a:ext cx="822960" cy="502920"/>
          </a:xfrm>
          <a:prstGeom prst="rect">
            <a:avLst/>
          </a:prstGeom>
          <a:noFill/>
          <a:ln/>
        </p:spPr>
        <p:txBody>
          <a:bodyPr wrap="square" rtlCol="0" anchor="ctr"/>
          <a:lstStyle/>
          <a:p>
            <a:pPr marL="0" indent="0" algn="ctr">
              <a:buNone/>
            </a:pPr>
            <a:r>
              <a:rPr lang="en-US" sz="1200" b="1" dirty="0">
                <a:solidFill>
                  <a:srgbClr val="F472B6"/>
                </a:solidFill>
              </a:rPr>
              <a:t>&lt;10</a:t>
            </a:r>
            <a:endParaRPr lang="en-US" sz="1200" dirty="0"/>
          </a:p>
        </p:txBody>
      </p:sp>
      <p:sp>
        <p:nvSpPr>
          <p:cNvPr id="28" name="Shape 25"/>
          <p:cNvSpPr/>
          <p:nvPr/>
        </p:nvSpPr>
        <p:spPr>
          <a:xfrm>
            <a:off x="228600" y="4572000"/>
            <a:ext cx="36576" cy="411480"/>
          </a:xfrm>
          <a:prstGeom prst="rect">
            <a:avLst/>
          </a:prstGeom>
          <a:solidFill>
            <a:srgbClr val="FF6B35"/>
          </a:solidFill>
          <a:ln w="12700">
            <a:solidFill>
              <a:srgbClr val="FF6B35"/>
            </a:solidFill>
            <a:prstDash val="solid"/>
          </a:ln>
        </p:spPr>
        <p:txBody>
          <a:bodyPr/>
          <a:lstStyle/>
          <a:p>
            <a:endParaRPr lang="en-US"/>
          </a:p>
        </p:txBody>
      </p:sp>
      <p:sp>
        <p:nvSpPr>
          <p:cNvPr id="29" name="Shape 26"/>
          <p:cNvSpPr/>
          <p:nvPr/>
        </p:nvSpPr>
        <p:spPr>
          <a:xfrm>
            <a:off x="265176" y="4572000"/>
            <a:ext cx="8650224" cy="411480"/>
          </a:xfrm>
          <a:prstGeom prst="rect">
            <a:avLst/>
          </a:prstGeom>
          <a:solidFill>
            <a:srgbClr val="0F0F1E"/>
          </a:solidFill>
          <a:ln w="6350">
            <a:solidFill>
              <a:srgbClr val="1A1A28"/>
            </a:solidFill>
            <a:prstDash val="solid"/>
          </a:ln>
        </p:spPr>
        <p:txBody>
          <a:bodyPr/>
          <a:lstStyle/>
          <a:p>
            <a:endParaRPr lang="en-US"/>
          </a:p>
        </p:txBody>
      </p:sp>
      <p:sp>
        <p:nvSpPr>
          <p:cNvPr id="30" name="Text 27"/>
          <p:cNvSpPr/>
          <p:nvPr/>
        </p:nvSpPr>
        <p:spPr>
          <a:xfrm>
            <a:off x="365760" y="4572000"/>
            <a:ext cx="8503920" cy="411480"/>
          </a:xfrm>
          <a:prstGeom prst="rect">
            <a:avLst/>
          </a:prstGeom>
          <a:noFill/>
          <a:ln/>
        </p:spPr>
        <p:txBody>
          <a:bodyPr wrap="square" rtlCol="0" anchor="ctr"/>
          <a:lstStyle/>
          <a:p>
            <a:pPr marL="0" indent="0">
              <a:buNone/>
            </a:pPr>
            <a:r>
              <a:rPr lang="en-US" sz="900" i="1" dirty="0">
                <a:solidFill>
                  <a:srgbClr val="9090C8"/>
                </a:solidFill>
              </a:rPr>
              <a:t>Price level 1 ($) accounts for the vast majority of venues, making budget dining the dominant mode. Level 2 ($$) represents a mid-range segment, while levels 3 and 4 are rare. A notable portion have no price data (level 0). The strong skew toward affordable options reflects Riyadh’s broad, everyday restaurant market.</a:t>
            </a:r>
            <a:endParaRPr lang="en-US" sz="900" dirty="0"/>
          </a:p>
        </p:txBody>
      </p:sp>
      <p:sp>
        <p:nvSpPr>
          <p:cNvPr id="31" name="Shape 28"/>
          <p:cNvSpPr/>
          <p:nvPr/>
        </p:nvSpPr>
        <p:spPr>
          <a:xfrm>
            <a:off x="228600" y="4284501"/>
            <a:ext cx="8686800" cy="292608"/>
          </a:xfrm>
          <a:prstGeom prst="rect">
            <a:avLst/>
          </a:prstGeom>
          <a:solidFill>
            <a:srgbClr val="080810"/>
          </a:solidFill>
          <a:ln w="6350">
            <a:solidFill>
              <a:srgbClr val="2A2A44"/>
            </a:solidFill>
            <a:prstDash val="solid"/>
          </a:ln>
        </p:spPr>
        <p:txBody>
          <a:bodyPr/>
          <a:lstStyle/>
          <a:p>
            <a:endParaRPr lang="en-US"/>
          </a:p>
        </p:txBody>
      </p:sp>
      <p:sp>
        <p:nvSpPr>
          <p:cNvPr id="32" name="Text 29"/>
          <p:cNvSpPr/>
          <p:nvPr/>
        </p:nvSpPr>
        <p:spPr>
          <a:xfrm>
            <a:off x="320040" y="4206240"/>
            <a:ext cx="8549640" cy="292608"/>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sns.countplot(x='price_level', data=df_restaurants)</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EDA · Top 10 Restaurant Categories</a:t>
            </a:r>
            <a:endParaRPr lang="en-US" sz="2600" dirty="0"/>
          </a:p>
        </p:txBody>
      </p:sp>
      <p:sp>
        <p:nvSpPr>
          <p:cNvPr id="4" name="Shape 2"/>
          <p:cNvSpPr/>
          <p:nvPr/>
        </p:nvSpPr>
        <p:spPr>
          <a:xfrm>
            <a:off x="228600" y="868680"/>
            <a:ext cx="8686800" cy="35204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graphicFrame>
        <p:nvGraphicFramePr>
          <p:cNvPr id="5" name="Chart 0"/>
          <p:cNvGraphicFramePr/>
          <p:nvPr>
            <p:extLst>
              <p:ext uri="{D42A27DB-BD31-4B8C-83A1-F6EECF244321}">
                <p14:modId xmlns:p14="http://schemas.microsoft.com/office/powerpoint/2010/main" val="3473189785"/>
              </p:ext>
            </p:extLst>
          </p:nvPr>
        </p:nvGraphicFramePr>
        <p:xfrm>
          <a:off x="320040" y="848496"/>
          <a:ext cx="85039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228600" y="4572000"/>
            <a:ext cx="36576" cy="411480"/>
          </a:xfrm>
          <a:prstGeom prst="rect">
            <a:avLst/>
          </a:prstGeom>
          <a:solidFill>
            <a:srgbClr val="FF6B35"/>
          </a:solidFill>
          <a:ln w="12700">
            <a:solidFill>
              <a:srgbClr val="FF6B35"/>
            </a:solidFill>
            <a:prstDash val="solid"/>
          </a:ln>
        </p:spPr>
        <p:txBody>
          <a:bodyPr/>
          <a:lstStyle/>
          <a:p>
            <a:endParaRPr lang="en-US"/>
          </a:p>
        </p:txBody>
      </p:sp>
      <p:sp>
        <p:nvSpPr>
          <p:cNvPr id="7" name="Shape 4"/>
          <p:cNvSpPr/>
          <p:nvPr/>
        </p:nvSpPr>
        <p:spPr>
          <a:xfrm>
            <a:off x="265176" y="4572000"/>
            <a:ext cx="8650224" cy="411480"/>
          </a:xfrm>
          <a:prstGeom prst="rect">
            <a:avLst/>
          </a:prstGeom>
          <a:solidFill>
            <a:srgbClr val="0F0F1E"/>
          </a:solidFill>
          <a:ln w="6350">
            <a:solidFill>
              <a:srgbClr val="1A1A28"/>
            </a:solidFill>
            <a:prstDash val="solid"/>
          </a:ln>
        </p:spPr>
        <p:txBody>
          <a:bodyPr/>
          <a:lstStyle/>
          <a:p>
            <a:endParaRPr lang="en-US"/>
          </a:p>
        </p:txBody>
      </p:sp>
      <p:sp>
        <p:nvSpPr>
          <p:cNvPr id="8" name="Text 5"/>
          <p:cNvSpPr/>
          <p:nvPr/>
        </p:nvSpPr>
        <p:spPr>
          <a:xfrm>
            <a:off x="365760" y="4572000"/>
            <a:ext cx="8503920" cy="411480"/>
          </a:xfrm>
          <a:prstGeom prst="rect">
            <a:avLst/>
          </a:prstGeom>
          <a:noFill/>
          <a:ln/>
        </p:spPr>
        <p:txBody>
          <a:bodyPr wrap="square" rtlCol="0" anchor="ctr"/>
          <a:lstStyle/>
          <a:p>
            <a:pPr marL="0" indent="0">
              <a:buNone/>
            </a:pPr>
            <a:r>
              <a:rPr lang="en-US" sz="900" i="1" dirty="0">
                <a:solidFill>
                  <a:srgbClr val="9090C8"/>
                </a:solidFill>
              </a:rPr>
              <a:t>Coffee Shop is by far the most common category, outnumbering Burger Joint by more than three to one. This reflects a deeply embedded café culture where coffee shops serve as social hubs beyond dining. Middle Eastern Restaurant and generic Restaurant categories appear prominently, confirming local cuisine dominance.</a:t>
            </a:r>
            <a:endParaRPr lang="en-US" sz="900" dirty="0"/>
          </a:p>
        </p:txBody>
      </p:sp>
      <p:sp>
        <p:nvSpPr>
          <p:cNvPr id="9" name="Shape 6"/>
          <p:cNvSpPr/>
          <p:nvPr/>
        </p:nvSpPr>
        <p:spPr>
          <a:xfrm>
            <a:off x="228600" y="4206240"/>
            <a:ext cx="8686800" cy="292608"/>
          </a:xfrm>
          <a:prstGeom prst="rect">
            <a:avLst/>
          </a:prstGeom>
          <a:solidFill>
            <a:srgbClr val="080810"/>
          </a:solidFill>
          <a:ln w="6350">
            <a:solidFill>
              <a:srgbClr val="2A2A44"/>
            </a:solidFill>
            <a:prstDash val="solid"/>
          </a:ln>
        </p:spPr>
        <p:txBody>
          <a:bodyPr/>
          <a:lstStyle/>
          <a:p>
            <a:endParaRPr lang="en-US"/>
          </a:p>
        </p:txBody>
      </p:sp>
      <p:sp>
        <p:nvSpPr>
          <p:cNvPr id="10" name="Text 7"/>
          <p:cNvSpPr/>
          <p:nvPr/>
        </p:nvSpPr>
        <p:spPr>
          <a:xfrm>
            <a:off x="320040" y="4206240"/>
            <a:ext cx="8549640" cy="292608"/>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top_categories = df_restaurants['category'].value_counts().head(10)</a:t>
            </a:r>
            <a:endParaRPr lang="en-US" sz="750" dirty="0"/>
          </a:p>
          <a:p>
            <a:pPr marL="0" indent="0">
              <a:buNone/>
            </a:pPr>
            <a:r>
              <a:rPr lang="en-US" sz="750" dirty="0">
                <a:solidFill>
                  <a:srgbClr val="A0FFA0"/>
                </a:solidFill>
                <a:latin typeface="Consolas" pitchFamily="34" charset="0"/>
                <a:ea typeface="Consolas" pitchFamily="34" charset="-122"/>
                <a:cs typeface="Consolas" pitchFamily="34" charset="-120"/>
              </a:rPr>
              <a:t>sns.barplot(y=top_categories.index, x=top_categories.values)</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EDA · Top Rated Restaurant Categories</a:t>
            </a:r>
            <a:endParaRPr lang="en-US" sz="2600" dirty="0"/>
          </a:p>
        </p:txBody>
      </p:sp>
      <p:sp>
        <p:nvSpPr>
          <p:cNvPr id="4" name="Shape 2"/>
          <p:cNvSpPr/>
          <p:nvPr/>
        </p:nvSpPr>
        <p:spPr>
          <a:xfrm>
            <a:off x="228600" y="868680"/>
            <a:ext cx="8686800" cy="35204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graphicFrame>
        <p:nvGraphicFramePr>
          <p:cNvPr id="5" name="Chart 0"/>
          <p:cNvGraphicFramePr/>
          <p:nvPr>
            <p:extLst>
              <p:ext uri="{D42A27DB-BD31-4B8C-83A1-F6EECF244321}">
                <p14:modId xmlns:p14="http://schemas.microsoft.com/office/powerpoint/2010/main" val="2428976545"/>
              </p:ext>
            </p:extLst>
          </p:nvPr>
        </p:nvGraphicFramePr>
        <p:xfrm>
          <a:off x="320040" y="818841"/>
          <a:ext cx="85039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228600" y="4572000"/>
            <a:ext cx="36576" cy="411480"/>
          </a:xfrm>
          <a:prstGeom prst="rect">
            <a:avLst/>
          </a:prstGeom>
          <a:solidFill>
            <a:srgbClr val="FF6B35"/>
          </a:solidFill>
          <a:ln w="12700">
            <a:solidFill>
              <a:srgbClr val="FF6B35"/>
            </a:solidFill>
            <a:prstDash val="solid"/>
          </a:ln>
        </p:spPr>
        <p:txBody>
          <a:bodyPr/>
          <a:lstStyle/>
          <a:p>
            <a:endParaRPr lang="en-US"/>
          </a:p>
        </p:txBody>
      </p:sp>
      <p:sp>
        <p:nvSpPr>
          <p:cNvPr id="7" name="Shape 4"/>
          <p:cNvSpPr/>
          <p:nvPr/>
        </p:nvSpPr>
        <p:spPr>
          <a:xfrm>
            <a:off x="265176" y="4572000"/>
            <a:ext cx="8650224" cy="411480"/>
          </a:xfrm>
          <a:prstGeom prst="rect">
            <a:avLst/>
          </a:prstGeom>
          <a:solidFill>
            <a:srgbClr val="0F0F1E"/>
          </a:solidFill>
          <a:ln w="6350">
            <a:solidFill>
              <a:srgbClr val="1A1A28"/>
            </a:solidFill>
            <a:prstDash val="solid"/>
          </a:ln>
        </p:spPr>
        <p:txBody>
          <a:bodyPr/>
          <a:lstStyle/>
          <a:p>
            <a:endParaRPr lang="en-US"/>
          </a:p>
        </p:txBody>
      </p:sp>
      <p:sp>
        <p:nvSpPr>
          <p:cNvPr id="8" name="Text 5"/>
          <p:cNvSpPr/>
          <p:nvPr/>
        </p:nvSpPr>
        <p:spPr>
          <a:xfrm>
            <a:off x="365760" y="4572000"/>
            <a:ext cx="8503920" cy="411480"/>
          </a:xfrm>
          <a:prstGeom prst="rect">
            <a:avLst/>
          </a:prstGeom>
          <a:noFill/>
          <a:ln/>
        </p:spPr>
        <p:txBody>
          <a:bodyPr wrap="square" rtlCol="0" anchor="ctr"/>
          <a:lstStyle/>
          <a:p>
            <a:pPr marL="0" indent="0">
              <a:buNone/>
            </a:pPr>
            <a:r>
              <a:rPr lang="en-US" sz="900" i="1" dirty="0">
                <a:solidFill>
                  <a:srgbClr val="9090C8"/>
                </a:solidFill>
              </a:rPr>
              <a:t>The top-rated category is Restaurant &amp; Juice Bar at ~9.40. All top categories score between 8.95–9.40, a very narrow range indicating quality consistency. Multi-concept venues (combining categories like juice bar + restaurant) tend to rate higher. This shows that popularity and volume don’t equal quality.</a:t>
            </a:r>
            <a:endParaRPr lang="en-US" sz="900" dirty="0"/>
          </a:p>
        </p:txBody>
      </p:sp>
      <p:sp>
        <p:nvSpPr>
          <p:cNvPr id="9" name="Shape 6"/>
          <p:cNvSpPr/>
          <p:nvPr/>
        </p:nvSpPr>
        <p:spPr>
          <a:xfrm>
            <a:off x="228600" y="4206240"/>
            <a:ext cx="8686800" cy="292608"/>
          </a:xfrm>
          <a:prstGeom prst="rect">
            <a:avLst/>
          </a:prstGeom>
          <a:solidFill>
            <a:srgbClr val="080810"/>
          </a:solidFill>
          <a:ln w="6350">
            <a:solidFill>
              <a:srgbClr val="2A2A44"/>
            </a:solidFill>
            <a:prstDash val="solid"/>
          </a:ln>
        </p:spPr>
        <p:txBody>
          <a:bodyPr/>
          <a:lstStyle/>
          <a:p>
            <a:endParaRPr lang="en-US"/>
          </a:p>
        </p:txBody>
      </p:sp>
      <p:sp>
        <p:nvSpPr>
          <p:cNvPr id="10" name="Text 7"/>
          <p:cNvSpPr/>
          <p:nvPr/>
        </p:nvSpPr>
        <p:spPr>
          <a:xfrm>
            <a:off x="320040" y="4206240"/>
            <a:ext cx="8549640" cy="292608"/>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category_rating = df_restaurants.groupby('category')['rating'].mean().sort_values(ascending=False).head(10)</a:t>
            </a:r>
            <a:endParaRPr lang="en-US" sz="750" dirty="0"/>
          </a:p>
          <a:p>
            <a:pPr marL="0" indent="0">
              <a:buNone/>
            </a:pPr>
            <a:r>
              <a:rPr lang="en-US" sz="750" dirty="0">
                <a:solidFill>
                  <a:srgbClr val="A0FFA0"/>
                </a:solidFill>
                <a:latin typeface="Consolas" pitchFamily="34" charset="0"/>
                <a:ea typeface="Consolas" pitchFamily="34" charset="-122"/>
                <a:cs typeface="Consolas" pitchFamily="34" charset="-120"/>
              </a:rPr>
              <a:t>sns.barplot(y=category_rating.index, x=category_rating.values)</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EDA · Top Neighborhoods by Restaurant Count</a:t>
            </a:r>
            <a:endParaRPr lang="en-US" sz="2600" dirty="0"/>
          </a:p>
        </p:txBody>
      </p:sp>
      <p:sp>
        <p:nvSpPr>
          <p:cNvPr id="4" name="Shape 2"/>
          <p:cNvSpPr/>
          <p:nvPr/>
        </p:nvSpPr>
        <p:spPr>
          <a:xfrm>
            <a:off x="228600" y="868680"/>
            <a:ext cx="5760720" cy="35204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graphicFrame>
        <p:nvGraphicFramePr>
          <p:cNvPr id="5" name="Chart 0"/>
          <p:cNvGraphicFramePr/>
          <p:nvPr>
            <p:extLst>
              <p:ext uri="{D42A27DB-BD31-4B8C-83A1-F6EECF244321}">
                <p14:modId xmlns:p14="http://schemas.microsoft.com/office/powerpoint/2010/main" val="1975284378"/>
              </p:ext>
            </p:extLst>
          </p:nvPr>
        </p:nvGraphicFramePr>
        <p:xfrm>
          <a:off x="320040" y="844377"/>
          <a:ext cx="55778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172200" y="868680"/>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7" name="Text 4"/>
          <p:cNvSpPr/>
          <p:nvPr/>
        </p:nvSpPr>
        <p:spPr>
          <a:xfrm>
            <a:off x="6172200" y="868680"/>
            <a:ext cx="1828800" cy="228600"/>
          </a:xfrm>
          <a:prstGeom prst="rect">
            <a:avLst/>
          </a:prstGeom>
          <a:noFill/>
          <a:ln/>
        </p:spPr>
        <p:txBody>
          <a:bodyPr wrap="square" rtlCol="0" anchor="ctr"/>
          <a:lstStyle/>
          <a:p>
            <a:pPr marL="0" indent="0" algn="ctr">
              <a:buNone/>
            </a:pPr>
            <a:r>
              <a:rPr lang="en-US" sz="800" b="1" kern="0" spc="200" dirty="0">
                <a:solidFill>
                  <a:srgbClr val="FF6B35"/>
                </a:solidFill>
              </a:rPr>
              <a:t>TOP 3 INSIGHTS</a:t>
            </a:r>
            <a:endParaRPr lang="en-US" sz="800" dirty="0"/>
          </a:p>
        </p:txBody>
      </p:sp>
      <p:sp>
        <p:nvSpPr>
          <p:cNvPr id="8" name="Shape 5"/>
          <p:cNvSpPr/>
          <p:nvPr/>
        </p:nvSpPr>
        <p:spPr>
          <a:xfrm>
            <a:off x="6172200" y="1188720"/>
            <a:ext cx="2651760" cy="7772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9" name="Shape 6"/>
          <p:cNvSpPr/>
          <p:nvPr/>
        </p:nvSpPr>
        <p:spPr>
          <a:xfrm>
            <a:off x="6172200" y="1188720"/>
            <a:ext cx="54864" cy="777240"/>
          </a:xfrm>
          <a:prstGeom prst="rect">
            <a:avLst/>
          </a:prstGeom>
          <a:solidFill>
            <a:srgbClr val="FF6B35"/>
          </a:solidFill>
          <a:ln w="12700">
            <a:solidFill>
              <a:srgbClr val="FF6B35"/>
            </a:solidFill>
            <a:prstDash val="solid"/>
          </a:ln>
        </p:spPr>
        <p:txBody>
          <a:bodyPr/>
          <a:lstStyle/>
          <a:p>
            <a:endParaRPr lang="en-US"/>
          </a:p>
        </p:txBody>
      </p:sp>
      <p:sp>
        <p:nvSpPr>
          <p:cNvPr id="10" name="Text 7"/>
          <p:cNvSpPr/>
          <p:nvPr/>
        </p:nvSpPr>
        <p:spPr>
          <a:xfrm>
            <a:off x="6309360" y="1234440"/>
            <a:ext cx="2423160" cy="274320"/>
          </a:xfrm>
          <a:prstGeom prst="rect">
            <a:avLst/>
          </a:prstGeom>
          <a:noFill/>
          <a:ln/>
        </p:spPr>
        <p:txBody>
          <a:bodyPr wrap="square" rtlCol="0" anchor="ctr"/>
          <a:lstStyle/>
          <a:p>
            <a:pPr marL="0" indent="0">
              <a:buNone/>
            </a:pPr>
            <a:r>
              <a:rPr lang="en-US" sz="900" b="1" dirty="0">
                <a:solidFill>
                  <a:srgbClr val="FF6B35"/>
                </a:solidFill>
              </a:rPr>
              <a:t>🏆 #1 Hiteen</a:t>
            </a:r>
            <a:endParaRPr lang="en-US" sz="900" dirty="0"/>
          </a:p>
        </p:txBody>
      </p:sp>
      <p:sp>
        <p:nvSpPr>
          <p:cNvPr id="11" name="Text 8"/>
          <p:cNvSpPr/>
          <p:nvPr/>
        </p:nvSpPr>
        <p:spPr>
          <a:xfrm>
            <a:off x="6309360" y="1536192"/>
            <a:ext cx="2423160" cy="320040"/>
          </a:xfrm>
          <a:prstGeom prst="rect">
            <a:avLst/>
          </a:prstGeom>
          <a:noFill/>
          <a:ln/>
        </p:spPr>
        <p:txBody>
          <a:bodyPr wrap="square" rtlCol="0" anchor="ctr"/>
          <a:lstStyle/>
          <a:p>
            <a:pPr marL="0" indent="0">
              <a:buNone/>
            </a:pPr>
            <a:r>
              <a:rPr lang="en-US" sz="850" dirty="0">
                <a:solidFill>
                  <a:srgbClr val="6060A0"/>
                </a:solidFill>
              </a:rPr>
              <a:t>365 restaurants — most dense dining district</a:t>
            </a:r>
            <a:endParaRPr lang="en-US" sz="850" dirty="0"/>
          </a:p>
        </p:txBody>
      </p:sp>
      <p:sp>
        <p:nvSpPr>
          <p:cNvPr id="12" name="Shape 9"/>
          <p:cNvSpPr/>
          <p:nvPr/>
        </p:nvSpPr>
        <p:spPr>
          <a:xfrm>
            <a:off x="6172200" y="2103120"/>
            <a:ext cx="2651760" cy="7772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13" name="Shape 10"/>
          <p:cNvSpPr/>
          <p:nvPr/>
        </p:nvSpPr>
        <p:spPr>
          <a:xfrm>
            <a:off x="6172200" y="2103120"/>
            <a:ext cx="54864" cy="777240"/>
          </a:xfrm>
          <a:prstGeom prst="rect">
            <a:avLst/>
          </a:prstGeom>
          <a:solidFill>
            <a:srgbClr val="00D4FF"/>
          </a:solidFill>
          <a:ln w="12700">
            <a:solidFill>
              <a:srgbClr val="00D4FF"/>
            </a:solidFill>
            <a:prstDash val="solid"/>
          </a:ln>
        </p:spPr>
        <p:txBody>
          <a:bodyPr/>
          <a:lstStyle/>
          <a:p>
            <a:endParaRPr lang="en-US"/>
          </a:p>
        </p:txBody>
      </p:sp>
      <p:sp>
        <p:nvSpPr>
          <p:cNvPr id="14" name="Text 11"/>
          <p:cNvSpPr/>
          <p:nvPr/>
        </p:nvSpPr>
        <p:spPr>
          <a:xfrm>
            <a:off x="6309360" y="2148840"/>
            <a:ext cx="2423160" cy="274320"/>
          </a:xfrm>
          <a:prstGeom prst="rect">
            <a:avLst/>
          </a:prstGeom>
          <a:noFill/>
          <a:ln/>
        </p:spPr>
        <p:txBody>
          <a:bodyPr wrap="square" rtlCol="0" anchor="ctr"/>
          <a:lstStyle/>
          <a:p>
            <a:pPr marL="0" indent="0">
              <a:buNone/>
            </a:pPr>
            <a:r>
              <a:rPr lang="en-US" sz="900" b="1" dirty="0">
                <a:solidFill>
                  <a:srgbClr val="00D4FF"/>
                </a:solidFill>
              </a:rPr>
              <a:t>🥈 #2 Dhahrat Laban</a:t>
            </a:r>
            <a:endParaRPr lang="en-US" sz="900" dirty="0"/>
          </a:p>
        </p:txBody>
      </p:sp>
      <p:sp>
        <p:nvSpPr>
          <p:cNvPr id="15" name="Text 12"/>
          <p:cNvSpPr/>
          <p:nvPr/>
        </p:nvSpPr>
        <p:spPr>
          <a:xfrm>
            <a:off x="6309360" y="2450592"/>
            <a:ext cx="2423160" cy="320040"/>
          </a:xfrm>
          <a:prstGeom prst="rect">
            <a:avLst/>
          </a:prstGeom>
          <a:noFill/>
          <a:ln/>
        </p:spPr>
        <p:txBody>
          <a:bodyPr wrap="square" rtlCol="0" anchor="ctr"/>
          <a:lstStyle/>
          <a:p>
            <a:pPr marL="0" indent="0">
              <a:buNone/>
            </a:pPr>
            <a:r>
              <a:rPr lang="en-US" sz="850" dirty="0">
                <a:solidFill>
                  <a:srgbClr val="6060A0"/>
                </a:solidFill>
              </a:rPr>
              <a:t>328 venues — strong in northern Riyadh</a:t>
            </a:r>
            <a:endParaRPr lang="en-US" sz="850" dirty="0"/>
          </a:p>
        </p:txBody>
      </p:sp>
      <p:sp>
        <p:nvSpPr>
          <p:cNvPr id="16" name="Shape 13"/>
          <p:cNvSpPr/>
          <p:nvPr/>
        </p:nvSpPr>
        <p:spPr>
          <a:xfrm>
            <a:off x="6172200" y="3017520"/>
            <a:ext cx="2651760" cy="7772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17" name="Shape 14"/>
          <p:cNvSpPr/>
          <p:nvPr/>
        </p:nvSpPr>
        <p:spPr>
          <a:xfrm>
            <a:off x="6172200" y="3017520"/>
            <a:ext cx="54864" cy="777240"/>
          </a:xfrm>
          <a:prstGeom prst="rect">
            <a:avLst/>
          </a:prstGeom>
          <a:solidFill>
            <a:srgbClr val="4ADE80"/>
          </a:solidFill>
          <a:ln w="12700">
            <a:solidFill>
              <a:srgbClr val="4ADE80"/>
            </a:solidFill>
            <a:prstDash val="solid"/>
          </a:ln>
        </p:spPr>
        <p:txBody>
          <a:bodyPr/>
          <a:lstStyle/>
          <a:p>
            <a:endParaRPr lang="en-US"/>
          </a:p>
        </p:txBody>
      </p:sp>
      <p:sp>
        <p:nvSpPr>
          <p:cNvPr id="18" name="Text 15"/>
          <p:cNvSpPr/>
          <p:nvPr/>
        </p:nvSpPr>
        <p:spPr>
          <a:xfrm>
            <a:off x="6309360" y="3063240"/>
            <a:ext cx="2423160" cy="274320"/>
          </a:xfrm>
          <a:prstGeom prst="rect">
            <a:avLst/>
          </a:prstGeom>
          <a:noFill/>
          <a:ln/>
        </p:spPr>
        <p:txBody>
          <a:bodyPr wrap="square" rtlCol="0" anchor="ctr"/>
          <a:lstStyle/>
          <a:p>
            <a:pPr marL="0" indent="0">
              <a:buNone/>
            </a:pPr>
            <a:r>
              <a:rPr lang="en-US" sz="900" b="1" dirty="0">
                <a:solidFill>
                  <a:srgbClr val="4ADE80"/>
                </a:solidFill>
              </a:rPr>
              <a:t>🥉 #3 Al Malqa</a:t>
            </a:r>
            <a:endParaRPr lang="en-US" sz="900" dirty="0"/>
          </a:p>
        </p:txBody>
      </p:sp>
      <p:sp>
        <p:nvSpPr>
          <p:cNvPr id="19" name="Text 16"/>
          <p:cNvSpPr/>
          <p:nvPr/>
        </p:nvSpPr>
        <p:spPr>
          <a:xfrm>
            <a:off x="6309360" y="3364992"/>
            <a:ext cx="2423160" cy="320040"/>
          </a:xfrm>
          <a:prstGeom prst="rect">
            <a:avLst/>
          </a:prstGeom>
          <a:noFill/>
          <a:ln/>
        </p:spPr>
        <p:txBody>
          <a:bodyPr wrap="square" rtlCol="0" anchor="ctr"/>
          <a:lstStyle/>
          <a:p>
            <a:pPr marL="0" indent="0">
              <a:buNone/>
            </a:pPr>
            <a:r>
              <a:rPr lang="en-US" sz="850" dirty="0">
                <a:solidFill>
                  <a:srgbClr val="6060A0"/>
                </a:solidFill>
              </a:rPr>
              <a:t>315 venues — highest food variety index</a:t>
            </a:r>
            <a:endParaRPr lang="en-US" sz="850" dirty="0"/>
          </a:p>
        </p:txBody>
      </p:sp>
      <p:sp>
        <p:nvSpPr>
          <p:cNvPr id="20" name="Shape 17"/>
          <p:cNvSpPr/>
          <p:nvPr/>
        </p:nvSpPr>
        <p:spPr>
          <a:xfrm>
            <a:off x="6172200" y="4023360"/>
            <a:ext cx="2651760" cy="41148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21" name="Text 18"/>
          <p:cNvSpPr/>
          <p:nvPr/>
        </p:nvSpPr>
        <p:spPr>
          <a:xfrm>
            <a:off x="6263640" y="4050792"/>
            <a:ext cx="2468880" cy="347472"/>
          </a:xfrm>
          <a:prstGeom prst="rect">
            <a:avLst/>
          </a:prstGeom>
          <a:noFill/>
          <a:ln/>
        </p:spPr>
        <p:txBody>
          <a:bodyPr wrap="square" rtlCol="0" anchor="ctr"/>
          <a:lstStyle/>
          <a:p>
            <a:pPr marL="0" indent="0">
              <a:buNone/>
            </a:pPr>
            <a:r>
              <a:rPr lang="en-US" sz="900" dirty="0">
                <a:solidFill>
                  <a:srgbClr val="FACC15"/>
                </a:solidFill>
              </a:rPr>
              <a:t>Gap: 365 → 160 (200+ diff)</a:t>
            </a:r>
            <a:endParaRPr lang="en-US" sz="900" dirty="0"/>
          </a:p>
        </p:txBody>
      </p:sp>
      <p:sp>
        <p:nvSpPr>
          <p:cNvPr id="22" name="Shape 19"/>
          <p:cNvSpPr/>
          <p:nvPr/>
        </p:nvSpPr>
        <p:spPr>
          <a:xfrm>
            <a:off x="228600" y="4572000"/>
            <a:ext cx="36576" cy="411480"/>
          </a:xfrm>
          <a:prstGeom prst="rect">
            <a:avLst/>
          </a:prstGeom>
          <a:solidFill>
            <a:srgbClr val="FF6B35"/>
          </a:solidFill>
          <a:ln w="12700">
            <a:solidFill>
              <a:srgbClr val="FF6B35"/>
            </a:solidFill>
            <a:prstDash val="solid"/>
          </a:ln>
        </p:spPr>
        <p:txBody>
          <a:bodyPr/>
          <a:lstStyle/>
          <a:p>
            <a:endParaRPr lang="en-US"/>
          </a:p>
        </p:txBody>
      </p:sp>
      <p:sp>
        <p:nvSpPr>
          <p:cNvPr id="23" name="Shape 20"/>
          <p:cNvSpPr/>
          <p:nvPr/>
        </p:nvSpPr>
        <p:spPr>
          <a:xfrm>
            <a:off x="265176" y="4572000"/>
            <a:ext cx="8650224" cy="411480"/>
          </a:xfrm>
          <a:prstGeom prst="rect">
            <a:avLst/>
          </a:prstGeom>
          <a:solidFill>
            <a:srgbClr val="0F0F1E"/>
          </a:solidFill>
          <a:ln w="6350">
            <a:solidFill>
              <a:srgbClr val="1A1A28"/>
            </a:solidFill>
            <a:prstDash val="solid"/>
          </a:ln>
        </p:spPr>
        <p:txBody>
          <a:bodyPr/>
          <a:lstStyle/>
          <a:p>
            <a:endParaRPr lang="en-US"/>
          </a:p>
        </p:txBody>
      </p:sp>
      <p:sp>
        <p:nvSpPr>
          <p:cNvPr id="24" name="Text 21"/>
          <p:cNvSpPr/>
          <p:nvPr/>
        </p:nvSpPr>
        <p:spPr>
          <a:xfrm>
            <a:off x="365760" y="4572000"/>
            <a:ext cx="8503920" cy="411480"/>
          </a:xfrm>
          <a:prstGeom prst="rect">
            <a:avLst/>
          </a:prstGeom>
          <a:noFill/>
          <a:ln/>
        </p:spPr>
        <p:txBody>
          <a:bodyPr wrap="square" rtlCol="0" anchor="ctr"/>
          <a:lstStyle/>
          <a:p>
            <a:pPr marL="0" indent="0">
              <a:buNone/>
            </a:pPr>
            <a:r>
              <a:rPr lang="en-US" sz="900" i="1" dirty="0">
                <a:solidFill>
                  <a:srgbClr val="9090C8"/>
                </a:solidFill>
              </a:rPr>
              <a:t>The top neighborhoods are all located in Riyadh’s northern and northwestern districts, with Hiteen, Dhahrat Laban, and Al Malqa leading. This geographic clustering aligns with wealthier residential belts and newer commercial development. The north-south divide in restaurant density is a consistent pattern.</a:t>
            </a:r>
            <a:endParaRPr lang="en-US" sz="900" dirty="0"/>
          </a:p>
        </p:txBody>
      </p:sp>
      <p:sp>
        <p:nvSpPr>
          <p:cNvPr id="26" name="Text 23"/>
          <p:cNvSpPr/>
          <p:nvPr/>
        </p:nvSpPr>
        <p:spPr>
          <a:xfrm>
            <a:off x="320040" y="4206240"/>
            <a:ext cx="8549640" cy="292608"/>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top_neigh = df_restaurants['neighborhoods'].value_counts().head(10)</a:t>
            </a:r>
            <a:endParaRPr lang="en-US" sz="750" dirty="0"/>
          </a:p>
          <a:p>
            <a:pPr marL="0" indent="0">
              <a:buNone/>
            </a:pPr>
            <a:r>
              <a:rPr lang="en-US" sz="750" dirty="0">
                <a:solidFill>
                  <a:srgbClr val="A0FFA0"/>
                </a:solidFill>
                <a:latin typeface="Consolas" pitchFamily="34" charset="0"/>
                <a:ea typeface="Consolas" pitchFamily="34" charset="-122"/>
                <a:cs typeface="Consolas" pitchFamily="34" charset="-120"/>
              </a:rPr>
              <a:t>sns.barplot(y=top_neigh.index, x=top_neigh.values)</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EDA · Rating by Price Level</a:t>
            </a:r>
            <a:endParaRPr lang="en-US" sz="2600" dirty="0"/>
          </a:p>
        </p:txBody>
      </p:sp>
      <p:sp>
        <p:nvSpPr>
          <p:cNvPr id="4" name="Shape 2"/>
          <p:cNvSpPr/>
          <p:nvPr/>
        </p:nvSpPr>
        <p:spPr>
          <a:xfrm>
            <a:off x="228600" y="868680"/>
            <a:ext cx="5303520" cy="356616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graphicFrame>
        <p:nvGraphicFramePr>
          <p:cNvPr id="5" name="Chart 0"/>
          <p:cNvGraphicFramePr/>
          <p:nvPr>
            <p:extLst>
              <p:ext uri="{D42A27DB-BD31-4B8C-83A1-F6EECF244321}">
                <p14:modId xmlns:p14="http://schemas.microsoft.com/office/powerpoint/2010/main" val="1165852127"/>
              </p:ext>
            </p:extLst>
          </p:nvPr>
        </p:nvGraphicFramePr>
        <p:xfrm>
          <a:off x="320040" y="770235"/>
          <a:ext cx="51206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60720" y="868680"/>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7" name="Text 4"/>
          <p:cNvSpPr/>
          <p:nvPr/>
        </p:nvSpPr>
        <p:spPr>
          <a:xfrm>
            <a:off x="5760720" y="868680"/>
            <a:ext cx="1828800" cy="228600"/>
          </a:xfrm>
          <a:prstGeom prst="rect">
            <a:avLst/>
          </a:prstGeom>
          <a:noFill/>
          <a:ln/>
        </p:spPr>
        <p:txBody>
          <a:bodyPr wrap="square" rtlCol="0" anchor="ctr"/>
          <a:lstStyle/>
          <a:p>
            <a:pPr marL="0" indent="0" algn="ctr">
              <a:buNone/>
            </a:pPr>
            <a:r>
              <a:rPr lang="en-US" sz="800" b="1" kern="0" spc="200" dirty="0">
                <a:solidFill>
                  <a:srgbClr val="FF6B35"/>
                </a:solidFill>
              </a:rPr>
              <a:t>KEY FINDING</a:t>
            </a:r>
            <a:endParaRPr lang="en-US" sz="800" dirty="0"/>
          </a:p>
        </p:txBody>
      </p:sp>
      <p:sp>
        <p:nvSpPr>
          <p:cNvPr id="8" name="Shape 5"/>
          <p:cNvSpPr/>
          <p:nvPr/>
        </p:nvSpPr>
        <p:spPr>
          <a:xfrm>
            <a:off x="5760720" y="1188720"/>
            <a:ext cx="3108960" cy="182880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9" name="Text 6"/>
          <p:cNvSpPr/>
          <p:nvPr/>
        </p:nvSpPr>
        <p:spPr>
          <a:xfrm>
            <a:off x="5852160" y="1261872"/>
            <a:ext cx="2926080" cy="457200"/>
          </a:xfrm>
          <a:prstGeom prst="rect">
            <a:avLst/>
          </a:prstGeom>
          <a:noFill/>
          <a:ln/>
        </p:spPr>
        <p:txBody>
          <a:bodyPr wrap="square" rtlCol="0" anchor="ctr"/>
          <a:lstStyle/>
          <a:p>
            <a:pPr marL="0" indent="0" algn="ctr">
              <a:buNone/>
            </a:pPr>
            <a:r>
              <a:rPr lang="en-US" sz="1800" b="1" dirty="0">
                <a:solidFill>
                  <a:srgbClr val="FF6B35"/>
                </a:solidFill>
                <a:latin typeface="Trebuchet MS" pitchFamily="34" charset="0"/>
                <a:ea typeface="Trebuchet MS" pitchFamily="34" charset="-122"/>
                <a:cs typeface="Trebuchet MS" pitchFamily="34" charset="-120"/>
              </a:rPr>
              <a:t>Price ≠ Quality</a:t>
            </a:r>
            <a:endParaRPr lang="en-US" sz="1800" dirty="0"/>
          </a:p>
        </p:txBody>
      </p:sp>
      <p:sp>
        <p:nvSpPr>
          <p:cNvPr id="10" name="Text 7"/>
          <p:cNvSpPr/>
          <p:nvPr/>
        </p:nvSpPr>
        <p:spPr>
          <a:xfrm>
            <a:off x="5852160" y="1783080"/>
            <a:ext cx="2880360" cy="1143000"/>
          </a:xfrm>
          <a:prstGeom prst="rect">
            <a:avLst/>
          </a:prstGeom>
          <a:noFill/>
          <a:ln/>
        </p:spPr>
        <p:txBody>
          <a:bodyPr wrap="square" rtlCol="0" anchor="ctr"/>
          <a:lstStyle/>
          <a:p>
            <a:pPr marL="0" indent="0">
              <a:lnSpc>
                <a:spcPct val="150000"/>
              </a:lnSpc>
              <a:buNone/>
            </a:pPr>
            <a:r>
              <a:rPr lang="en-US" sz="900" dirty="0">
                <a:solidFill>
                  <a:srgbClr val="E8E8FF"/>
                </a:solidFill>
              </a:rPr>
              <a:t>Levels 0, 1, 2 </a:t>
            </a:r>
            <a:r>
              <a:rPr lang="en-US" sz="900" dirty="0">
                <a:solidFill>
                  <a:srgbClr val="00D4FF"/>
                </a:solidFill>
              </a:rPr>
              <a:t>share nearly identical medians around 7.88–7.95
</a:t>
            </a:r>
            <a:r>
              <a:rPr lang="en-US" sz="900" dirty="0">
                <a:solidFill>
                  <a:srgbClr val="E8E8FF"/>
                </a:solidFill>
              </a:rPr>
              <a:t>Level 3 ($$$) </a:t>
            </a:r>
            <a:r>
              <a:rPr lang="en-US" sz="900" dirty="0">
                <a:solidFill>
                  <a:srgbClr val="4ADE80"/>
                </a:solidFill>
              </a:rPr>
              <a:t>shows slightly lower median near 7.72
</a:t>
            </a:r>
            <a:r>
              <a:rPr lang="en-US" sz="900" dirty="0">
                <a:solidFill>
                  <a:srgbClr val="E8E8FF"/>
                </a:solidFill>
              </a:rPr>
              <a:t>Level 4 </a:t>
            </a:r>
            <a:r>
              <a:rPr lang="en-US" sz="900" dirty="0">
                <a:solidFill>
                  <a:srgbClr val="F472B6"/>
                </a:solidFill>
              </a:rPr>
              <a:t>has only 1 observation — statistically insignificant</a:t>
            </a:r>
            <a:endParaRPr lang="en-US" sz="900" dirty="0"/>
          </a:p>
        </p:txBody>
      </p:sp>
      <p:sp>
        <p:nvSpPr>
          <p:cNvPr id="11" name="Shape 8"/>
          <p:cNvSpPr/>
          <p:nvPr/>
        </p:nvSpPr>
        <p:spPr>
          <a:xfrm>
            <a:off x="5760720" y="3154680"/>
            <a:ext cx="3108960" cy="59436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12" name="Text 9"/>
          <p:cNvSpPr/>
          <p:nvPr/>
        </p:nvSpPr>
        <p:spPr>
          <a:xfrm>
            <a:off x="5852160" y="3200400"/>
            <a:ext cx="2926080" cy="502920"/>
          </a:xfrm>
          <a:prstGeom prst="rect">
            <a:avLst/>
          </a:prstGeom>
          <a:noFill/>
          <a:ln/>
        </p:spPr>
        <p:txBody>
          <a:bodyPr wrap="square" rtlCol="0" anchor="ctr"/>
          <a:lstStyle/>
          <a:p>
            <a:pPr marL="0" indent="0" algn="ctr">
              <a:buNone/>
            </a:pPr>
            <a:r>
              <a:rPr lang="en-US" sz="900" i="1" dirty="0">
                <a:solidFill>
                  <a:srgbClr val="FACC15"/>
                </a:solidFill>
              </a:rPr>
              <a:t>Correlation: price_level ↔ rating = ~0.02</a:t>
            </a:r>
            <a:endParaRPr lang="en-US" sz="900" dirty="0"/>
          </a:p>
        </p:txBody>
      </p:sp>
      <p:sp>
        <p:nvSpPr>
          <p:cNvPr id="13" name="Shape 10"/>
          <p:cNvSpPr/>
          <p:nvPr/>
        </p:nvSpPr>
        <p:spPr>
          <a:xfrm>
            <a:off x="228600" y="4572000"/>
            <a:ext cx="36576" cy="411480"/>
          </a:xfrm>
          <a:prstGeom prst="rect">
            <a:avLst/>
          </a:prstGeom>
          <a:solidFill>
            <a:srgbClr val="FF6B35"/>
          </a:solidFill>
          <a:ln w="12700">
            <a:solidFill>
              <a:srgbClr val="FF6B35"/>
            </a:solidFill>
            <a:prstDash val="solid"/>
          </a:ln>
        </p:spPr>
        <p:txBody>
          <a:bodyPr/>
          <a:lstStyle/>
          <a:p>
            <a:endParaRPr lang="en-US"/>
          </a:p>
        </p:txBody>
      </p:sp>
      <p:sp>
        <p:nvSpPr>
          <p:cNvPr id="14" name="Shape 11"/>
          <p:cNvSpPr/>
          <p:nvPr/>
        </p:nvSpPr>
        <p:spPr>
          <a:xfrm>
            <a:off x="265176" y="4572000"/>
            <a:ext cx="8650224" cy="411480"/>
          </a:xfrm>
          <a:prstGeom prst="rect">
            <a:avLst/>
          </a:prstGeom>
          <a:solidFill>
            <a:srgbClr val="0F0F1E"/>
          </a:solidFill>
          <a:ln w="6350">
            <a:solidFill>
              <a:srgbClr val="1A1A28"/>
            </a:solidFill>
            <a:prstDash val="solid"/>
          </a:ln>
        </p:spPr>
        <p:txBody>
          <a:bodyPr/>
          <a:lstStyle/>
          <a:p>
            <a:endParaRPr lang="en-US"/>
          </a:p>
        </p:txBody>
      </p:sp>
      <p:sp>
        <p:nvSpPr>
          <p:cNvPr id="15" name="Text 12"/>
          <p:cNvSpPr/>
          <p:nvPr/>
        </p:nvSpPr>
        <p:spPr>
          <a:xfrm>
            <a:off x="365760" y="4572000"/>
            <a:ext cx="8503920" cy="411480"/>
          </a:xfrm>
          <a:prstGeom prst="rect">
            <a:avLst/>
          </a:prstGeom>
          <a:noFill/>
          <a:ln/>
        </p:spPr>
        <p:txBody>
          <a:bodyPr wrap="square" rtlCol="0" anchor="ctr"/>
          <a:lstStyle/>
          <a:p>
            <a:pPr marL="0" indent="0">
              <a:buNone/>
            </a:pPr>
            <a:r>
              <a:rPr lang="en-US" sz="900" i="1" dirty="0">
                <a:solidFill>
                  <a:srgbClr val="9090C8"/>
                </a:solidFill>
              </a:rPr>
              <a:t>Ratings remain remarkably stable across price levels 1, 2, and 3, with medians hovering around 7.88 to 7.95. This flat relationship suggests that paying more does not reliably lead to a better-rated experience in Riyadh. Price level has almost no correlation with rating quality.</a:t>
            </a:r>
            <a:endParaRPr lang="en-US" sz="900" dirty="0"/>
          </a:p>
        </p:txBody>
      </p:sp>
      <p:sp>
        <p:nvSpPr>
          <p:cNvPr id="16" name="Shape 13"/>
          <p:cNvSpPr/>
          <p:nvPr/>
        </p:nvSpPr>
        <p:spPr>
          <a:xfrm>
            <a:off x="228600" y="4206240"/>
            <a:ext cx="8686800" cy="292608"/>
          </a:xfrm>
          <a:prstGeom prst="rect">
            <a:avLst/>
          </a:prstGeom>
          <a:solidFill>
            <a:srgbClr val="080810"/>
          </a:solidFill>
          <a:ln w="6350">
            <a:solidFill>
              <a:srgbClr val="2A2A44"/>
            </a:solidFill>
            <a:prstDash val="solid"/>
          </a:ln>
        </p:spPr>
        <p:txBody>
          <a:bodyPr/>
          <a:lstStyle/>
          <a:p>
            <a:endParaRPr lang="en-US"/>
          </a:p>
        </p:txBody>
      </p:sp>
      <p:sp>
        <p:nvSpPr>
          <p:cNvPr id="17" name="Text 14"/>
          <p:cNvSpPr/>
          <p:nvPr/>
        </p:nvSpPr>
        <p:spPr>
          <a:xfrm>
            <a:off x="320040" y="4206240"/>
            <a:ext cx="8549640" cy="292608"/>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sns.boxplot(x=df_restaurants['price_level'], y=df_restaurants['rating'])</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EDA · Ratings Across Top Neighborhoods</a:t>
            </a:r>
            <a:endParaRPr lang="en-US" sz="2600" dirty="0"/>
          </a:p>
        </p:txBody>
      </p:sp>
      <p:sp>
        <p:nvSpPr>
          <p:cNvPr id="4" name="Shape 2"/>
          <p:cNvSpPr/>
          <p:nvPr/>
        </p:nvSpPr>
        <p:spPr>
          <a:xfrm>
            <a:off x="228600" y="868680"/>
            <a:ext cx="8686800" cy="320040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graphicFrame>
        <p:nvGraphicFramePr>
          <p:cNvPr id="5" name="Chart 0"/>
          <p:cNvGraphicFramePr/>
          <p:nvPr>
            <p:extLst>
              <p:ext uri="{D42A27DB-BD31-4B8C-83A1-F6EECF244321}">
                <p14:modId xmlns:p14="http://schemas.microsoft.com/office/powerpoint/2010/main" val="3411056117"/>
              </p:ext>
            </p:extLst>
          </p:nvPr>
        </p:nvGraphicFramePr>
        <p:xfrm>
          <a:off x="320040" y="914400"/>
          <a:ext cx="850392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228600" y="4206240"/>
            <a:ext cx="4206240" cy="347472"/>
          </a:xfrm>
          <a:prstGeom prst="rect">
            <a:avLst/>
          </a:prstGeom>
          <a:solidFill>
            <a:srgbClr val="12121E"/>
          </a:solidFill>
          <a:ln w="6350">
            <a:solidFill>
              <a:srgbClr val="1A1A28"/>
            </a:solidFill>
            <a:prstDash val="solid"/>
          </a:ln>
        </p:spPr>
        <p:txBody>
          <a:bodyPr/>
          <a:lstStyle/>
          <a:p>
            <a:endParaRPr lang="en-US"/>
          </a:p>
        </p:txBody>
      </p:sp>
      <p:sp>
        <p:nvSpPr>
          <p:cNvPr id="7" name="Shape 4"/>
          <p:cNvSpPr/>
          <p:nvPr/>
        </p:nvSpPr>
        <p:spPr>
          <a:xfrm>
            <a:off x="228600" y="4206240"/>
            <a:ext cx="45720" cy="347472"/>
          </a:xfrm>
          <a:prstGeom prst="rect">
            <a:avLst/>
          </a:prstGeom>
          <a:solidFill>
            <a:srgbClr val="FF6B35"/>
          </a:solidFill>
          <a:ln w="12700">
            <a:solidFill>
              <a:srgbClr val="FF6B35"/>
            </a:solidFill>
            <a:prstDash val="solid"/>
          </a:ln>
        </p:spPr>
        <p:txBody>
          <a:bodyPr/>
          <a:lstStyle/>
          <a:p>
            <a:endParaRPr lang="en-US"/>
          </a:p>
        </p:txBody>
      </p:sp>
      <p:sp>
        <p:nvSpPr>
          <p:cNvPr id="8" name="Text 5"/>
          <p:cNvSpPr/>
          <p:nvPr/>
        </p:nvSpPr>
        <p:spPr>
          <a:xfrm>
            <a:off x="338328" y="4206240"/>
            <a:ext cx="1371600" cy="347472"/>
          </a:xfrm>
          <a:prstGeom prst="rect">
            <a:avLst/>
          </a:prstGeom>
          <a:noFill/>
          <a:ln/>
        </p:spPr>
        <p:txBody>
          <a:bodyPr wrap="square" rtlCol="0" anchor="ctr"/>
          <a:lstStyle/>
          <a:p>
            <a:pPr marL="0" indent="0">
              <a:buNone/>
            </a:pPr>
            <a:r>
              <a:rPr lang="en-US" sz="850" b="1" dirty="0">
                <a:solidFill>
                  <a:srgbClr val="FF6B35"/>
                </a:solidFill>
              </a:rPr>
              <a:t>Al Qairawan leads: </a:t>
            </a:r>
            <a:endParaRPr lang="en-US" sz="850" dirty="0"/>
          </a:p>
        </p:txBody>
      </p:sp>
      <p:sp>
        <p:nvSpPr>
          <p:cNvPr id="9" name="Text 6"/>
          <p:cNvSpPr/>
          <p:nvPr/>
        </p:nvSpPr>
        <p:spPr>
          <a:xfrm>
            <a:off x="1691640" y="4206240"/>
            <a:ext cx="2651760" cy="347472"/>
          </a:xfrm>
          <a:prstGeom prst="rect">
            <a:avLst/>
          </a:prstGeom>
          <a:noFill/>
          <a:ln/>
        </p:spPr>
        <p:txBody>
          <a:bodyPr wrap="square" rtlCol="0" anchor="ctr"/>
          <a:lstStyle/>
          <a:p>
            <a:pPr marL="0" indent="0">
              <a:buNone/>
            </a:pPr>
            <a:r>
              <a:rPr lang="en-US" sz="850" dirty="0">
                <a:solidFill>
                  <a:srgbClr val="6060A0"/>
                </a:solidFill>
              </a:rPr>
              <a:t>Highest median ~8.20</a:t>
            </a:r>
            <a:endParaRPr lang="en-US" sz="850" dirty="0"/>
          </a:p>
        </p:txBody>
      </p:sp>
      <p:sp>
        <p:nvSpPr>
          <p:cNvPr id="10" name="Shape 7"/>
          <p:cNvSpPr/>
          <p:nvPr/>
        </p:nvSpPr>
        <p:spPr>
          <a:xfrm>
            <a:off x="4663440" y="4206240"/>
            <a:ext cx="4206240" cy="347472"/>
          </a:xfrm>
          <a:prstGeom prst="rect">
            <a:avLst/>
          </a:prstGeom>
          <a:solidFill>
            <a:srgbClr val="12121E"/>
          </a:solidFill>
          <a:ln w="6350">
            <a:solidFill>
              <a:srgbClr val="1A1A28"/>
            </a:solidFill>
            <a:prstDash val="solid"/>
          </a:ln>
        </p:spPr>
        <p:txBody>
          <a:bodyPr/>
          <a:lstStyle/>
          <a:p>
            <a:endParaRPr lang="en-US"/>
          </a:p>
        </p:txBody>
      </p:sp>
      <p:sp>
        <p:nvSpPr>
          <p:cNvPr id="11" name="Shape 8"/>
          <p:cNvSpPr/>
          <p:nvPr/>
        </p:nvSpPr>
        <p:spPr>
          <a:xfrm>
            <a:off x="4663440" y="4206240"/>
            <a:ext cx="45720" cy="347472"/>
          </a:xfrm>
          <a:prstGeom prst="rect">
            <a:avLst/>
          </a:prstGeom>
          <a:solidFill>
            <a:srgbClr val="F472B6"/>
          </a:solidFill>
          <a:ln w="12700">
            <a:solidFill>
              <a:srgbClr val="F472B6"/>
            </a:solidFill>
            <a:prstDash val="solid"/>
          </a:ln>
        </p:spPr>
        <p:txBody>
          <a:bodyPr/>
          <a:lstStyle/>
          <a:p>
            <a:endParaRPr lang="en-US"/>
          </a:p>
        </p:txBody>
      </p:sp>
      <p:sp>
        <p:nvSpPr>
          <p:cNvPr id="12" name="Text 9"/>
          <p:cNvSpPr/>
          <p:nvPr/>
        </p:nvSpPr>
        <p:spPr>
          <a:xfrm>
            <a:off x="4773168" y="4206240"/>
            <a:ext cx="1371600" cy="347472"/>
          </a:xfrm>
          <a:prstGeom prst="rect">
            <a:avLst/>
          </a:prstGeom>
          <a:noFill/>
          <a:ln/>
        </p:spPr>
        <p:txBody>
          <a:bodyPr wrap="square" rtlCol="0" anchor="ctr"/>
          <a:lstStyle/>
          <a:p>
            <a:pPr marL="0" indent="0">
              <a:buNone/>
            </a:pPr>
            <a:r>
              <a:rPr lang="en-US" sz="850" b="1" dirty="0">
                <a:solidFill>
                  <a:srgbClr val="F472B6"/>
                </a:solidFill>
              </a:rPr>
              <a:t>Al Yasmeen outlier: </a:t>
            </a:r>
            <a:endParaRPr lang="en-US" sz="850" dirty="0"/>
          </a:p>
        </p:txBody>
      </p:sp>
      <p:sp>
        <p:nvSpPr>
          <p:cNvPr id="13" name="Text 10"/>
          <p:cNvSpPr/>
          <p:nvPr/>
        </p:nvSpPr>
        <p:spPr>
          <a:xfrm>
            <a:off x="6126480" y="4206240"/>
            <a:ext cx="2651760" cy="347472"/>
          </a:xfrm>
          <a:prstGeom prst="rect">
            <a:avLst/>
          </a:prstGeom>
          <a:noFill/>
          <a:ln/>
        </p:spPr>
        <p:txBody>
          <a:bodyPr wrap="square" rtlCol="0" anchor="ctr"/>
          <a:lstStyle/>
          <a:p>
            <a:pPr marL="0" indent="0">
              <a:buNone/>
            </a:pPr>
            <a:r>
              <a:rPr lang="en-US" sz="850" dirty="0">
                <a:solidFill>
                  <a:srgbClr val="6060A0"/>
                </a:solidFill>
              </a:rPr>
              <a:t>Widest spread, lowest outlier at ~4.7</a:t>
            </a:r>
            <a:endParaRPr lang="en-US" sz="850" dirty="0"/>
          </a:p>
        </p:txBody>
      </p:sp>
      <p:sp>
        <p:nvSpPr>
          <p:cNvPr id="14" name="Shape 11"/>
          <p:cNvSpPr/>
          <p:nvPr/>
        </p:nvSpPr>
        <p:spPr>
          <a:xfrm>
            <a:off x="228600" y="4617720"/>
            <a:ext cx="4206240" cy="347472"/>
          </a:xfrm>
          <a:prstGeom prst="rect">
            <a:avLst/>
          </a:prstGeom>
          <a:solidFill>
            <a:srgbClr val="12121E"/>
          </a:solidFill>
          <a:ln w="6350">
            <a:solidFill>
              <a:srgbClr val="1A1A28"/>
            </a:solidFill>
            <a:prstDash val="solid"/>
          </a:ln>
        </p:spPr>
        <p:txBody>
          <a:bodyPr/>
          <a:lstStyle/>
          <a:p>
            <a:endParaRPr lang="en-US"/>
          </a:p>
        </p:txBody>
      </p:sp>
      <p:sp>
        <p:nvSpPr>
          <p:cNvPr id="15" name="Shape 12"/>
          <p:cNvSpPr/>
          <p:nvPr/>
        </p:nvSpPr>
        <p:spPr>
          <a:xfrm>
            <a:off x="228600" y="4617720"/>
            <a:ext cx="45720" cy="347472"/>
          </a:xfrm>
          <a:prstGeom prst="rect">
            <a:avLst/>
          </a:prstGeom>
          <a:solidFill>
            <a:srgbClr val="00D4FF"/>
          </a:solidFill>
          <a:ln w="12700">
            <a:solidFill>
              <a:srgbClr val="00D4FF"/>
            </a:solidFill>
            <a:prstDash val="solid"/>
          </a:ln>
        </p:spPr>
        <p:txBody>
          <a:bodyPr/>
          <a:lstStyle/>
          <a:p>
            <a:endParaRPr lang="en-US"/>
          </a:p>
        </p:txBody>
      </p:sp>
      <p:sp>
        <p:nvSpPr>
          <p:cNvPr id="16" name="Text 13"/>
          <p:cNvSpPr/>
          <p:nvPr/>
        </p:nvSpPr>
        <p:spPr>
          <a:xfrm>
            <a:off x="338328" y="4617720"/>
            <a:ext cx="1371600" cy="347472"/>
          </a:xfrm>
          <a:prstGeom prst="rect">
            <a:avLst/>
          </a:prstGeom>
          <a:noFill/>
          <a:ln/>
        </p:spPr>
        <p:txBody>
          <a:bodyPr wrap="square" rtlCol="0" anchor="ctr"/>
          <a:lstStyle/>
          <a:p>
            <a:pPr marL="0" indent="0">
              <a:buNone/>
            </a:pPr>
            <a:r>
              <a:rPr lang="en-US" sz="850" b="1" dirty="0">
                <a:solidFill>
                  <a:srgbClr val="00D4FF"/>
                </a:solidFill>
              </a:rPr>
              <a:t>Hiteen most dense: </a:t>
            </a:r>
            <a:endParaRPr lang="en-US" sz="850" dirty="0"/>
          </a:p>
        </p:txBody>
      </p:sp>
      <p:sp>
        <p:nvSpPr>
          <p:cNvPr id="17" name="Text 14"/>
          <p:cNvSpPr/>
          <p:nvPr/>
        </p:nvSpPr>
        <p:spPr>
          <a:xfrm>
            <a:off x="1691640" y="4617720"/>
            <a:ext cx="2651760" cy="347472"/>
          </a:xfrm>
          <a:prstGeom prst="rect">
            <a:avLst/>
          </a:prstGeom>
          <a:noFill/>
          <a:ln/>
        </p:spPr>
        <p:txBody>
          <a:bodyPr wrap="square" rtlCol="0" anchor="ctr"/>
          <a:lstStyle/>
          <a:p>
            <a:pPr marL="0" indent="0">
              <a:buNone/>
            </a:pPr>
            <a:r>
              <a:rPr lang="en-US" sz="850" dirty="0">
                <a:solidFill>
                  <a:srgbClr val="6060A0"/>
                </a:solidFill>
              </a:rPr>
              <a:t>Median 7.90 despite highest restaurant count</a:t>
            </a:r>
            <a:endParaRPr lang="en-US" sz="850" dirty="0"/>
          </a:p>
        </p:txBody>
      </p:sp>
      <p:sp>
        <p:nvSpPr>
          <p:cNvPr id="18" name="Shape 15"/>
          <p:cNvSpPr/>
          <p:nvPr/>
        </p:nvSpPr>
        <p:spPr>
          <a:xfrm>
            <a:off x="4663440" y="4617720"/>
            <a:ext cx="4206240" cy="347472"/>
          </a:xfrm>
          <a:prstGeom prst="rect">
            <a:avLst/>
          </a:prstGeom>
          <a:solidFill>
            <a:srgbClr val="12121E"/>
          </a:solidFill>
          <a:ln w="6350">
            <a:solidFill>
              <a:srgbClr val="1A1A28"/>
            </a:solidFill>
            <a:prstDash val="solid"/>
          </a:ln>
        </p:spPr>
        <p:txBody>
          <a:bodyPr/>
          <a:lstStyle/>
          <a:p>
            <a:endParaRPr lang="en-US"/>
          </a:p>
        </p:txBody>
      </p:sp>
      <p:sp>
        <p:nvSpPr>
          <p:cNvPr id="19" name="Shape 16"/>
          <p:cNvSpPr/>
          <p:nvPr/>
        </p:nvSpPr>
        <p:spPr>
          <a:xfrm>
            <a:off x="4663440" y="4617720"/>
            <a:ext cx="45720" cy="347472"/>
          </a:xfrm>
          <a:prstGeom prst="rect">
            <a:avLst/>
          </a:prstGeom>
          <a:solidFill>
            <a:srgbClr val="4ADE80"/>
          </a:solidFill>
          <a:ln w="12700">
            <a:solidFill>
              <a:srgbClr val="4ADE80"/>
            </a:solidFill>
            <a:prstDash val="solid"/>
          </a:ln>
        </p:spPr>
        <p:txBody>
          <a:bodyPr/>
          <a:lstStyle/>
          <a:p>
            <a:endParaRPr lang="en-US"/>
          </a:p>
        </p:txBody>
      </p:sp>
      <p:sp>
        <p:nvSpPr>
          <p:cNvPr id="20" name="Text 17"/>
          <p:cNvSpPr/>
          <p:nvPr/>
        </p:nvSpPr>
        <p:spPr>
          <a:xfrm>
            <a:off x="4773168" y="4617720"/>
            <a:ext cx="1371600" cy="347472"/>
          </a:xfrm>
          <a:prstGeom prst="rect">
            <a:avLst/>
          </a:prstGeom>
          <a:noFill/>
          <a:ln/>
        </p:spPr>
        <p:txBody>
          <a:bodyPr wrap="square" rtlCol="0" anchor="ctr"/>
          <a:lstStyle/>
          <a:p>
            <a:pPr marL="0" indent="0">
              <a:buNone/>
            </a:pPr>
            <a:r>
              <a:rPr lang="en-US" sz="850" b="1" dirty="0">
                <a:solidFill>
                  <a:srgbClr val="4ADE80"/>
                </a:solidFill>
              </a:rPr>
              <a:t>Overall uniform: </a:t>
            </a:r>
            <a:endParaRPr lang="en-US" sz="850" dirty="0"/>
          </a:p>
        </p:txBody>
      </p:sp>
      <p:sp>
        <p:nvSpPr>
          <p:cNvPr id="21" name="Text 18"/>
          <p:cNvSpPr/>
          <p:nvPr/>
        </p:nvSpPr>
        <p:spPr>
          <a:xfrm>
            <a:off x="6126480" y="4617720"/>
            <a:ext cx="2651760" cy="347472"/>
          </a:xfrm>
          <a:prstGeom prst="rect">
            <a:avLst/>
          </a:prstGeom>
          <a:noFill/>
          <a:ln/>
        </p:spPr>
        <p:txBody>
          <a:bodyPr wrap="square" rtlCol="0" anchor="ctr"/>
          <a:lstStyle/>
          <a:p>
            <a:pPr marL="0" indent="0">
              <a:buNone/>
            </a:pPr>
            <a:r>
              <a:rPr lang="en-US" sz="850" dirty="0">
                <a:solidFill>
                  <a:srgbClr val="6060A0"/>
                </a:solidFill>
              </a:rPr>
              <a:t>All medians fall within narrow 7.78–8.20 range</a:t>
            </a:r>
            <a:endParaRPr lang="en-US" sz="850" dirty="0"/>
          </a:p>
        </p:txBody>
      </p:sp>
      <p:sp>
        <p:nvSpPr>
          <p:cNvPr id="22" name="Shape 19"/>
          <p:cNvSpPr/>
          <p:nvPr/>
        </p:nvSpPr>
        <p:spPr>
          <a:xfrm>
            <a:off x="228600" y="4892040"/>
            <a:ext cx="8686800" cy="256032"/>
          </a:xfrm>
          <a:prstGeom prst="rect">
            <a:avLst/>
          </a:prstGeom>
          <a:solidFill>
            <a:srgbClr val="080810"/>
          </a:solidFill>
          <a:ln w="6350">
            <a:solidFill>
              <a:srgbClr val="2A2A44"/>
            </a:solidFill>
            <a:prstDash val="solid"/>
          </a:ln>
        </p:spPr>
        <p:txBody>
          <a:bodyPr/>
          <a:lstStyle/>
          <a:p>
            <a:endParaRPr lang="en-US"/>
          </a:p>
        </p:txBody>
      </p:sp>
      <p:sp>
        <p:nvSpPr>
          <p:cNvPr id="23" name="Text 20"/>
          <p:cNvSpPr/>
          <p:nvPr/>
        </p:nvSpPr>
        <p:spPr>
          <a:xfrm>
            <a:off x="320040" y="4892040"/>
            <a:ext cx="8549640" cy="256032"/>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sns.boxplot(data=df_restaurants[df['neighborhoods'].isin(top_neigh)], x='neighborhoods', y='rating')</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EDA · Correlation Between Key Variables</a:t>
            </a:r>
            <a:endParaRPr lang="en-US" sz="2600" dirty="0"/>
          </a:p>
        </p:txBody>
      </p:sp>
      <p:sp>
        <p:nvSpPr>
          <p:cNvPr id="4" name="Text 2"/>
          <p:cNvSpPr/>
          <p:nvPr/>
        </p:nvSpPr>
        <p:spPr>
          <a:xfrm>
            <a:off x="1010782" y="1286759"/>
            <a:ext cx="1371600" cy="320040"/>
          </a:xfrm>
          <a:prstGeom prst="rect">
            <a:avLst/>
          </a:prstGeom>
          <a:noFill/>
          <a:ln/>
        </p:spPr>
        <p:txBody>
          <a:bodyPr wrap="square"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rating</a:t>
            </a:r>
            <a:endParaRPr lang="en-US" sz="800" dirty="0"/>
          </a:p>
        </p:txBody>
      </p:sp>
      <p:sp>
        <p:nvSpPr>
          <p:cNvPr id="5" name="Text 3"/>
          <p:cNvSpPr/>
          <p:nvPr/>
        </p:nvSpPr>
        <p:spPr>
          <a:xfrm>
            <a:off x="96382" y="1652519"/>
            <a:ext cx="868680" cy="594360"/>
          </a:xfrm>
          <a:prstGeom prst="rect">
            <a:avLst/>
          </a:prstGeom>
          <a:noFill/>
          <a:ln/>
        </p:spPr>
        <p:txBody>
          <a:bodyPr wrap="square" rtlCol="0" anchor="ctr"/>
          <a:lstStyle/>
          <a:p>
            <a:pPr marL="0" indent="0" algn="r">
              <a:buNone/>
            </a:pPr>
            <a:r>
              <a:rPr lang="en-US" sz="800" b="1" dirty="0">
                <a:solidFill>
                  <a:srgbClr val="00D4FF"/>
                </a:solidFill>
                <a:latin typeface="Consolas" pitchFamily="34" charset="0"/>
                <a:ea typeface="Consolas" pitchFamily="34" charset="-122"/>
                <a:cs typeface="Consolas" pitchFamily="34" charset="-120"/>
              </a:rPr>
              <a:t>rating</a:t>
            </a:r>
            <a:endParaRPr lang="en-US" sz="800" dirty="0"/>
          </a:p>
        </p:txBody>
      </p:sp>
      <p:sp>
        <p:nvSpPr>
          <p:cNvPr id="6" name="Text 4"/>
          <p:cNvSpPr/>
          <p:nvPr/>
        </p:nvSpPr>
        <p:spPr>
          <a:xfrm>
            <a:off x="2382382" y="1286759"/>
            <a:ext cx="1371600" cy="320040"/>
          </a:xfrm>
          <a:prstGeom prst="rect">
            <a:avLst/>
          </a:prstGeom>
          <a:noFill/>
          <a:ln/>
        </p:spPr>
        <p:txBody>
          <a:bodyPr wrap="square"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price_level</a:t>
            </a:r>
            <a:endParaRPr lang="en-US" sz="800" dirty="0"/>
          </a:p>
        </p:txBody>
      </p:sp>
      <p:sp>
        <p:nvSpPr>
          <p:cNvPr id="7" name="Text 5"/>
          <p:cNvSpPr/>
          <p:nvPr/>
        </p:nvSpPr>
        <p:spPr>
          <a:xfrm>
            <a:off x="96382" y="2246879"/>
            <a:ext cx="868680" cy="594360"/>
          </a:xfrm>
          <a:prstGeom prst="rect">
            <a:avLst/>
          </a:prstGeom>
          <a:noFill/>
          <a:ln/>
        </p:spPr>
        <p:txBody>
          <a:bodyPr wrap="square" rtlCol="0" anchor="ctr"/>
          <a:lstStyle/>
          <a:p>
            <a:pPr marL="0" indent="0" algn="r">
              <a:buNone/>
            </a:pPr>
            <a:r>
              <a:rPr lang="en-US" sz="800" b="1" dirty="0">
                <a:solidFill>
                  <a:srgbClr val="00D4FF"/>
                </a:solidFill>
                <a:latin typeface="Consolas" pitchFamily="34" charset="0"/>
                <a:ea typeface="Consolas" pitchFamily="34" charset="-122"/>
                <a:cs typeface="Consolas" pitchFamily="34" charset="-120"/>
              </a:rPr>
              <a:t>price_level</a:t>
            </a:r>
            <a:endParaRPr lang="en-US" sz="800" dirty="0"/>
          </a:p>
        </p:txBody>
      </p:sp>
      <p:sp>
        <p:nvSpPr>
          <p:cNvPr id="8" name="Text 6"/>
          <p:cNvSpPr/>
          <p:nvPr/>
        </p:nvSpPr>
        <p:spPr>
          <a:xfrm>
            <a:off x="3753982" y="1286759"/>
            <a:ext cx="1371600" cy="320040"/>
          </a:xfrm>
          <a:prstGeom prst="rect">
            <a:avLst/>
          </a:prstGeom>
          <a:noFill/>
          <a:ln/>
        </p:spPr>
        <p:txBody>
          <a:bodyPr wrap="square"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total_photos</a:t>
            </a:r>
            <a:endParaRPr lang="en-US" sz="800" dirty="0"/>
          </a:p>
        </p:txBody>
      </p:sp>
      <p:sp>
        <p:nvSpPr>
          <p:cNvPr id="9" name="Text 7"/>
          <p:cNvSpPr/>
          <p:nvPr/>
        </p:nvSpPr>
        <p:spPr>
          <a:xfrm>
            <a:off x="96382" y="2841239"/>
            <a:ext cx="868680" cy="594360"/>
          </a:xfrm>
          <a:prstGeom prst="rect">
            <a:avLst/>
          </a:prstGeom>
          <a:noFill/>
          <a:ln/>
        </p:spPr>
        <p:txBody>
          <a:bodyPr wrap="square" rtlCol="0" anchor="ctr"/>
          <a:lstStyle/>
          <a:p>
            <a:pPr marL="0" indent="0" algn="r">
              <a:buNone/>
            </a:pPr>
            <a:r>
              <a:rPr lang="en-US" sz="800" b="1" dirty="0">
                <a:solidFill>
                  <a:srgbClr val="00D4FF"/>
                </a:solidFill>
                <a:latin typeface="Consolas" pitchFamily="34" charset="0"/>
                <a:ea typeface="Consolas" pitchFamily="34" charset="-122"/>
                <a:cs typeface="Consolas" pitchFamily="34" charset="-120"/>
              </a:rPr>
              <a:t>total_photos</a:t>
            </a:r>
            <a:endParaRPr lang="en-US" sz="800" dirty="0"/>
          </a:p>
        </p:txBody>
      </p:sp>
      <p:sp>
        <p:nvSpPr>
          <p:cNvPr id="10" name="Text 8"/>
          <p:cNvSpPr/>
          <p:nvPr/>
        </p:nvSpPr>
        <p:spPr>
          <a:xfrm>
            <a:off x="5125582" y="1286759"/>
            <a:ext cx="1371600" cy="320040"/>
          </a:xfrm>
          <a:prstGeom prst="rect">
            <a:avLst/>
          </a:prstGeom>
          <a:noFill/>
          <a:ln/>
        </p:spPr>
        <p:txBody>
          <a:bodyPr wrap="square"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total_ratings</a:t>
            </a:r>
            <a:endParaRPr lang="en-US" sz="800" dirty="0"/>
          </a:p>
        </p:txBody>
      </p:sp>
      <p:sp>
        <p:nvSpPr>
          <p:cNvPr id="11" name="Text 9"/>
          <p:cNvSpPr/>
          <p:nvPr/>
        </p:nvSpPr>
        <p:spPr>
          <a:xfrm>
            <a:off x="96382" y="3435599"/>
            <a:ext cx="868680" cy="594360"/>
          </a:xfrm>
          <a:prstGeom prst="rect">
            <a:avLst/>
          </a:prstGeom>
          <a:noFill/>
          <a:ln/>
        </p:spPr>
        <p:txBody>
          <a:bodyPr wrap="square" rtlCol="0" anchor="ctr"/>
          <a:lstStyle/>
          <a:p>
            <a:pPr marL="0" indent="0" algn="r">
              <a:buNone/>
            </a:pPr>
            <a:r>
              <a:rPr lang="en-US" sz="800" b="1" dirty="0">
                <a:solidFill>
                  <a:srgbClr val="00D4FF"/>
                </a:solidFill>
                <a:latin typeface="Consolas" pitchFamily="34" charset="0"/>
                <a:ea typeface="Consolas" pitchFamily="34" charset="-122"/>
                <a:cs typeface="Consolas" pitchFamily="34" charset="-120"/>
              </a:rPr>
              <a:t>total_ratings</a:t>
            </a:r>
            <a:endParaRPr lang="en-US" sz="800" dirty="0"/>
          </a:p>
        </p:txBody>
      </p:sp>
      <p:sp>
        <p:nvSpPr>
          <p:cNvPr id="12" name="Shape 10"/>
          <p:cNvSpPr/>
          <p:nvPr/>
        </p:nvSpPr>
        <p:spPr>
          <a:xfrm>
            <a:off x="1010782" y="1652519"/>
            <a:ext cx="1371600" cy="594360"/>
          </a:xfrm>
          <a:prstGeom prst="rect">
            <a:avLst/>
          </a:prstGeom>
          <a:solidFill>
            <a:srgbClr val="1A1A40"/>
          </a:solidFill>
          <a:ln w="6350">
            <a:solidFill>
              <a:srgbClr val="1A1A28"/>
            </a:solidFill>
            <a:prstDash val="solid"/>
          </a:ln>
        </p:spPr>
        <p:txBody>
          <a:bodyPr/>
          <a:lstStyle/>
          <a:p>
            <a:endParaRPr lang="en-US"/>
          </a:p>
        </p:txBody>
      </p:sp>
      <p:sp>
        <p:nvSpPr>
          <p:cNvPr id="13" name="Text 11"/>
          <p:cNvSpPr/>
          <p:nvPr/>
        </p:nvSpPr>
        <p:spPr>
          <a:xfrm>
            <a:off x="1010782" y="1652519"/>
            <a:ext cx="1371600" cy="594360"/>
          </a:xfrm>
          <a:prstGeom prst="rect">
            <a:avLst/>
          </a:prstGeom>
          <a:noFill/>
          <a:ln/>
        </p:spPr>
        <p:txBody>
          <a:bodyPr wrap="square" rtlCol="0" anchor="ctr"/>
          <a:lstStyle/>
          <a:p>
            <a:pPr marL="0" indent="0" algn="ctr">
              <a:buNone/>
            </a:pPr>
            <a:r>
              <a:rPr lang="en-US" sz="1400" b="1" dirty="0">
                <a:solidFill>
                  <a:srgbClr val="6060A0"/>
                </a:solidFill>
              </a:rPr>
              <a:t>1.00</a:t>
            </a:r>
            <a:endParaRPr lang="en-US" sz="1400" dirty="0"/>
          </a:p>
        </p:txBody>
      </p:sp>
      <p:sp>
        <p:nvSpPr>
          <p:cNvPr id="14" name="Shape 12"/>
          <p:cNvSpPr/>
          <p:nvPr/>
        </p:nvSpPr>
        <p:spPr>
          <a:xfrm>
            <a:off x="2382382" y="1652519"/>
            <a:ext cx="1371600" cy="594360"/>
          </a:xfrm>
          <a:prstGeom prst="rect">
            <a:avLst/>
          </a:prstGeom>
          <a:solidFill>
            <a:srgbClr val="12121E"/>
          </a:solidFill>
          <a:ln w="6350">
            <a:solidFill>
              <a:srgbClr val="1A1A28"/>
            </a:solidFill>
            <a:prstDash val="solid"/>
          </a:ln>
        </p:spPr>
        <p:txBody>
          <a:bodyPr/>
          <a:lstStyle/>
          <a:p>
            <a:endParaRPr lang="en-US"/>
          </a:p>
        </p:txBody>
      </p:sp>
      <p:sp>
        <p:nvSpPr>
          <p:cNvPr id="15" name="Text 13"/>
          <p:cNvSpPr/>
          <p:nvPr/>
        </p:nvSpPr>
        <p:spPr>
          <a:xfrm>
            <a:off x="2382382" y="1652519"/>
            <a:ext cx="1371600" cy="594360"/>
          </a:xfrm>
          <a:prstGeom prst="rect">
            <a:avLst/>
          </a:prstGeom>
          <a:noFill/>
          <a:ln/>
        </p:spPr>
        <p:txBody>
          <a:bodyPr wrap="square" rtlCol="0" anchor="ctr"/>
          <a:lstStyle/>
          <a:p>
            <a:pPr marL="0" indent="0" algn="ctr">
              <a:buNone/>
            </a:pPr>
            <a:r>
              <a:rPr lang="en-US" sz="1400" b="1" dirty="0">
                <a:solidFill>
                  <a:srgbClr val="404060"/>
                </a:solidFill>
              </a:rPr>
              <a:t>0.02</a:t>
            </a:r>
            <a:endParaRPr lang="en-US" sz="1400" dirty="0"/>
          </a:p>
        </p:txBody>
      </p:sp>
      <p:sp>
        <p:nvSpPr>
          <p:cNvPr id="16" name="Shape 14"/>
          <p:cNvSpPr/>
          <p:nvPr/>
        </p:nvSpPr>
        <p:spPr>
          <a:xfrm>
            <a:off x="3753982" y="1652519"/>
            <a:ext cx="1371600" cy="594360"/>
          </a:xfrm>
          <a:prstGeom prst="rect">
            <a:avLst/>
          </a:prstGeom>
          <a:solidFill>
            <a:srgbClr val="1A3A5A"/>
          </a:solidFill>
          <a:ln w="6350">
            <a:solidFill>
              <a:srgbClr val="1A1A28"/>
            </a:solidFill>
            <a:prstDash val="solid"/>
          </a:ln>
        </p:spPr>
        <p:txBody>
          <a:bodyPr/>
          <a:lstStyle/>
          <a:p>
            <a:endParaRPr lang="en-US"/>
          </a:p>
        </p:txBody>
      </p:sp>
      <p:sp>
        <p:nvSpPr>
          <p:cNvPr id="17" name="Text 15"/>
          <p:cNvSpPr/>
          <p:nvPr/>
        </p:nvSpPr>
        <p:spPr>
          <a:xfrm>
            <a:off x="3753982" y="1652519"/>
            <a:ext cx="1371600" cy="594360"/>
          </a:xfrm>
          <a:prstGeom prst="rect">
            <a:avLst/>
          </a:prstGeom>
          <a:noFill/>
          <a:ln/>
        </p:spPr>
        <p:txBody>
          <a:bodyPr wrap="square" rtlCol="0" anchor="ctr"/>
          <a:lstStyle/>
          <a:p>
            <a:pPr marL="0" indent="0" algn="ctr">
              <a:buNone/>
            </a:pPr>
            <a:r>
              <a:rPr lang="en-US" sz="1400" b="1" dirty="0">
                <a:solidFill>
                  <a:srgbClr val="00D4FF"/>
                </a:solidFill>
              </a:rPr>
              <a:t>0.28</a:t>
            </a:r>
            <a:endParaRPr lang="en-US" sz="1400" dirty="0"/>
          </a:p>
        </p:txBody>
      </p:sp>
      <p:sp>
        <p:nvSpPr>
          <p:cNvPr id="18" name="Shape 16"/>
          <p:cNvSpPr/>
          <p:nvPr/>
        </p:nvSpPr>
        <p:spPr>
          <a:xfrm>
            <a:off x="5125582" y="1652519"/>
            <a:ext cx="1371600" cy="594360"/>
          </a:xfrm>
          <a:prstGeom prst="rect">
            <a:avLst/>
          </a:prstGeom>
          <a:solidFill>
            <a:srgbClr val="1A3A5A"/>
          </a:solidFill>
          <a:ln w="6350">
            <a:solidFill>
              <a:srgbClr val="1A1A28"/>
            </a:solidFill>
            <a:prstDash val="solid"/>
          </a:ln>
        </p:spPr>
        <p:txBody>
          <a:bodyPr/>
          <a:lstStyle/>
          <a:p>
            <a:endParaRPr lang="en-US"/>
          </a:p>
        </p:txBody>
      </p:sp>
      <p:sp>
        <p:nvSpPr>
          <p:cNvPr id="19" name="Text 17"/>
          <p:cNvSpPr/>
          <p:nvPr/>
        </p:nvSpPr>
        <p:spPr>
          <a:xfrm>
            <a:off x="5125582" y="1652519"/>
            <a:ext cx="1371600" cy="594360"/>
          </a:xfrm>
          <a:prstGeom prst="rect">
            <a:avLst/>
          </a:prstGeom>
          <a:noFill/>
          <a:ln/>
        </p:spPr>
        <p:txBody>
          <a:bodyPr wrap="square" rtlCol="0" anchor="ctr"/>
          <a:lstStyle/>
          <a:p>
            <a:pPr marL="0" indent="0" algn="ctr">
              <a:buNone/>
            </a:pPr>
            <a:r>
              <a:rPr lang="en-US" sz="1400" b="1" dirty="0">
                <a:solidFill>
                  <a:srgbClr val="00D4FF"/>
                </a:solidFill>
              </a:rPr>
              <a:t>0.25</a:t>
            </a:r>
            <a:endParaRPr lang="en-US" sz="1400" dirty="0"/>
          </a:p>
        </p:txBody>
      </p:sp>
      <p:sp>
        <p:nvSpPr>
          <p:cNvPr id="20" name="Shape 18"/>
          <p:cNvSpPr/>
          <p:nvPr/>
        </p:nvSpPr>
        <p:spPr>
          <a:xfrm>
            <a:off x="1010782" y="2246879"/>
            <a:ext cx="1371600" cy="594360"/>
          </a:xfrm>
          <a:prstGeom prst="rect">
            <a:avLst/>
          </a:prstGeom>
          <a:solidFill>
            <a:srgbClr val="12121E"/>
          </a:solidFill>
          <a:ln w="6350">
            <a:solidFill>
              <a:srgbClr val="1A1A28"/>
            </a:solidFill>
            <a:prstDash val="solid"/>
          </a:ln>
        </p:spPr>
        <p:txBody>
          <a:bodyPr/>
          <a:lstStyle/>
          <a:p>
            <a:endParaRPr lang="en-US"/>
          </a:p>
        </p:txBody>
      </p:sp>
      <p:sp>
        <p:nvSpPr>
          <p:cNvPr id="21" name="Text 19"/>
          <p:cNvSpPr/>
          <p:nvPr/>
        </p:nvSpPr>
        <p:spPr>
          <a:xfrm>
            <a:off x="1010782" y="2246879"/>
            <a:ext cx="1371600" cy="594360"/>
          </a:xfrm>
          <a:prstGeom prst="rect">
            <a:avLst/>
          </a:prstGeom>
          <a:noFill/>
          <a:ln/>
        </p:spPr>
        <p:txBody>
          <a:bodyPr wrap="square" rtlCol="0" anchor="ctr"/>
          <a:lstStyle/>
          <a:p>
            <a:pPr marL="0" indent="0" algn="ctr">
              <a:buNone/>
            </a:pPr>
            <a:r>
              <a:rPr lang="en-US" sz="1400" b="1" dirty="0">
                <a:solidFill>
                  <a:srgbClr val="404060"/>
                </a:solidFill>
              </a:rPr>
              <a:t>0.02</a:t>
            </a:r>
            <a:endParaRPr lang="en-US" sz="1400" dirty="0"/>
          </a:p>
        </p:txBody>
      </p:sp>
      <p:sp>
        <p:nvSpPr>
          <p:cNvPr id="22" name="Shape 20"/>
          <p:cNvSpPr/>
          <p:nvPr/>
        </p:nvSpPr>
        <p:spPr>
          <a:xfrm>
            <a:off x="2382382" y="2246879"/>
            <a:ext cx="1371600" cy="594360"/>
          </a:xfrm>
          <a:prstGeom prst="rect">
            <a:avLst/>
          </a:prstGeom>
          <a:solidFill>
            <a:srgbClr val="1A1A40"/>
          </a:solidFill>
          <a:ln w="6350">
            <a:solidFill>
              <a:srgbClr val="1A1A28"/>
            </a:solidFill>
            <a:prstDash val="solid"/>
          </a:ln>
        </p:spPr>
        <p:txBody>
          <a:bodyPr/>
          <a:lstStyle/>
          <a:p>
            <a:endParaRPr lang="en-US"/>
          </a:p>
        </p:txBody>
      </p:sp>
      <p:sp>
        <p:nvSpPr>
          <p:cNvPr id="23" name="Text 21"/>
          <p:cNvSpPr/>
          <p:nvPr/>
        </p:nvSpPr>
        <p:spPr>
          <a:xfrm>
            <a:off x="2382382" y="2246879"/>
            <a:ext cx="1371600" cy="594360"/>
          </a:xfrm>
          <a:prstGeom prst="rect">
            <a:avLst/>
          </a:prstGeom>
          <a:noFill/>
          <a:ln/>
        </p:spPr>
        <p:txBody>
          <a:bodyPr wrap="square" rtlCol="0" anchor="ctr"/>
          <a:lstStyle/>
          <a:p>
            <a:pPr marL="0" indent="0" algn="ctr">
              <a:buNone/>
            </a:pPr>
            <a:r>
              <a:rPr lang="en-US" sz="1400" b="1" dirty="0">
                <a:solidFill>
                  <a:srgbClr val="6060A0"/>
                </a:solidFill>
              </a:rPr>
              <a:t>1.00</a:t>
            </a:r>
            <a:endParaRPr lang="en-US" sz="1400" dirty="0"/>
          </a:p>
        </p:txBody>
      </p:sp>
      <p:sp>
        <p:nvSpPr>
          <p:cNvPr id="24" name="Shape 22"/>
          <p:cNvSpPr/>
          <p:nvPr/>
        </p:nvSpPr>
        <p:spPr>
          <a:xfrm>
            <a:off x="3753982" y="2246879"/>
            <a:ext cx="1371600" cy="594360"/>
          </a:xfrm>
          <a:prstGeom prst="rect">
            <a:avLst/>
          </a:prstGeom>
          <a:solidFill>
            <a:srgbClr val="1A1A40"/>
          </a:solidFill>
          <a:ln w="6350">
            <a:solidFill>
              <a:srgbClr val="1A1A28"/>
            </a:solidFill>
            <a:prstDash val="solid"/>
          </a:ln>
        </p:spPr>
        <p:txBody>
          <a:bodyPr/>
          <a:lstStyle/>
          <a:p>
            <a:endParaRPr lang="en-US"/>
          </a:p>
        </p:txBody>
      </p:sp>
      <p:sp>
        <p:nvSpPr>
          <p:cNvPr id="25" name="Text 23"/>
          <p:cNvSpPr/>
          <p:nvPr/>
        </p:nvSpPr>
        <p:spPr>
          <a:xfrm>
            <a:off x="3753982" y="2246879"/>
            <a:ext cx="1371600" cy="594360"/>
          </a:xfrm>
          <a:prstGeom prst="rect">
            <a:avLst/>
          </a:prstGeom>
          <a:noFill/>
          <a:ln/>
        </p:spPr>
        <p:txBody>
          <a:bodyPr wrap="square" rtlCol="0" anchor="ctr"/>
          <a:lstStyle/>
          <a:p>
            <a:pPr marL="0" indent="0" algn="ctr">
              <a:buNone/>
            </a:pPr>
            <a:r>
              <a:rPr lang="en-US" sz="1400" b="1" dirty="0">
                <a:solidFill>
                  <a:srgbClr val="6060A0"/>
                </a:solidFill>
              </a:rPr>
              <a:t>-0.03</a:t>
            </a:r>
            <a:endParaRPr lang="en-US" sz="1400" dirty="0"/>
          </a:p>
        </p:txBody>
      </p:sp>
      <p:sp>
        <p:nvSpPr>
          <p:cNvPr id="26" name="Shape 24"/>
          <p:cNvSpPr/>
          <p:nvPr/>
        </p:nvSpPr>
        <p:spPr>
          <a:xfrm>
            <a:off x="5125582" y="2246879"/>
            <a:ext cx="1371600" cy="594360"/>
          </a:xfrm>
          <a:prstGeom prst="rect">
            <a:avLst/>
          </a:prstGeom>
          <a:solidFill>
            <a:srgbClr val="12121E"/>
          </a:solidFill>
          <a:ln w="6350">
            <a:solidFill>
              <a:srgbClr val="1A1A28"/>
            </a:solidFill>
            <a:prstDash val="solid"/>
          </a:ln>
        </p:spPr>
        <p:txBody>
          <a:bodyPr/>
          <a:lstStyle/>
          <a:p>
            <a:endParaRPr lang="en-US"/>
          </a:p>
        </p:txBody>
      </p:sp>
      <p:sp>
        <p:nvSpPr>
          <p:cNvPr id="27" name="Text 25"/>
          <p:cNvSpPr/>
          <p:nvPr/>
        </p:nvSpPr>
        <p:spPr>
          <a:xfrm>
            <a:off x="5125582" y="2246879"/>
            <a:ext cx="1371600" cy="594360"/>
          </a:xfrm>
          <a:prstGeom prst="rect">
            <a:avLst/>
          </a:prstGeom>
          <a:noFill/>
          <a:ln/>
        </p:spPr>
        <p:txBody>
          <a:bodyPr wrap="square" rtlCol="0" anchor="ctr"/>
          <a:lstStyle/>
          <a:p>
            <a:pPr marL="0" indent="0" algn="ctr">
              <a:buNone/>
            </a:pPr>
            <a:r>
              <a:rPr lang="en-US" sz="1400" b="1" dirty="0">
                <a:solidFill>
                  <a:srgbClr val="404060"/>
                </a:solidFill>
              </a:rPr>
              <a:t>-0.01</a:t>
            </a:r>
            <a:endParaRPr lang="en-US" sz="1400" dirty="0"/>
          </a:p>
        </p:txBody>
      </p:sp>
      <p:sp>
        <p:nvSpPr>
          <p:cNvPr id="28" name="Shape 26"/>
          <p:cNvSpPr/>
          <p:nvPr/>
        </p:nvSpPr>
        <p:spPr>
          <a:xfrm>
            <a:off x="1010782" y="2841239"/>
            <a:ext cx="1371600" cy="594360"/>
          </a:xfrm>
          <a:prstGeom prst="rect">
            <a:avLst/>
          </a:prstGeom>
          <a:solidFill>
            <a:srgbClr val="1A3A5A"/>
          </a:solidFill>
          <a:ln w="6350">
            <a:solidFill>
              <a:srgbClr val="1A1A28"/>
            </a:solidFill>
            <a:prstDash val="solid"/>
          </a:ln>
        </p:spPr>
        <p:txBody>
          <a:bodyPr/>
          <a:lstStyle/>
          <a:p>
            <a:endParaRPr lang="en-US"/>
          </a:p>
        </p:txBody>
      </p:sp>
      <p:sp>
        <p:nvSpPr>
          <p:cNvPr id="29" name="Text 27"/>
          <p:cNvSpPr/>
          <p:nvPr/>
        </p:nvSpPr>
        <p:spPr>
          <a:xfrm>
            <a:off x="1010782" y="2841239"/>
            <a:ext cx="1371600" cy="594360"/>
          </a:xfrm>
          <a:prstGeom prst="rect">
            <a:avLst/>
          </a:prstGeom>
          <a:noFill/>
          <a:ln/>
        </p:spPr>
        <p:txBody>
          <a:bodyPr wrap="square" rtlCol="0" anchor="ctr"/>
          <a:lstStyle/>
          <a:p>
            <a:pPr marL="0" indent="0" algn="ctr">
              <a:buNone/>
            </a:pPr>
            <a:r>
              <a:rPr lang="en-US" sz="1400" b="1" dirty="0">
                <a:solidFill>
                  <a:srgbClr val="00D4FF"/>
                </a:solidFill>
              </a:rPr>
              <a:t>0.28</a:t>
            </a:r>
            <a:endParaRPr lang="en-US" sz="1400" dirty="0"/>
          </a:p>
        </p:txBody>
      </p:sp>
      <p:sp>
        <p:nvSpPr>
          <p:cNvPr id="30" name="Shape 28"/>
          <p:cNvSpPr/>
          <p:nvPr/>
        </p:nvSpPr>
        <p:spPr>
          <a:xfrm>
            <a:off x="2382382" y="2841239"/>
            <a:ext cx="1371600" cy="594360"/>
          </a:xfrm>
          <a:prstGeom prst="rect">
            <a:avLst/>
          </a:prstGeom>
          <a:solidFill>
            <a:srgbClr val="1A1A40"/>
          </a:solidFill>
          <a:ln w="6350">
            <a:solidFill>
              <a:srgbClr val="1A1A28"/>
            </a:solidFill>
            <a:prstDash val="solid"/>
          </a:ln>
        </p:spPr>
        <p:txBody>
          <a:bodyPr/>
          <a:lstStyle/>
          <a:p>
            <a:endParaRPr lang="en-US"/>
          </a:p>
        </p:txBody>
      </p:sp>
      <p:sp>
        <p:nvSpPr>
          <p:cNvPr id="31" name="Text 29"/>
          <p:cNvSpPr/>
          <p:nvPr/>
        </p:nvSpPr>
        <p:spPr>
          <a:xfrm>
            <a:off x="2382382" y="2841239"/>
            <a:ext cx="1371600" cy="594360"/>
          </a:xfrm>
          <a:prstGeom prst="rect">
            <a:avLst/>
          </a:prstGeom>
          <a:noFill/>
          <a:ln/>
        </p:spPr>
        <p:txBody>
          <a:bodyPr wrap="square" rtlCol="0" anchor="ctr"/>
          <a:lstStyle/>
          <a:p>
            <a:pPr marL="0" indent="0" algn="ctr">
              <a:buNone/>
            </a:pPr>
            <a:r>
              <a:rPr lang="en-US" sz="1400" b="1" dirty="0">
                <a:solidFill>
                  <a:srgbClr val="6060A0"/>
                </a:solidFill>
              </a:rPr>
              <a:t>-0.03</a:t>
            </a:r>
            <a:endParaRPr lang="en-US" sz="1400" dirty="0"/>
          </a:p>
        </p:txBody>
      </p:sp>
      <p:sp>
        <p:nvSpPr>
          <p:cNvPr id="32" name="Shape 30"/>
          <p:cNvSpPr/>
          <p:nvPr/>
        </p:nvSpPr>
        <p:spPr>
          <a:xfrm>
            <a:off x="3753982" y="2841239"/>
            <a:ext cx="1371600" cy="594360"/>
          </a:xfrm>
          <a:prstGeom prst="rect">
            <a:avLst/>
          </a:prstGeom>
          <a:solidFill>
            <a:srgbClr val="1A1A40"/>
          </a:solidFill>
          <a:ln w="6350">
            <a:solidFill>
              <a:srgbClr val="1A1A28"/>
            </a:solidFill>
            <a:prstDash val="solid"/>
          </a:ln>
        </p:spPr>
        <p:txBody>
          <a:bodyPr/>
          <a:lstStyle/>
          <a:p>
            <a:endParaRPr lang="en-US"/>
          </a:p>
        </p:txBody>
      </p:sp>
      <p:sp>
        <p:nvSpPr>
          <p:cNvPr id="33" name="Text 31"/>
          <p:cNvSpPr/>
          <p:nvPr/>
        </p:nvSpPr>
        <p:spPr>
          <a:xfrm>
            <a:off x="3753982" y="2841239"/>
            <a:ext cx="1371600" cy="594360"/>
          </a:xfrm>
          <a:prstGeom prst="rect">
            <a:avLst/>
          </a:prstGeom>
          <a:noFill/>
          <a:ln/>
        </p:spPr>
        <p:txBody>
          <a:bodyPr wrap="square" rtlCol="0" anchor="ctr"/>
          <a:lstStyle/>
          <a:p>
            <a:pPr marL="0" indent="0" algn="ctr">
              <a:buNone/>
            </a:pPr>
            <a:r>
              <a:rPr lang="en-US" sz="1400" b="1" dirty="0">
                <a:solidFill>
                  <a:srgbClr val="6060A0"/>
                </a:solidFill>
              </a:rPr>
              <a:t>1.00</a:t>
            </a:r>
            <a:endParaRPr lang="en-US" sz="1400" dirty="0"/>
          </a:p>
        </p:txBody>
      </p:sp>
      <p:sp>
        <p:nvSpPr>
          <p:cNvPr id="34" name="Shape 32"/>
          <p:cNvSpPr/>
          <p:nvPr/>
        </p:nvSpPr>
        <p:spPr>
          <a:xfrm>
            <a:off x="5125582" y="2841239"/>
            <a:ext cx="1371600" cy="594360"/>
          </a:xfrm>
          <a:prstGeom prst="rect">
            <a:avLst/>
          </a:prstGeom>
          <a:solidFill>
            <a:srgbClr val="8B1A00"/>
          </a:solidFill>
          <a:ln w="6350">
            <a:solidFill>
              <a:srgbClr val="1A1A28"/>
            </a:solidFill>
            <a:prstDash val="solid"/>
          </a:ln>
        </p:spPr>
        <p:txBody>
          <a:bodyPr/>
          <a:lstStyle/>
          <a:p>
            <a:endParaRPr lang="en-US"/>
          </a:p>
        </p:txBody>
      </p:sp>
      <p:sp>
        <p:nvSpPr>
          <p:cNvPr id="35" name="Text 33"/>
          <p:cNvSpPr/>
          <p:nvPr/>
        </p:nvSpPr>
        <p:spPr>
          <a:xfrm>
            <a:off x="5125582" y="2841239"/>
            <a:ext cx="1371600" cy="594360"/>
          </a:xfrm>
          <a:prstGeom prst="rect">
            <a:avLst/>
          </a:prstGeom>
          <a:noFill/>
          <a:ln/>
        </p:spPr>
        <p:txBody>
          <a:bodyPr wrap="square" rtlCol="0" anchor="ctr"/>
          <a:lstStyle/>
          <a:p>
            <a:pPr marL="0" indent="0" algn="ctr">
              <a:buNone/>
            </a:pPr>
            <a:r>
              <a:rPr lang="en-US" sz="1400" b="1" dirty="0">
                <a:solidFill>
                  <a:srgbClr val="FF6B35"/>
                </a:solidFill>
              </a:rPr>
              <a:t>0.62</a:t>
            </a:r>
            <a:endParaRPr lang="en-US" sz="1400" dirty="0"/>
          </a:p>
        </p:txBody>
      </p:sp>
      <p:sp>
        <p:nvSpPr>
          <p:cNvPr id="36" name="Shape 34"/>
          <p:cNvSpPr/>
          <p:nvPr/>
        </p:nvSpPr>
        <p:spPr>
          <a:xfrm>
            <a:off x="1010782" y="3435599"/>
            <a:ext cx="1371600" cy="594360"/>
          </a:xfrm>
          <a:prstGeom prst="rect">
            <a:avLst/>
          </a:prstGeom>
          <a:solidFill>
            <a:srgbClr val="1A3A5A"/>
          </a:solidFill>
          <a:ln w="6350">
            <a:solidFill>
              <a:srgbClr val="1A1A28"/>
            </a:solidFill>
            <a:prstDash val="solid"/>
          </a:ln>
        </p:spPr>
        <p:txBody>
          <a:bodyPr/>
          <a:lstStyle/>
          <a:p>
            <a:endParaRPr lang="en-US"/>
          </a:p>
        </p:txBody>
      </p:sp>
      <p:sp>
        <p:nvSpPr>
          <p:cNvPr id="37" name="Text 35"/>
          <p:cNvSpPr/>
          <p:nvPr/>
        </p:nvSpPr>
        <p:spPr>
          <a:xfrm>
            <a:off x="1010782" y="3435599"/>
            <a:ext cx="1371600" cy="594360"/>
          </a:xfrm>
          <a:prstGeom prst="rect">
            <a:avLst/>
          </a:prstGeom>
          <a:noFill/>
          <a:ln/>
        </p:spPr>
        <p:txBody>
          <a:bodyPr wrap="square" rtlCol="0" anchor="ctr"/>
          <a:lstStyle/>
          <a:p>
            <a:pPr marL="0" indent="0" algn="ctr">
              <a:buNone/>
            </a:pPr>
            <a:r>
              <a:rPr lang="en-US" sz="1400" b="1" dirty="0">
                <a:solidFill>
                  <a:srgbClr val="00D4FF"/>
                </a:solidFill>
              </a:rPr>
              <a:t>0.25</a:t>
            </a:r>
            <a:endParaRPr lang="en-US" sz="1400" dirty="0"/>
          </a:p>
        </p:txBody>
      </p:sp>
      <p:sp>
        <p:nvSpPr>
          <p:cNvPr id="38" name="Shape 36"/>
          <p:cNvSpPr/>
          <p:nvPr/>
        </p:nvSpPr>
        <p:spPr>
          <a:xfrm>
            <a:off x="2382382" y="3435599"/>
            <a:ext cx="1371600" cy="594360"/>
          </a:xfrm>
          <a:prstGeom prst="rect">
            <a:avLst/>
          </a:prstGeom>
          <a:solidFill>
            <a:srgbClr val="12121E"/>
          </a:solidFill>
          <a:ln w="6350">
            <a:solidFill>
              <a:srgbClr val="1A1A28"/>
            </a:solidFill>
            <a:prstDash val="solid"/>
          </a:ln>
        </p:spPr>
        <p:txBody>
          <a:bodyPr/>
          <a:lstStyle/>
          <a:p>
            <a:endParaRPr lang="en-US"/>
          </a:p>
        </p:txBody>
      </p:sp>
      <p:sp>
        <p:nvSpPr>
          <p:cNvPr id="39" name="Text 37"/>
          <p:cNvSpPr/>
          <p:nvPr/>
        </p:nvSpPr>
        <p:spPr>
          <a:xfrm>
            <a:off x="2382382" y="3435599"/>
            <a:ext cx="1371600" cy="594360"/>
          </a:xfrm>
          <a:prstGeom prst="rect">
            <a:avLst/>
          </a:prstGeom>
          <a:noFill/>
          <a:ln/>
        </p:spPr>
        <p:txBody>
          <a:bodyPr wrap="square" rtlCol="0" anchor="ctr"/>
          <a:lstStyle/>
          <a:p>
            <a:pPr marL="0" indent="0" algn="ctr">
              <a:buNone/>
            </a:pPr>
            <a:r>
              <a:rPr lang="en-US" sz="1400" b="1" dirty="0">
                <a:solidFill>
                  <a:srgbClr val="404060"/>
                </a:solidFill>
              </a:rPr>
              <a:t>-0.01</a:t>
            </a:r>
            <a:endParaRPr lang="en-US" sz="1400" dirty="0"/>
          </a:p>
        </p:txBody>
      </p:sp>
      <p:sp>
        <p:nvSpPr>
          <p:cNvPr id="40" name="Shape 38"/>
          <p:cNvSpPr/>
          <p:nvPr/>
        </p:nvSpPr>
        <p:spPr>
          <a:xfrm>
            <a:off x="3753982" y="3435599"/>
            <a:ext cx="1371600" cy="594360"/>
          </a:xfrm>
          <a:prstGeom prst="rect">
            <a:avLst/>
          </a:prstGeom>
          <a:solidFill>
            <a:srgbClr val="8B1A00"/>
          </a:solidFill>
          <a:ln w="6350">
            <a:solidFill>
              <a:srgbClr val="1A1A28"/>
            </a:solidFill>
            <a:prstDash val="solid"/>
          </a:ln>
        </p:spPr>
        <p:txBody>
          <a:bodyPr/>
          <a:lstStyle/>
          <a:p>
            <a:endParaRPr lang="en-US"/>
          </a:p>
        </p:txBody>
      </p:sp>
      <p:sp>
        <p:nvSpPr>
          <p:cNvPr id="41" name="Text 39"/>
          <p:cNvSpPr/>
          <p:nvPr/>
        </p:nvSpPr>
        <p:spPr>
          <a:xfrm>
            <a:off x="3753982" y="3435599"/>
            <a:ext cx="1371600" cy="594360"/>
          </a:xfrm>
          <a:prstGeom prst="rect">
            <a:avLst/>
          </a:prstGeom>
          <a:noFill/>
          <a:ln/>
        </p:spPr>
        <p:txBody>
          <a:bodyPr wrap="square" rtlCol="0" anchor="ctr"/>
          <a:lstStyle/>
          <a:p>
            <a:pPr marL="0" indent="0" algn="ctr">
              <a:buNone/>
            </a:pPr>
            <a:r>
              <a:rPr lang="en-US" sz="1400" b="1" dirty="0">
                <a:solidFill>
                  <a:srgbClr val="FF6B35"/>
                </a:solidFill>
              </a:rPr>
              <a:t>0.61</a:t>
            </a:r>
            <a:endParaRPr lang="en-US" sz="1400" dirty="0"/>
          </a:p>
        </p:txBody>
      </p:sp>
      <p:sp>
        <p:nvSpPr>
          <p:cNvPr id="42" name="Shape 40"/>
          <p:cNvSpPr/>
          <p:nvPr/>
        </p:nvSpPr>
        <p:spPr>
          <a:xfrm>
            <a:off x="5125582" y="3435599"/>
            <a:ext cx="1371600" cy="594360"/>
          </a:xfrm>
          <a:prstGeom prst="rect">
            <a:avLst/>
          </a:prstGeom>
          <a:solidFill>
            <a:srgbClr val="1A1A40"/>
          </a:solidFill>
          <a:ln w="6350">
            <a:solidFill>
              <a:srgbClr val="1A1A28"/>
            </a:solidFill>
            <a:prstDash val="solid"/>
          </a:ln>
        </p:spPr>
        <p:txBody>
          <a:bodyPr/>
          <a:lstStyle/>
          <a:p>
            <a:endParaRPr lang="en-US"/>
          </a:p>
        </p:txBody>
      </p:sp>
      <p:sp>
        <p:nvSpPr>
          <p:cNvPr id="43" name="Text 41"/>
          <p:cNvSpPr/>
          <p:nvPr/>
        </p:nvSpPr>
        <p:spPr>
          <a:xfrm>
            <a:off x="5125582" y="3435599"/>
            <a:ext cx="1371600" cy="594360"/>
          </a:xfrm>
          <a:prstGeom prst="rect">
            <a:avLst/>
          </a:prstGeom>
          <a:noFill/>
          <a:ln/>
        </p:spPr>
        <p:txBody>
          <a:bodyPr wrap="square" rtlCol="0" anchor="ctr"/>
          <a:lstStyle/>
          <a:p>
            <a:pPr marL="0" indent="0" algn="ctr">
              <a:buNone/>
            </a:pPr>
            <a:r>
              <a:rPr lang="en-US" sz="1400" b="1" dirty="0">
                <a:solidFill>
                  <a:srgbClr val="6060A0"/>
                </a:solidFill>
              </a:rPr>
              <a:t>1.00</a:t>
            </a:r>
            <a:endParaRPr lang="en-US" sz="1400" dirty="0"/>
          </a:p>
        </p:txBody>
      </p:sp>
      <p:sp>
        <p:nvSpPr>
          <p:cNvPr id="44" name="Shape 42"/>
          <p:cNvSpPr/>
          <p:nvPr/>
        </p:nvSpPr>
        <p:spPr>
          <a:xfrm>
            <a:off x="6583680" y="868680"/>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45" name="Text 43"/>
          <p:cNvSpPr/>
          <p:nvPr/>
        </p:nvSpPr>
        <p:spPr>
          <a:xfrm>
            <a:off x="6583680" y="868680"/>
            <a:ext cx="1828800" cy="228600"/>
          </a:xfrm>
          <a:prstGeom prst="rect">
            <a:avLst/>
          </a:prstGeom>
          <a:noFill/>
          <a:ln/>
        </p:spPr>
        <p:txBody>
          <a:bodyPr wrap="square" rtlCol="0" anchor="ctr"/>
          <a:lstStyle/>
          <a:p>
            <a:pPr marL="0" indent="0" algn="ctr">
              <a:buNone/>
            </a:pPr>
            <a:r>
              <a:rPr lang="en-US" sz="800" b="1" kern="0" spc="200" dirty="0">
                <a:solidFill>
                  <a:srgbClr val="FF6B35"/>
                </a:solidFill>
              </a:rPr>
              <a:t>FINDINGS</a:t>
            </a:r>
            <a:endParaRPr lang="en-US" sz="800" dirty="0"/>
          </a:p>
        </p:txBody>
      </p:sp>
      <p:sp>
        <p:nvSpPr>
          <p:cNvPr id="46" name="Shape 44"/>
          <p:cNvSpPr/>
          <p:nvPr/>
        </p:nvSpPr>
        <p:spPr>
          <a:xfrm>
            <a:off x="6583680" y="1188720"/>
            <a:ext cx="2331720" cy="749808"/>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47" name="Text 45"/>
          <p:cNvSpPr/>
          <p:nvPr/>
        </p:nvSpPr>
        <p:spPr>
          <a:xfrm>
            <a:off x="6583680" y="1234440"/>
            <a:ext cx="690330" cy="640080"/>
          </a:xfrm>
          <a:prstGeom prst="rect">
            <a:avLst/>
          </a:prstGeom>
          <a:noFill/>
          <a:ln/>
        </p:spPr>
        <p:txBody>
          <a:bodyPr wrap="square" rtlCol="0" anchor="ctr"/>
          <a:lstStyle/>
          <a:p>
            <a:pPr marL="0" indent="0" algn="ctr">
              <a:buNone/>
            </a:pPr>
            <a:r>
              <a:rPr lang="en-US" sz="1800" b="1" dirty="0">
                <a:solidFill>
                  <a:srgbClr val="FF6B35"/>
                </a:solidFill>
                <a:latin typeface="Trebuchet MS" pitchFamily="34" charset="0"/>
                <a:ea typeface="Trebuchet MS" pitchFamily="34" charset="-122"/>
                <a:cs typeface="Trebuchet MS" pitchFamily="34" charset="-120"/>
              </a:rPr>
              <a:t>0.61</a:t>
            </a:r>
            <a:endParaRPr lang="en-US" sz="1800" dirty="0"/>
          </a:p>
        </p:txBody>
      </p:sp>
      <p:sp>
        <p:nvSpPr>
          <p:cNvPr id="48" name="Text 46"/>
          <p:cNvSpPr/>
          <p:nvPr/>
        </p:nvSpPr>
        <p:spPr>
          <a:xfrm>
            <a:off x="7223760" y="1243584"/>
            <a:ext cx="1645920" cy="274320"/>
          </a:xfrm>
          <a:prstGeom prst="rect">
            <a:avLst/>
          </a:prstGeom>
          <a:noFill/>
          <a:ln/>
        </p:spPr>
        <p:txBody>
          <a:bodyPr wrap="square" rtlCol="0" anchor="ctr"/>
          <a:lstStyle/>
          <a:p>
            <a:pPr marL="0" indent="0">
              <a:buNone/>
            </a:pPr>
            <a:r>
              <a:rPr lang="en-US" sz="850" b="1" dirty="0">
                <a:solidFill>
                  <a:srgbClr val="E8E8FF"/>
                </a:solidFill>
              </a:rPr>
              <a:t>total_photos ↔ total_ratings</a:t>
            </a:r>
            <a:endParaRPr lang="en-US" sz="850" dirty="0"/>
          </a:p>
        </p:txBody>
      </p:sp>
      <p:sp>
        <p:nvSpPr>
          <p:cNvPr id="49" name="Text 47"/>
          <p:cNvSpPr/>
          <p:nvPr/>
        </p:nvSpPr>
        <p:spPr>
          <a:xfrm>
            <a:off x="7223760" y="1527048"/>
            <a:ext cx="1645920" cy="274320"/>
          </a:xfrm>
          <a:prstGeom prst="rect">
            <a:avLst/>
          </a:prstGeom>
          <a:noFill/>
          <a:ln/>
        </p:spPr>
        <p:txBody>
          <a:bodyPr wrap="square" rtlCol="0" anchor="ctr"/>
          <a:lstStyle/>
          <a:p>
            <a:pPr marL="0" indent="0">
              <a:buNone/>
            </a:pPr>
            <a:r>
              <a:rPr lang="en-US" sz="800" dirty="0">
                <a:solidFill>
                  <a:srgbClr val="6060A0"/>
                </a:solidFill>
              </a:rPr>
              <a:t>Both reflect popularity</a:t>
            </a:r>
            <a:endParaRPr lang="en-US" sz="800" dirty="0"/>
          </a:p>
        </p:txBody>
      </p:sp>
      <p:sp>
        <p:nvSpPr>
          <p:cNvPr id="50" name="Shape 48"/>
          <p:cNvSpPr/>
          <p:nvPr/>
        </p:nvSpPr>
        <p:spPr>
          <a:xfrm>
            <a:off x="6583680" y="2057400"/>
            <a:ext cx="2331720" cy="749808"/>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51" name="Text 49"/>
          <p:cNvSpPr/>
          <p:nvPr/>
        </p:nvSpPr>
        <p:spPr>
          <a:xfrm>
            <a:off x="6583679" y="2103120"/>
            <a:ext cx="719163" cy="640080"/>
          </a:xfrm>
          <a:prstGeom prst="rect">
            <a:avLst/>
          </a:prstGeom>
          <a:noFill/>
          <a:ln/>
        </p:spPr>
        <p:txBody>
          <a:bodyPr wrap="square" rtlCol="0" anchor="ctr"/>
          <a:lstStyle/>
          <a:p>
            <a:pPr marL="0" indent="0" algn="ctr">
              <a:buNone/>
            </a:pPr>
            <a:r>
              <a:rPr lang="en-US" sz="1800" b="1" dirty="0">
                <a:solidFill>
                  <a:srgbClr val="00D4FF"/>
                </a:solidFill>
                <a:latin typeface="Trebuchet MS" pitchFamily="34" charset="0"/>
                <a:ea typeface="Trebuchet MS" pitchFamily="34" charset="-122"/>
                <a:cs typeface="Trebuchet MS" pitchFamily="34" charset="-120"/>
              </a:rPr>
              <a:t>0.28</a:t>
            </a:r>
            <a:endParaRPr lang="en-US" sz="1800" dirty="0"/>
          </a:p>
        </p:txBody>
      </p:sp>
      <p:sp>
        <p:nvSpPr>
          <p:cNvPr id="52" name="Text 50"/>
          <p:cNvSpPr/>
          <p:nvPr/>
        </p:nvSpPr>
        <p:spPr>
          <a:xfrm>
            <a:off x="7223760" y="2112264"/>
            <a:ext cx="1645920" cy="274320"/>
          </a:xfrm>
          <a:prstGeom prst="rect">
            <a:avLst/>
          </a:prstGeom>
          <a:noFill/>
          <a:ln/>
        </p:spPr>
        <p:txBody>
          <a:bodyPr wrap="square" rtlCol="0" anchor="ctr"/>
          <a:lstStyle/>
          <a:p>
            <a:pPr marL="0" indent="0">
              <a:buNone/>
            </a:pPr>
            <a:r>
              <a:rPr lang="en-US" sz="850" b="1" dirty="0">
                <a:solidFill>
                  <a:srgbClr val="E8E8FF"/>
                </a:solidFill>
              </a:rPr>
              <a:t>rating ↔ total_photos</a:t>
            </a:r>
            <a:endParaRPr lang="en-US" sz="850" dirty="0"/>
          </a:p>
        </p:txBody>
      </p:sp>
      <p:sp>
        <p:nvSpPr>
          <p:cNvPr id="53" name="Text 51"/>
          <p:cNvSpPr/>
          <p:nvPr/>
        </p:nvSpPr>
        <p:spPr>
          <a:xfrm>
            <a:off x="7223760" y="2395728"/>
            <a:ext cx="1645920" cy="274320"/>
          </a:xfrm>
          <a:prstGeom prst="rect">
            <a:avLst/>
          </a:prstGeom>
          <a:noFill/>
          <a:ln/>
        </p:spPr>
        <p:txBody>
          <a:bodyPr wrap="square" rtlCol="0" anchor="ctr"/>
          <a:lstStyle/>
          <a:p>
            <a:pPr marL="0" indent="0">
              <a:buNone/>
            </a:pPr>
            <a:r>
              <a:rPr lang="en-US" sz="800" dirty="0">
                <a:solidFill>
                  <a:srgbClr val="6060A0"/>
                </a:solidFill>
              </a:rPr>
              <a:t>Visible places rate higher</a:t>
            </a:r>
            <a:endParaRPr lang="en-US" sz="800" dirty="0"/>
          </a:p>
        </p:txBody>
      </p:sp>
      <p:sp>
        <p:nvSpPr>
          <p:cNvPr id="54" name="Shape 52"/>
          <p:cNvSpPr/>
          <p:nvPr/>
        </p:nvSpPr>
        <p:spPr>
          <a:xfrm>
            <a:off x="6583680" y="2926080"/>
            <a:ext cx="2331720" cy="749808"/>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55" name="Text 53"/>
          <p:cNvSpPr/>
          <p:nvPr/>
        </p:nvSpPr>
        <p:spPr>
          <a:xfrm>
            <a:off x="6583680" y="2971800"/>
            <a:ext cx="690330" cy="640080"/>
          </a:xfrm>
          <a:prstGeom prst="rect">
            <a:avLst/>
          </a:prstGeom>
          <a:noFill/>
          <a:ln/>
        </p:spPr>
        <p:txBody>
          <a:bodyPr wrap="square" rtlCol="0" anchor="ctr"/>
          <a:lstStyle/>
          <a:p>
            <a:pPr marL="0" indent="0" algn="ctr">
              <a:buNone/>
            </a:pPr>
            <a:r>
              <a:rPr lang="en-US" sz="1800" b="1" dirty="0">
                <a:solidFill>
                  <a:srgbClr val="4ADE80"/>
                </a:solidFill>
                <a:latin typeface="Trebuchet MS" pitchFamily="34" charset="0"/>
                <a:ea typeface="Trebuchet MS" pitchFamily="34" charset="-122"/>
                <a:cs typeface="Trebuchet MS" pitchFamily="34" charset="-120"/>
              </a:rPr>
              <a:t>0.25</a:t>
            </a:r>
            <a:endParaRPr lang="en-US" sz="1800" dirty="0"/>
          </a:p>
        </p:txBody>
      </p:sp>
      <p:sp>
        <p:nvSpPr>
          <p:cNvPr id="56" name="Text 54"/>
          <p:cNvSpPr/>
          <p:nvPr/>
        </p:nvSpPr>
        <p:spPr>
          <a:xfrm>
            <a:off x="7223760" y="2980944"/>
            <a:ext cx="1645920" cy="274320"/>
          </a:xfrm>
          <a:prstGeom prst="rect">
            <a:avLst/>
          </a:prstGeom>
          <a:noFill/>
          <a:ln/>
        </p:spPr>
        <p:txBody>
          <a:bodyPr wrap="square" rtlCol="0" anchor="ctr"/>
          <a:lstStyle/>
          <a:p>
            <a:pPr marL="0" indent="0">
              <a:buNone/>
            </a:pPr>
            <a:r>
              <a:rPr lang="en-US" sz="850" b="1" dirty="0">
                <a:solidFill>
                  <a:srgbClr val="E8E8FF"/>
                </a:solidFill>
              </a:rPr>
              <a:t>rating ↔ total_ratings</a:t>
            </a:r>
            <a:endParaRPr lang="en-US" sz="850" dirty="0"/>
          </a:p>
        </p:txBody>
      </p:sp>
      <p:sp>
        <p:nvSpPr>
          <p:cNvPr id="57" name="Text 55"/>
          <p:cNvSpPr/>
          <p:nvPr/>
        </p:nvSpPr>
        <p:spPr>
          <a:xfrm>
            <a:off x="7223760" y="3264408"/>
            <a:ext cx="1645920" cy="274320"/>
          </a:xfrm>
          <a:prstGeom prst="rect">
            <a:avLst/>
          </a:prstGeom>
          <a:noFill/>
          <a:ln/>
        </p:spPr>
        <p:txBody>
          <a:bodyPr wrap="square" rtlCol="0" anchor="ctr"/>
          <a:lstStyle/>
          <a:p>
            <a:pPr marL="0" indent="0">
              <a:buNone/>
            </a:pPr>
            <a:r>
              <a:rPr lang="en-US" sz="800" dirty="0">
                <a:solidFill>
                  <a:srgbClr val="6060A0"/>
                </a:solidFill>
              </a:rPr>
              <a:t>More reviews → slightly higher</a:t>
            </a:r>
            <a:endParaRPr lang="en-US" sz="800" dirty="0"/>
          </a:p>
        </p:txBody>
      </p:sp>
      <p:sp>
        <p:nvSpPr>
          <p:cNvPr id="58" name="Shape 56"/>
          <p:cNvSpPr/>
          <p:nvPr/>
        </p:nvSpPr>
        <p:spPr>
          <a:xfrm>
            <a:off x="6583680" y="3794760"/>
            <a:ext cx="2331720" cy="749808"/>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59" name="Text 57"/>
          <p:cNvSpPr/>
          <p:nvPr/>
        </p:nvSpPr>
        <p:spPr>
          <a:xfrm>
            <a:off x="6583679" y="3840480"/>
            <a:ext cx="690331" cy="640080"/>
          </a:xfrm>
          <a:prstGeom prst="rect">
            <a:avLst/>
          </a:prstGeom>
          <a:noFill/>
          <a:ln/>
        </p:spPr>
        <p:txBody>
          <a:bodyPr wrap="square" rtlCol="0" anchor="ctr"/>
          <a:lstStyle/>
          <a:p>
            <a:pPr marL="0" indent="0" algn="ctr">
              <a:buNone/>
            </a:pPr>
            <a:r>
              <a:rPr lang="en-US" sz="1800" b="1" dirty="0">
                <a:solidFill>
                  <a:srgbClr val="F472B6"/>
                </a:solidFill>
                <a:latin typeface="Trebuchet MS" pitchFamily="34" charset="0"/>
                <a:ea typeface="Trebuchet MS" pitchFamily="34" charset="-122"/>
                <a:cs typeface="Trebuchet MS" pitchFamily="34" charset="-120"/>
              </a:rPr>
              <a:t>0.02</a:t>
            </a:r>
            <a:endParaRPr lang="en-US" sz="1800" dirty="0"/>
          </a:p>
        </p:txBody>
      </p:sp>
      <p:sp>
        <p:nvSpPr>
          <p:cNvPr id="60" name="Text 58"/>
          <p:cNvSpPr/>
          <p:nvPr/>
        </p:nvSpPr>
        <p:spPr>
          <a:xfrm>
            <a:off x="7223760" y="3849624"/>
            <a:ext cx="1645920" cy="274320"/>
          </a:xfrm>
          <a:prstGeom prst="rect">
            <a:avLst/>
          </a:prstGeom>
          <a:noFill/>
          <a:ln/>
        </p:spPr>
        <p:txBody>
          <a:bodyPr wrap="square" rtlCol="0" anchor="ctr"/>
          <a:lstStyle/>
          <a:p>
            <a:pPr marL="0" indent="0">
              <a:buNone/>
            </a:pPr>
            <a:r>
              <a:rPr lang="en-US" sz="850" b="1" dirty="0">
                <a:solidFill>
                  <a:srgbClr val="E8E8FF"/>
                </a:solidFill>
              </a:rPr>
              <a:t>price_level ↔ rating</a:t>
            </a:r>
            <a:endParaRPr lang="en-US" sz="850" dirty="0"/>
          </a:p>
        </p:txBody>
      </p:sp>
      <p:sp>
        <p:nvSpPr>
          <p:cNvPr id="61" name="Text 59"/>
          <p:cNvSpPr/>
          <p:nvPr/>
        </p:nvSpPr>
        <p:spPr>
          <a:xfrm>
            <a:off x="7223760" y="4133088"/>
            <a:ext cx="1645920" cy="274320"/>
          </a:xfrm>
          <a:prstGeom prst="rect">
            <a:avLst/>
          </a:prstGeom>
          <a:noFill/>
          <a:ln/>
        </p:spPr>
        <p:txBody>
          <a:bodyPr wrap="square" rtlCol="0" anchor="ctr"/>
          <a:lstStyle/>
          <a:p>
            <a:pPr marL="0" indent="0">
              <a:buNone/>
            </a:pPr>
            <a:r>
              <a:rPr lang="en-US" sz="800" dirty="0">
                <a:solidFill>
                  <a:srgbClr val="6060A0"/>
                </a:solidFill>
              </a:rPr>
              <a:t>Price has NO effect on rating</a:t>
            </a:r>
            <a:endParaRPr lang="en-US" sz="800" dirty="0"/>
          </a:p>
        </p:txBody>
      </p:sp>
      <p:sp>
        <p:nvSpPr>
          <p:cNvPr id="62" name="Shape 60"/>
          <p:cNvSpPr/>
          <p:nvPr/>
        </p:nvSpPr>
        <p:spPr>
          <a:xfrm>
            <a:off x="228600" y="4553712"/>
            <a:ext cx="8686800" cy="274320"/>
          </a:xfrm>
          <a:prstGeom prst="rect">
            <a:avLst/>
          </a:prstGeom>
          <a:solidFill>
            <a:srgbClr val="080810"/>
          </a:solidFill>
          <a:ln w="6350">
            <a:solidFill>
              <a:srgbClr val="2A2A44"/>
            </a:solidFill>
            <a:prstDash val="solid"/>
          </a:ln>
        </p:spPr>
        <p:txBody>
          <a:bodyPr/>
          <a:lstStyle/>
          <a:p>
            <a:endParaRPr lang="en-US"/>
          </a:p>
        </p:txBody>
      </p:sp>
      <p:sp>
        <p:nvSpPr>
          <p:cNvPr id="63" name="Text 61"/>
          <p:cNvSpPr/>
          <p:nvPr/>
        </p:nvSpPr>
        <p:spPr>
          <a:xfrm>
            <a:off x="320040" y="4553712"/>
            <a:ext cx="8549640" cy="274320"/>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sns.heatmap(df_restaurants[['rating','price_level','total_photos','total_ratings']].corr(), annot=True, cmap='coolwarm')</a:t>
            </a:r>
            <a:endParaRPr lang="en-US" sz="750" dirty="0"/>
          </a:p>
        </p:txBody>
      </p:sp>
      <p:sp>
        <p:nvSpPr>
          <p:cNvPr id="64" name="Shape 62"/>
          <p:cNvSpPr/>
          <p:nvPr/>
        </p:nvSpPr>
        <p:spPr>
          <a:xfrm>
            <a:off x="228600" y="4864608"/>
            <a:ext cx="36576" cy="256032"/>
          </a:xfrm>
          <a:prstGeom prst="rect">
            <a:avLst/>
          </a:prstGeom>
          <a:solidFill>
            <a:srgbClr val="FF6B35"/>
          </a:solidFill>
          <a:ln w="12700">
            <a:solidFill>
              <a:srgbClr val="FF6B35"/>
            </a:solidFill>
            <a:prstDash val="solid"/>
          </a:ln>
        </p:spPr>
        <p:txBody>
          <a:bodyPr/>
          <a:lstStyle/>
          <a:p>
            <a:endParaRPr lang="en-US"/>
          </a:p>
        </p:txBody>
      </p:sp>
      <p:sp>
        <p:nvSpPr>
          <p:cNvPr id="65" name="Shape 63"/>
          <p:cNvSpPr/>
          <p:nvPr/>
        </p:nvSpPr>
        <p:spPr>
          <a:xfrm>
            <a:off x="265176" y="4864608"/>
            <a:ext cx="8650224" cy="256032"/>
          </a:xfrm>
          <a:prstGeom prst="rect">
            <a:avLst/>
          </a:prstGeom>
          <a:solidFill>
            <a:srgbClr val="0F0F1E"/>
          </a:solidFill>
          <a:ln w="6350">
            <a:solidFill>
              <a:srgbClr val="1A1A28"/>
            </a:solidFill>
            <a:prstDash val="solid"/>
          </a:ln>
        </p:spPr>
        <p:txBody>
          <a:bodyPr/>
          <a:lstStyle/>
          <a:p>
            <a:endParaRPr lang="en-US"/>
          </a:p>
        </p:txBody>
      </p:sp>
      <p:sp>
        <p:nvSpPr>
          <p:cNvPr id="66" name="Text 64"/>
          <p:cNvSpPr/>
          <p:nvPr/>
        </p:nvSpPr>
        <p:spPr>
          <a:xfrm>
            <a:off x="365760" y="4864608"/>
            <a:ext cx="8503920" cy="256032"/>
          </a:xfrm>
          <a:prstGeom prst="rect">
            <a:avLst/>
          </a:prstGeom>
          <a:noFill/>
          <a:ln/>
        </p:spPr>
        <p:txBody>
          <a:bodyPr wrap="square" rtlCol="0" anchor="ctr"/>
          <a:lstStyle/>
          <a:p>
            <a:pPr marL="0" indent="0">
              <a:buNone/>
            </a:pPr>
            <a:r>
              <a:rPr lang="en-US" sz="900" i="1" dirty="0">
                <a:solidFill>
                  <a:srgbClr val="9090C8"/>
                </a:solidFill>
              </a:rPr>
              <a:t>price_level has near-zero correlation with ALL variables. Photos and ratings count are the strongest predictors of each other (0.62), both reflecting venue popularity.</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EDA · Food Variety by Neighborhood &amp; Price Level</a:t>
            </a:r>
            <a:endParaRPr lang="en-US" sz="2600" dirty="0"/>
          </a:p>
        </p:txBody>
      </p:sp>
      <p:sp>
        <p:nvSpPr>
          <p:cNvPr id="4" name="Text 2"/>
          <p:cNvSpPr/>
          <p:nvPr/>
        </p:nvSpPr>
        <p:spPr>
          <a:xfrm>
            <a:off x="1645920" y="704088"/>
            <a:ext cx="1280160" cy="292608"/>
          </a:xfrm>
          <a:prstGeom prst="rect">
            <a:avLst/>
          </a:prstGeom>
          <a:noFill/>
          <a:ln/>
        </p:spPr>
        <p:txBody>
          <a:bodyPr wrap="square" rtlCol="0" anchor="ctr"/>
          <a:lstStyle/>
          <a:p>
            <a:pPr marL="0" indent="0" algn="ctr">
              <a:buNone/>
            </a:pPr>
            <a:r>
              <a:rPr lang="en-US" sz="800" b="1" dirty="0">
                <a:solidFill>
                  <a:srgbClr val="00D4FF"/>
                </a:solidFill>
              </a:rPr>
              <a:t>Price 0</a:t>
            </a:r>
            <a:endParaRPr lang="en-US" sz="800" dirty="0"/>
          </a:p>
        </p:txBody>
      </p:sp>
      <p:sp>
        <p:nvSpPr>
          <p:cNvPr id="5" name="Text 3"/>
          <p:cNvSpPr/>
          <p:nvPr/>
        </p:nvSpPr>
        <p:spPr>
          <a:xfrm>
            <a:off x="2926080" y="704088"/>
            <a:ext cx="1280160" cy="292608"/>
          </a:xfrm>
          <a:prstGeom prst="rect">
            <a:avLst/>
          </a:prstGeom>
          <a:noFill/>
          <a:ln/>
        </p:spPr>
        <p:txBody>
          <a:bodyPr wrap="square" rtlCol="0" anchor="ctr"/>
          <a:lstStyle/>
          <a:p>
            <a:pPr marL="0" indent="0" algn="ctr">
              <a:buNone/>
            </a:pPr>
            <a:r>
              <a:rPr lang="en-US" sz="800" b="1" dirty="0">
                <a:solidFill>
                  <a:srgbClr val="00D4FF"/>
                </a:solidFill>
              </a:rPr>
              <a:t>Price 1 ($)</a:t>
            </a:r>
            <a:endParaRPr lang="en-US" sz="800" dirty="0"/>
          </a:p>
        </p:txBody>
      </p:sp>
      <p:sp>
        <p:nvSpPr>
          <p:cNvPr id="6" name="Text 4"/>
          <p:cNvSpPr/>
          <p:nvPr/>
        </p:nvSpPr>
        <p:spPr>
          <a:xfrm>
            <a:off x="4206240" y="704088"/>
            <a:ext cx="1280160" cy="292608"/>
          </a:xfrm>
          <a:prstGeom prst="rect">
            <a:avLst/>
          </a:prstGeom>
          <a:noFill/>
          <a:ln/>
        </p:spPr>
        <p:txBody>
          <a:bodyPr wrap="square" rtlCol="0" anchor="ctr"/>
          <a:lstStyle/>
          <a:p>
            <a:pPr marL="0" indent="0" algn="ctr">
              <a:buNone/>
            </a:pPr>
            <a:r>
              <a:rPr lang="en-US" sz="800" b="1" dirty="0">
                <a:solidFill>
                  <a:srgbClr val="00D4FF"/>
                </a:solidFill>
              </a:rPr>
              <a:t>Price 2 ($$)</a:t>
            </a:r>
            <a:endParaRPr lang="en-US" sz="800" dirty="0"/>
          </a:p>
        </p:txBody>
      </p:sp>
      <p:sp>
        <p:nvSpPr>
          <p:cNvPr id="7" name="Text 5"/>
          <p:cNvSpPr/>
          <p:nvPr/>
        </p:nvSpPr>
        <p:spPr>
          <a:xfrm>
            <a:off x="5486400" y="704088"/>
            <a:ext cx="1280160" cy="292608"/>
          </a:xfrm>
          <a:prstGeom prst="rect">
            <a:avLst/>
          </a:prstGeom>
          <a:noFill/>
          <a:ln/>
        </p:spPr>
        <p:txBody>
          <a:bodyPr wrap="square" rtlCol="0" anchor="ctr"/>
          <a:lstStyle/>
          <a:p>
            <a:pPr marL="0" indent="0" algn="ctr">
              <a:buNone/>
            </a:pPr>
            <a:r>
              <a:rPr lang="en-US" sz="800" b="1" dirty="0">
                <a:solidFill>
                  <a:srgbClr val="00D4FF"/>
                </a:solidFill>
              </a:rPr>
              <a:t>Price 3 ($$$)</a:t>
            </a:r>
            <a:endParaRPr lang="en-US" sz="800" dirty="0"/>
          </a:p>
        </p:txBody>
      </p:sp>
      <p:sp>
        <p:nvSpPr>
          <p:cNvPr id="8" name="Text 6"/>
          <p:cNvSpPr/>
          <p:nvPr/>
        </p:nvSpPr>
        <p:spPr>
          <a:xfrm>
            <a:off x="6766560" y="704088"/>
            <a:ext cx="1280160" cy="292608"/>
          </a:xfrm>
          <a:prstGeom prst="rect">
            <a:avLst/>
          </a:prstGeom>
          <a:noFill/>
          <a:ln/>
        </p:spPr>
        <p:txBody>
          <a:bodyPr wrap="square" rtlCol="0" anchor="ctr"/>
          <a:lstStyle/>
          <a:p>
            <a:pPr marL="0" indent="0" algn="ctr">
              <a:buNone/>
            </a:pPr>
            <a:r>
              <a:rPr lang="en-US" sz="800" b="1" dirty="0">
                <a:solidFill>
                  <a:srgbClr val="00D4FF"/>
                </a:solidFill>
              </a:rPr>
              <a:t>Price 4 ($$$$)</a:t>
            </a:r>
            <a:endParaRPr lang="en-US" sz="800" dirty="0"/>
          </a:p>
        </p:txBody>
      </p:sp>
      <p:sp>
        <p:nvSpPr>
          <p:cNvPr id="9" name="Text 7"/>
          <p:cNvSpPr/>
          <p:nvPr/>
        </p:nvSpPr>
        <p:spPr>
          <a:xfrm>
            <a:off x="91440" y="1051560"/>
            <a:ext cx="1508760" cy="640080"/>
          </a:xfrm>
          <a:prstGeom prst="rect">
            <a:avLst/>
          </a:prstGeom>
          <a:noFill/>
          <a:ln/>
        </p:spPr>
        <p:txBody>
          <a:bodyPr wrap="square" rtlCol="0" anchor="ctr"/>
          <a:lstStyle/>
          <a:p>
            <a:pPr marL="0" indent="0" algn="r">
              <a:buNone/>
            </a:pPr>
            <a:r>
              <a:rPr lang="en-US" sz="850" b="1" dirty="0">
                <a:solidFill>
                  <a:srgbClr val="E8E8FF"/>
                </a:solidFill>
              </a:rPr>
              <a:t>Al Malqa</a:t>
            </a:r>
            <a:endParaRPr lang="en-US" sz="850" dirty="0"/>
          </a:p>
        </p:txBody>
      </p:sp>
      <p:sp>
        <p:nvSpPr>
          <p:cNvPr id="10" name="Shape 8"/>
          <p:cNvSpPr/>
          <p:nvPr/>
        </p:nvSpPr>
        <p:spPr>
          <a:xfrm>
            <a:off x="1645920" y="1051560"/>
            <a:ext cx="1280160" cy="640080"/>
          </a:xfrm>
          <a:prstGeom prst="rect">
            <a:avLst/>
          </a:prstGeom>
          <a:solidFill>
            <a:srgbClr val="1A2010"/>
          </a:solidFill>
          <a:ln w="6350">
            <a:solidFill>
              <a:srgbClr val="1A1A28"/>
            </a:solidFill>
            <a:prstDash val="solid"/>
          </a:ln>
        </p:spPr>
        <p:txBody>
          <a:bodyPr/>
          <a:lstStyle/>
          <a:p>
            <a:endParaRPr lang="en-US"/>
          </a:p>
        </p:txBody>
      </p:sp>
      <p:sp>
        <p:nvSpPr>
          <p:cNvPr id="11" name="Text 9"/>
          <p:cNvSpPr/>
          <p:nvPr/>
        </p:nvSpPr>
        <p:spPr>
          <a:xfrm>
            <a:off x="1645920" y="1051560"/>
            <a:ext cx="1280160" cy="640080"/>
          </a:xfrm>
          <a:prstGeom prst="rect">
            <a:avLst/>
          </a:prstGeom>
          <a:noFill/>
          <a:ln/>
        </p:spPr>
        <p:txBody>
          <a:bodyPr wrap="square" rtlCol="0" anchor="ctr"/>
          <a:lstStyle/>
          <a:p>
            <a:pPr marL="0" indent="0" algn="ctr">
              <a:buNone/>
            </a:pPr>
            <a:r>
              <a:rPr lang="en-US" sz="1400" b="1" dirty="0">
                <a:solidFill>
                  <a:srgbClr val="E8E8FF"/>
                </a:solidFill>
              </a:rPr>
              <a:t>4</a:t>
            </a:r>
            <a:endParaRPr lang="en-US" sz="1400" dirty="0"/>
          </a:p>
        </p:txBody>
      </p:sp>
      <p:sp>
        <p:nvSpPr>
          <p:cNvPr id="12" name="Shape 10"/>
          <p:cNvSpPr/>
          <p:nvPr/>
        </p:nvSpPr>
        <p:spPr>
          <a:xfrm>
            <a:off x="2926080" y="1051560"/>
            <a:ext cx="1280160" cy="640080"/>
          </a:xfrm>
          <a:prstGeom prst="rect">
            <a:avLst/>
          </a:prstGeom>
          <a:solidFill>
            <a:srgbClr val="4ADE50"/>
          </a:solidFill>
          <a:ln w="6350">
            <a:solidFill>
              <a:srgbClr val="1A1A28"/>
            </a:solidFill>
            <a:prstDash val="solid"/>
          </a:ln>
        </p:spPr>
        <p:txBody>
          <a:bodyPr/>
          <a:lstStyle/>
          <a:p>
            <a:endParaRPr lang="en-US"/>
          </a:p>
        </p:txBody>
      </p:sp>
      <p:sp>
        <p:nvSpPr>
          <p:cNvPr id="13" name="Text 11"/>
          <p:cNvSpPr/>
          <p:nvPr/>
        </p:nvSpPr>
        <p:spPr>
          <a:xfrm>
            <a:off x="2926080" y="1051560"/>
            <a:ext cx="1280160" cy="640080"/>
          </a:xfrm>
          <a:prstGeom prst="rect">
            <a:avLst/>
          </a:prstGeom>
          <a:noFill/>
          <a:ln/>
        </p:spPr>
        <p:txBody>
          <a:bodyPr wrap="square" rtlCol="0" anchor="ctr"/>
          <a:lstStyle/>
          <a:p>
            <a:pPr marL="0" indent="0" algn="ctr">
              <a:buNone/>
            </a:pPr>
            <a:r>
              <a:rPr lang="en-US" sz="1400" b="1" dirty="0">
                <a:solidFill>
                  <a:srgbClr val="000000"/>
                </a:solidFill>
              </a:rPr>
              <a:t>42</a:t>
            </a:r>
            <a:endParaRPr lang="en-US" sz="1400" dirty="0"/>
          </a:p>
        </p:txBody>
      </p:sp>
      <p:sp>
        <p:nvSpPr>
          <p:cNvPr id="14" name="Shape 12"/>
          <p:cNvSpPr/>
          <p:nvPr/>
        </p:nvSpPr>
        <p:spPr>
          <a:xfrm>
            <a:off x="4206240" y="1051560"/>
            <a:ext cx="1280160" cy="640080"/>
          </a:xfrm>
          <a:prstGeom prst="rect">
            <a:avLst/>
          </a:prstGeom>
          <a:solidFill>
            <a:srgbClr val="3A7030"/>
          </a:solidFill>
          <a:ln w="6350">
            <a:solidFill>
              <a:srgbClr val="1A1A28"/>
            </a:solidFill>
            <a:prstDash val="solid"/>
          </a:ln>
        </p:spPr>
        <p:txBody>
          <a:bodyPr/>
          <a:lstStyle/>
          <a:p>
            <a:endParaRPr lang="en-US"/>
          </a:p>
        </p:txBody>
      </p:sp>
      <p:sp>
        <p:nvSpPr>
          <p:cNvPr id="15" name="Text 13"/>
          <p:cNvSpPr/>
          <p:nvPr/>
        </p:nvSpPr>
        <p:spPr>
          <a:xfrm>
            <a:off x="4206240" y="1051560"/>
            <a:ext cx="1280160" cy="640080"/>
          </a:xfrm>
          <a:prstGeom prst="rect">
            <a:avLst/>
          </a:prstGeom>
          <a:noFill/>
          <a:ln/>
        </p:spPr>
        <p:txBody>
          <a:bodyPr wrap="square" rtlCol="0" anchor="ctr"/>
          <a:lstStyle/>
          <a:p>
            <a:pPr marL="0" indent="0" algn="ctr">
              <a:buNone/>
            </a:pPr>
            <a:r>
              <a:rPr lang="en-US" sz="1400" b="1" dirty="0">
                <a:solidFill>
                  <a:srgbClr val="E8E8FF"/>
                </a:solidFill>
              </a:rPr>
              <a:t>17</a:t>
            </a:r>
            <a:endParaRPr lang="en-US" sz="1400" dirty="0"/>
          </a:p>
        </p:txBody>
      </p:sp>
      <p:sp>
        <p:nvSpPr>
          <p:cNvPr id="16" name="Shape 14"/>
          <p:cNvSpPr/>
          <p:nvPr/>
        </p:nvSpPr>
        <p:spPr>
          <a:xfrm>
            <a:off x="5486400" y="1051560"/>
            <a:ext cx="1280160" cy="640080"/>
          </a:xfrm>
          <a:prstGeom prst="rect">
            <a:avLst/>
          </a:prstGeom>
          <a:solidFill>
            <a:srgbClr val="1A2010"/>
          </a:solidFill>
          <a:ln w="6350">
            <a:solidFill>
              <a:srgbClr val="1A1A28"/>
            </a:solidFill>
            <a:prstDash val="solid"/>
          </a:ln>
        </p:spPr>
        <p:txBody>
          <a:bodyPr/>
          <a:lstStyle/>
          <a:p>
            <a:endParaRPr lang="en-US"/>
          </a:p>
        </p:txBody>
      </p:sp>
      <p:sp>
        <p:nvSpPr>
          <p:cNvPr id="17" name="Text 15"/>
          <p:cNvSpPr/>
          <p:nvPr/>
        </p:nvSpPr>
        <p:spPr>
          <a:xfrm>
            <a:off x="5486400" y="1051560"/>
            <a:ext cx="1280160" cy="640080"/>
          </a:xfrm>
          <a:prstGeom prst="rect">
            <a:avLst/>
          </a:prstGeom>
          <a:noFill/>
          <a:ln/>
        </p:spPr>
        <p:txBody>
          <a:bodyPr wrap="square" rtlCol="0" anchor="ctr"/>
          <a:lstStyle/>
          <a:p>
            <a:pPr marL="0" indent="0" algn="ctr">
              <a:buNone/>
            </a:pPr>
            <a:r>
              <a:rPr lang="en-US" sz="1400" b="1" dirty="0">
                <a:solidFill>
                  <a:srgbClr val="E8E8FF"/>
                </a:solidFill>
              </a:rPr>
              <a:t>5</a:t>
            </a:r>
            <a:endParaRPr lang="en-US" sz="1400" dirty="0"/>
          </a:p>
        </p:txBody>
      </p:sp>
      <p:sp>
        <p:nvSpPr>
          <p:cNvPr id="18" name="Shape 16"/>
          <p:cNvSpPr/>
          <p:nvPr/>
        </p:nvSpPr>
        <p:spPr>
          <a:xfrm>
            <a:off x="6766560" y="1051560"/>
            <a:ext cx="1280160" cy="640080"/>
          </a:xfrm>
          <a:prstGeom prst="rect">
            <a:avLst/>
          </a:prstGeom>
          <a:solidFill>
            <a:srgbClr val="12121E"/>
          </a:solidFill>
          <a:ln w="6350">
            <a:solidFill>
              <a:srgbClr val="1A1A28"/>
            </a:solidFill>
            <a:prstDash val="solid"/>
          </a:ln>
        </p:spPr>
        <p:txBody>
          <a:bodyPr/>
          <a:lstStyle/>
          <a:p>
            <a:endParaRPr lang="en-US"/>
          </a:p>
        </p:txBody>
      </p:sp>
      <p:sp>
        <p:nvSpPr>
          <p:cNvPr id="19" name="Text 17"/>
          <p:cNvSpPr/>
          <p:nvPr/>
        </p:nvSpPr>
        <p:spPr>
          <a:xfrm>
            <a:off x="6766560" y="1051560"/>
            <a:ext cx="1280160" cy="640080"/>
          </a:xfrm>
          <a:prstGeom prst="rect">
            <a:avLst/>
          </a:prstGeom>
          <a:noFill/>
          <a:ln/>
        </p:spPr>
        <p:txBody>
          <a:bodyPr wrap="square" rtlCol="0" anchor="ctr"/>
          <a:lstStyle/>
          <a:p>
            <a:pPr marL="0" indent="0" algn="ctr">
              <a:buNone/>
            </a:pPr>
            <a:r>
              <a:rPr lang="en-US" sz="1400" b="1" dirty="0">
                <a:solidFill>
                  <a:srgbClr val="E8E8FF"/>
                </a:solidFill>
              </a:rPr>
              <a:t>—</a:t>
            </a:r>
            <a:endParaRPr lang="en-US" sz="1400" dirty="0"/>
          </a:p>
        </p:txBody>
      </p:sp>
      <p:sp>
        <p:nvSpPr>
          <p:cNvPr id="20" name="Text 18"/>
          <p:cNvSpPr/>
          <p:nvPr/>
        </p:nvSpPr>
        <p:spPr>
          <a:xfrm>
            <a:off x="91440" y="1691640"/>
            <a:ext cx="1508760" cy="640080"/>
          </a:xfrm>
          <a:prstGeom prst="rect">
            <a:avLst/>
          </a:prstGeom>
          <a:noFill/>
          <a:ln/>
        </p:spPr>
        <p:txBody>
          <a:bodyPr wrap="square" rtlCol="0" anchor="ctr"/>
          <a:lstStyle/>
          <a:p>
            <a:pPr marL="0" indent="0" algn="r">
              <a:buNone/>
            </a:pPr>
            <a:r>
              <a:rPr lang="en-US" sz="850" b="1" dirty="0">
                <a:solidFill>
                  <a:srgbClr val="E8E8FF"/>
                </a:solidFill>
              </a:rPr>
              <a:t>Hiteen</a:t>
            </a:r>
            <a:endParaRPr lang="en-US" sz="850" dirty="0"/>
          </a:p>
        </p:txBody>
      </p:sp>
      <p:sp>
        <p:nvSpPr>
          <p:cNvPr id="21" name="Shape 19"/>
          <p:cNvSpPr/>
          <p:nvPr/>
        </p:nvSpPr>
        <p:spPr>
          <a:xfrm>
            <a:off x="1645920" y="1691640"/>
            <a:ext cx="1280160" cy="640080"/>
          </a:xfrm>
          <a:prstGeom prst="rect">
            <a:avLst/>
          </a:prstGeom>
          <a:solidFill>
            <a:srgbClr val="1A2010"/>
          </a:solidFill>
          <a:ln w="6350">
            <a:solidFill>
              <a:srgbClr val="1A1A28"/>
            </a:solidFill>
            <a:prstDash val="solid"/>
          </a:ln>
        </p:spPr>
        <p:txBody>
          <a:bodyPr/>
          <a:lstStyle/>
          <a:p>
            <a:endParaRPr lang="en-US"/>
          </a:p>
        </p:txBody>
      </p:sp>
      <p:sp>
        <p:nvSpPr>
          <p:cNvPr id="22" name="Text 20"/>
          <p:cNvSpPr/>
          <p:nvPr/>
        </p:nvSpPr>
        <p:spPr>
          <a:xfrm>
            <a:off x="1645920" y="1691640"/>
            <a:ext cx="1280160" cy="640080"/>
          </a:xfrm>
          <a:prstGeom prst="rect">
            <a:avLst/>
          </a:prstGeom>
          <a:noFill/>
          <a:ln/>
        </p:spPr>
        <p:txBody>
          <a:bodyPr wrap="square" rtlCol="0" anchor="ctr"/>
          <a:lstStyle/>
          <a:p>
            <a:pPr marL="0" indent="0" algn="ctr">
              <a:buNone/>
            </a:pPr>
            <a:r>
              <a:rPr lang="en-US" sz="1400" b="1" dirty="0">
                <a:solidFill>
                  <a:srgbClr val="E8E8FF"/>
                </a:solidFill>
              </a:rPr>
              <a:t>3</a:t>
            </a:r>
            <a:endParaRPr lang="en-US" sz="1400" dirty="0"/>
          </a:p>
        </p:txBody>
      </p:sp>
      <p:sp>
        <p:nvSpPr>
          <p:cNvPr id="23" name="Shape 21"/>
          <p:cNvSpPr/>
          <p:nvPr/>
        </p:nvSpPr>
        <p:spPr>
          <a:xfrm>
            <a:off x="2926080" y="1691640"/>
            <a:ext cx="1280160" cy="640080"/>
          </a:xfrm>
          <a:prstGeom prst="rect">
            <a:avLst/>
          </a:prstGeom>
          <a:solidFill>
            <a:srgbClr val="4ADE50"/>
          </a:solidFill>
          <a:ln w="6350">
            <a:solidFill>
              <a:srgbClr val="1A1A28"/>
            </a:solidFill>
            <a:prstDash val="solid"/>
          </a:ln>
        </p:spPr>
        <p:txBody>
          <a:bodyPr/>
          <a:lstStyle/>
          <a:p>
            <a:endParaRPr lang="en-US"/>
          </a:p>
        </p:txBody>
      </p:sp>
      <p:sp>
        <p:nvSpPr>
          <p:cNvPr id="24" name="Text 22"/>
          <p:cNvSpPr/>
          <p:nvPr/>
        </p:nvSpPr>
        <p:spPr>
          <a:xfrm>
            <a:off x="2926080" y="1691640"/>
            <a:ext cx="1280160" cy="640080"/>
          </a:xfrm>
          <a:prstGeom prst="rect">
            <a:avLst/>
          </a:prstGeom>
          <a:noFill/>
          <a:ln/>
        </p:spPr>
        <p:txBody>
          <a:bodyPr wrap="square" rtlCol="0" anchor="ctr"/>
          <a:lstStyle/>
          <a:p>
            <a:pPr marL="0" indent="0" algn="ctr">
              <a:buNone/>
            </a:pPr>
            <a:r>
              <a:rPr lang="en-US" sz="1400" b="1" dirty="0">
                <a:solidFill>
                  <a:srgbClr val="000000"/>
                </a:solidFill>
              </a:rPr>
              <a:t>36</a:t>
            </a:r>
            <a:endParaRPr lang="en-US" sz="1400" dirty="0"/>
          </a:p>
        </p:txBody>
      </p:sp>
      <p:sp>
        <p:nvSpPr>
          <p:cNvPr id="25" name="Shape 23"/>
          <p:cNvSpPr/>
          <p:nvPr/>
        </p:nvSpPr>
        <p:spPr>
          <a:xfrm>
            <a:off x="4206240" y="1691640"/>
            <a:ext cx="1280160" cy="640080"/>
          </a:xfrm>
          <a:prstGeom prst="rect">
            <a:avLst/>
          </a:prstGeom>
          <a:solidFill>
            <a:srgbClr val="2A5020"/>
          </a:solidFill>
          <a:ln w="6350">
            <a:solidFill>
              <a:srgbClr val="1A1A28"/>
            </a:solidFill>
            <a:prstDash val="solid"/>
          </a:ln>
        </p:spPr>
        <p:txBody>
          <a:bodyPr/>
          <a:lstStyle/>
          <a:p>
            <a:endParaRPr lang="en-US"/>
          </a:p>
        </p:txBody>
      </p:sp>
      <p:sp>
        <p:nvSpPr>
          <p:cNvPr id="26" name="Text 24"/>
          <p:cNvSpPr/>
          <p:nvPr/>
        </p:nvSpPr>
        <p:spPr>
          <a:xfrm>
            <a:off x="4206240" y="1691640"/>
            <a:ext cx="1280160" cy="640080"/>
          </a:xfrm>
          <a:prstGeom prst="rect">
            <a:avLst/>
          </a:prstGeom>
          <a:noFill/>
          <a:ln/>
        </p:spPr>
        <p:txBody>
          <a:bodyPr wrap="square" rtlCol="0" anchor="ctr"/>
          <a:lstStyle/>
          <a:p>
            <a:pPr marL="0" indent="0" algn="ctr">
              <a:buNone/>
            </a:pPr>
            <a:r>
              <a:rPr lang="en-US" sz="1400" b="1" dirty="0">
                <a:solidFill>
                  <a:srgbClr val="E8E8FF"/>
                </a:solidFill>
              </a:rPr>
              <a:t>14</a:t>
            </a:r>
            <a:endParaRPr lang="en-US" sz="1400" dirty="0"/>
          </a:p>
        </p:txBody>
      </p:sp>
      <p:sp>
        <p:nvSpPr>
          <p:cNvPr id="27" name="Shape 25"/>
          <p:cNvSpPr/>
          <p:nvPr/>
        </p:nvSpPr>
        <p:spPr>
          <a:xfrm>
            <a:off x="5486400" y="1691640"/>
            <a:ext cx="1280160" cy="640080"/>
          </a:xfrm>
          <a:prstGeom prst="rect">
            <a:avLst/>
          </a:prstGeom>
          <a:solidFill>
            <a:srgbClr val="1A2010"/>
          </a:solidFill>
          <a:ln w="6350">
            <a:solidFill>
              <a:srgbClr val="1A1A28"/>
            </a:solidFill>
            <a:prstDash val="solid"/>
          </a:ln>
        </p:spPr>
        <p:txBody>
          <a:bodyPr/>
          <a:lstStyle/>
          <a:p>
            <a:endParaRPr lang="en-US"/>
          </a:p>
        </p:txBody>
      </p:sp>
      <p:sp>
        <p:nvSpPr>
          <p:cNvPr id="28" name="Text 26"/>
          <p:cNvSpPr/>
          <p:nvPr/>
        </p:nvSpPr>
        <p:spPr>
          <a:xfrm>
            <a:off x="5486400" y="1691640"/>
            <a:ext cx="1280160" cy="640080"/>
          </a:xfrm>
          <a:prstGeom prst="rect">
            <a:avLst/>
          </a:prstGeom>
          <a:noFill/>
          <a:ln/>
        </p:spPr>
        <p:txBody>
          <a:bodyPr wrap="square" rtlCol="0" anchor="ctr"/>
          <a:lstStyle/>
          <a:p>
            <a:pPr marL="0" indent="0" algn="ctr">
              <a:buNone/>
            </a:pPr>
            <a:r>
              <a:rPr lang="en-US" sz="1400" b="1" dirty="0">
                <a:solidFill>
                  <a:srgbClr val="E8E8FF"/>
                </a:solidFill>
              </a:rPr>
              <a:t>4</a:t>
            </a:r>
            <a:endParaRPr lang="en-US" sz="1400" dirty="0"/>
          </a:p>
        </p:txBody>
      </p:sp>
      <p:sp>
        <p:nvSpPr>
          <p:cNvPr id="29" name="Shape 27"/>
          <p:cNvSpPr/>
          <p:nvPr/>
        </p:nvSpPr>
        <p:spPr>
          <a:xfrm>
            <a:off x="6766560" y="1691640"/>
            <a:ext cx="1280160" cy="640080"/>
          </a:xfrm>
          <a:prstGeom prst="rect">
            <a:avLst/>
          </a:prstGeom>
          <a:solidFill>
            <a:srgbClr val="12121E"/>
          </a:solidFill>
          <a:ln w="6350">
            <a:solidFill>
              <a:srgbClr val="1A1A28"/>
            </a:solidFill>
            <a:prstDash val="solid"/>
          </a:ln>
        </p:spPr>
        <p:txBody>
          <a:bodyPr/>
          <a:lstStyle/>
          <a:p>
            <a:endParaRPr lang="en-US"/>
          </a:p>
        </p:txBody>
      </p:sp>
      <p:sp>
        <p:nvSpPr>
          <p:cNvPr id="30" name="Text 28"/>
          <p:cNvSpPr/>
          <p:nvPr/>
        </p:nvSpPr>
        <p:spPr>
          <a:xfrm>
            <a:off x="6766560" y="1691640"/>
            <a:ext cx="1280160" cy="640080"/>
          </a:xfrm>
          <a:prstGeom prst="rect">
            <a:avLst/>
          </a:prstGeom>
          <a:noFill/>
          <a:ln/>
        </p:spPr>
        <p:txBody>
          <a:bodyPr wrap="square" rtlCol="0" anchor="ctr"/>
          <a:lstStyle/>
          <a:p>
            <a:pPr marL="0" indent="0" algn="ctr">
              <a:buNone/>
            </a:pPr>
            <a:r>
              <a:rPr lang="en-US" sz="1400" b="1" dirty="0">
                <a:solidFill>
                  <a:srgbClr val="E8E8FF"/>
                </a:solidFill>
              </a:rPr>
              <a:t>—</a:t>
            </a:r>
            <a:endParaRPr lang="en-US" sz="1400" dirty="0"/>
          </a:p>
        </p:txBody>
      </p:sp>
      <p:sp>
        <p:nvSpPr>
          <p:cNvPr id="31" name="Text 29"/>
          <p:cNvSpPr/>
          <p:nvPr/>
        </p:nvSpPr>
        <p:spPr>
          <a:xfrm>
            <a:off x="91440" y="2331720"/>
            <a:ext cx="1508760" cy="640080"/>
          </a:xfrm>
          <a:prstGeom prst="rect">
            <a:avLst/>
          </a:prstGeom>
          <a:noFill/>
          <a:ln/>
        </p:spPr>
        <p:txBody>
          <a:bodyPr wrap="square" rtlCol="0" anchor="ctr"/>
          <a:lstStyle/>
          <a:p>
            <a:pPr marL="0" indent="0" algn="r">
              <a:buNone/>
            </a:pPr>
            <a:r>
              <a:rPr lang="en-US" sz="850" b="1" dirty="0">
                <a:solidFill>
                  <a:srgbClr val="E8E8FF"/>
                </a:solidFill>
              </a:rPr>
              <a:t>Dhahrat Laban</a:t>
            </a:r>
            <a:endParaRPr lang="en-US" sz="850" dirty="0"/>
          </a:p>
        </p:txBody>
      </p:sp>
      <p:sp>
        <p:nvSpPr>
          <p:cNvPr id="32" name="Shape 30"/>
          <p:cNvSpPr/>
          <p:nvPr/>
        </p:nvSpPr>
        <p:spPr>
          <a:xfrm>
            <a:off x="1645920" y="2331720"/>
            <a:ext cx="1280160" cy="640080"/>
          </a:xfrm>
          <a:prstGeom prst="rect">
            <a:avLst/>
          </a:prstGeom>
          <a:solidFill>
            <a:srgbClr val="1A2010"/>
          </a:solidFill>
          <a:ln w="6350">
            <a:solidFill>
              <a:srgbClr val="1A1A28"/>
            </a:solidFill>
            <a:prstDash val="solid"/>
          </a:ln>
        </p:spPr>
        <p:txBody>
          <a:bodyPr/>
          <a:lstStyle/>
          <a:p>
            <a:endParaRPr lang="en-US"/>
          </a:p>
        </p:txBody>
      </p:sp>
      <p:sp>
        <p:nvSpPr>
          <p:cNvPr id="33" name="Text 31"/>
          <p:cNvSpPr/>
          <p:nvPr/>
        </p:nvSpPr>
        <p:spPr>
          <a:xfrm>
            <a:off x="1645920" y="2331720"/>
            <a:ext cx="1280160" cy="640080"/>
          </a:xfrm>
          <a:prstGeom prst="rect">
            <a:avLst/>
          </a:prstGeom>
          <a:noFill/>
          <a:ln/>
        </p:spPr>
        <p:txBody>
          <a:bodyPr wrap="square" rtlCol="0" anchor="ctr"/>
          <a:lstStyle/>
          <a:p>
            <a:pPr marL="0" indent="0" algn="ctr">
              <a:buNone/>
            </a:pPr>
            <a:r>
              <a:rPr lang="en-US" sz="1400" b="1" dirty="0">
                <a:solidFill>
                  <a:srgbClr val="E8E8FF"/>
                </a:solidFill>
              </a:rPr>
              <a:t>5</a:t>
            </a:r>
            <a:endParaRPr lang="en-US" sz="1400" dirty="0"/>
          </a:p>
        </p:txBody>
      </p:sp>
      <p:sp>
        <p:nvSpPr>
          <p:cNvPr id="34" name="Shape 32"/>
          <p:cNvSpPr/>
          <p:nvPr/>
        </p:nvSpPr>
        <p:spPr>
          <a:xfrm>
            <a:off x="2926080" y="2331720"/>
            <a:ext cx="1280160" cy="640080"/>
          </a:xfrm>
          <a:prstGeom prst="rect">
            <a:avLst/>
          </a:prstGeom>
          <a:solidFill>
            <a:srgbClr val="4ADE50"/>
          </a:solidFill>
          <a:ln w="6350">
            <a:solidFill>
              <a:srgbClr val="1A1A28"/>
            </a:solidFill>
            <a:prstDash val="solid"/>
          </a:ln>
        </p:spPr>
        <p:txBody>
          <a:bodyPr/>
          <a:lstStyle/>
          <a:p>
            <a:endParaRPr lang="en-US"/>
          </a:p>
        </p:txBody>
      </p:sp>
      <p:sp>
        <p:nvSpPr>
          <p:cNvPr id="35" name="Text 33"/>
          <p:cNvSpPr/>
          <p:nvPr/>
        </p:nvSpPr>
        <p:spPr>
          <a:xfrm>
            <a:off x="2926080" y="2331720"/>
            <a:ext cx="1280160" cy="640080"/>
          </a:xfrm>
          <a:prstGeom prst="rect">
            <a:avLst/>
          </a:prstGeom>
          <a:noFill/>
          <a:ln/>
        </p:spPr>
        <p:txBody>
          <a:bodyPr wrap="square" rtlCol="0" anchor="ctr"/>
          <a:lstStyle/>
          <a:p>
            <a:pPr marL="0" indent="0" algn="ctr">
              <a:buNone/>
            </a:pPr>
            <a:r>
              <a:rPr lang="en-US" sz="1400" b="1" dirty="0">
                <a:solidFill>
                  <a:srgbClr val="000000"/>
                </a:solidFill>
              </a:rPr>
              <a:t>36</a:t>
            </a:r>
            <a:endParaRPr lang="en-US" sz="1400" dirty="0"/>
          </a:p>
        </p:txBody>
      </p:sp>
      <p:sp>
        <p:nvSpPr>
          <p:cNvPr id="36" name="Shape 34"/>
          <p:cNvSpPr/>
          <p:nvPr/>
        </p:nvSpPr>
        <p:spPr>
          <a:xfrm>
            <a:off x="4206240" y="2331720"/>
            <a:ext cx="1280160" cy="640080"/>
          </a:xfrm>
          <a:prstGeom prst="rect">
            <a:avLst/>
          </a:prstGeom>
          <a:solidFill>
            <a:srgbClr val="2A5020"/>
          </a:solidFill>
          <a:ln w="6350">
            <a:solidFill>
              <a:srgbClr val="1A1A28"/>
            </a:solidFill>
            <a:prstDash val="solid"/>
          </a:ln>
        </p:spPr>
        <p:txBody>
          <a:bodyPr/>
          <a:lstStyle/>
          <a:p>
            <a:endParaRPr lang="en-US"/>
          </a:p>
        </p:txBody>
      </p:sp>
      <p:sp>
        <p:nvSpPr>
          <p:cNvPr id="37" name="Text 35"/>
          <p:cNvSpPr/>
          <p:nvPr/>
        </p:nvSpPr>
        <p:spPr>
          <a:xfrm>
            <a:off x="4206240" y="2331720"/>
            <a:ext cx="1280160" cy="640080"/>
          </a:xfrm>
          <a:prstGeom prst="rect">
            <a:avLst/>
          </a:prstGeom>
          <a:noFill/>
          <a:ln/>
        </p:spPr>
        <p:txBody>
          <a:bodyPr wrap="square" rtlCol="0" anchor="ctr"/>
          <a:lstStyle/>
          <a:p>
            <a:pPr marL="0" indent="0" algn="ctr">
              <a:buNone/>
            </a:pPr>
            <a:r>
              <a:rPr lang="en-US" sz="1400" b="1" dirty="0">
                <a:solidFill>
                  <a:srgbClr val="E8E8FF"/>
                </a:solidFill>
              </a:rPr>
              <a:t>13</a:t>
            </a:r>
            <a:endParaRPr lang="en-US" sz="1400" dirty="0"/>
          </a:p>
        </p:txBody>
      </p:sp>
      <p:sp>
        <p:nvSpPr>
          <p:cNvPr id="38" name="Shape 36"/>
          <p:cNvSpPr/>
          <p:nvPr/>
        </p:nvSpPr>
        <p:spPr>
          <a:xfrm>
            <a:off x="5486400" y="2331720"/>
            <a:ext cx="1280160" cy="640080"/>
          </a:xfrm>
          <a:prstGeom prst="rect">
            <a:avLst/>
          </a:prstGeom>
          <a:solidFill>
            <a:srgbClr val="2A5020"/>
          </a:solidFill>
          <a:ln w="6350">
            <a:solidFill>
              <a:srgbClr val="1A1A28"/>
            </a:solidFill>
            <a:prstDash val="solid"/>
          </a:ln>
        </p:spPr>
        <p:txBody>
          <a:bodyPr/>
          <a:lstStyle/>
          <a:p>
            <a:endParaRPr lang="en-US"/>
          </a:p>
        </p:txBody>
      </p:sp>
      <p:sp>
        <p:nvSpPr>
          <p:cNvPr id="39" name="Text 37"/>
          <p:cNvSpPr/>
          <p:nvPr/>
        </p:nvSpPr>
        <p:spPr>
          <a:xfrm>
            <a:off x="5486400" y="2331720"/>
            <a:ext cx="1280160" cy="640080"/>
          </a:xfrm>
          <a:prstGeom prst="rect">
            <a:avLst/>
          </a:prstGeom>
          <a:noFill/>
          <a:ln/>
        </p:spPr>
        <p:txBody>
          <a:bodyPr wrap="square" rtlCol="0" anchor="ctr"/>
          <a:lstStyle/>
          <a:p>
            <a:pPr marL="0" indent="0" algn="ctr">
              <a:buNone/>
            </a:pPr>
            <a:r>
              <a:rPr lang="en-US" sz="1400" b="1" dirty="0">
                <a:solidFill>
                  <a:srgbClr val="E8E8FF"/>
                </a:solidFill>
              </a:rPr>
              <a:t>6</a:t>
            </a:r>
            <a:endParaRPr lang="en-US" sz="1400" dirty="0"/>
          </a:p>
        </p:txBody>
      </p:sp>
      <p:sp>
        <p:nvSpPr>
          <p:cNvPr id="40" name="Shape 38"/>
          <p:cNvSpPr/>
          <p:nvPr/>
        </p:nvSpPr>
        <p:spPr>
          <a:xfrm>
            <a:off x="6766560" y="2331720"/>
            <a:ext cx="1280160" cy="640080"/>
          </a:xfrm>
          <a:prstGeom prst="rect">
            <a:avLst/>
          </a:prstGeom>
          <a:solidFill>
            <a:srgbClr val="12121E"/>
          </a:solidFill>
          <a:ln w="6350">
            <a:solidFill>
              <a:srgbClr val="1A1A28"/>
            </a:solidFill>
            <a:prstDash val="solid"/>
          </a:ln>
        </p:spPr>
        <p:txBody>
          <a:bodyPr/>
          <a:lstStyle/>
          <a:p>
            <a:endParaRPr lang="en-US"/>
          </a:p>
        </p:txBody>
      </p:sp>
      <p:sp>
        <p:nvSpPr>
          <p:cNvPr id="41" name="Text 39"/>
          <p:cNvSpPr/>
          <p:nvPr/>
        </p:nvSpPr>
        <p:spPr>
          <a:xfrm>
            <a:off x="6766560" y="2331720"/>
            <a:ext cx="1280160" cy="640080"/>
          </a:xfrm>
          <a:prstGeom prst="rect">
            <a:avLst/>
          </a:prstGeom>
          <a:noFill/>
          <a:ln/>
        </p:spPr>
        <p:txBody>
          <a:bodyPr wrap="square" rtlCol="0" anchor="ctr"/>
          <a:lstStyle/>
          <a:p>
            <a:pPr marL="0" indent="0" algn="ctr">
              <a:buNone/>
            </a:pPr>
            <a:r>
              <a:rPr lang="en-US" sz="1400" b="1" dirty="0">
                <a:solidFill>
                  <a:srgbClr val="E8E8FF"/>
                </a:solidFill>
              </a:rPr>
              <a:t>—</a:t>
            </a:r>
            <a:endParaRPr lang="en-US" sz="1400" dirty="0"/>
          </a:p>
        </p:txBody>
      </p:sp>
      <p:sp>
        <p:nvSpPr>
          <p:cNvPr id="42" name="Text 40"/>
          <p:cNvSpPr/>
          <p:nvPr/>
        </p:nvSpPr>
        <p:spPr>
          <a:xfrm>
            <a:off x="91440" y="2971800"/>
            <a:ext cx="1508760" cy="640080"/>
          </a:xfrm>
          <a:prstGeom prst="rect">
            <a:avLst/>
          </a:prstGeom>
          <a:noFill/>
          <a:ln/>
        </p:spPr>
        <p:txBody>
          <a:bodyPr wrap="square" rtlCol="0" anchor="ctr"/>
          <a:lstStyle/>
          <a:p>
            <a:pPr marL="0" indent="0" algn="r">
              <a:buNone/>
            </a:pPr>
            <a:r>
              <a:rPr lang="en-US" sz="850" b="1" dirty="0">
                <a:solidFill>
                  <a:srgbClr val="E8E8FF"/>
                </a:solidFill>
              </a:rPr>
              <a:t>Al Narjis</a:t>
            </a:r>
            <a:endParaRPr lang="en-US" sz="850" dirty="0"/>
          </a:p>
        </p:txBody>
      </p:sp>
      <p:sp>
        <p:nvSpPr>
          <p:cNvPr id="43" name="Shape 41"/>
          <p:cNvSpPr/>
          <p:nvPr/>
        </p:nvSpPr>
        <p:spPr>
          <a:xfrm>
            <a:off x="1645920" y="2971800"/>
            <a:ext cx="1280160" cy="640080"/>
          </a:xfrm>
          <a:prstGeom prst="rect">
            <a:avLst/>
          </a:prstGeom>
          <a:solidFill>
            <a:srgbClr val="1A2010"/>
          </a:solidFill>
          <a:ln w="6350">
            <a:solidFill>
              <a:srgbClr val="1A1A28"/>
            </a:solidFill>
            <a:prstDash val="solid"/>
          </a:ln>
        </p:spPr>
        <p:txBody>
          <a:bodyPr/>
          <a:lstStyle/>
          <a:p>
            <a:endParaRPr lang="en-US"/>
          </a:p>
        </p:txBody>
      </p:sp>
      <p:sp>
        <p:nvSpPr>
          <p:cNvPr id="44" name="Text 42"/>
          <p:cNvSpPr/>
          <p:nvPr/>
        </p:nvSpPr>
        <p:spPr>
          <a:xfrm>
            <a:off x="1645920" y="2971800"/>
            <a:ext cx="1280160" cy="640080"/>
          </a:xfrm>
          <a:prstGeom prst="rect">
            <a:avLst/>
          </a:prstGeom>
          <a:noFill/>
          <a:ln/>
        </p:spPr>
        <p:txBody>
          <a:bodyPr wrap="square" rtlCol="0" anchor="ctr"/>
          <a:lstStyle/>
          <a:p>
            <a:pPr marL="0" indent="0" algn="ctr">
              <a:buNone/>
            </a:pPr>
            <a:r>
              <a:rPr lang="en-US" sz="1400" b="1" dirty="0">
                <a:solidFill>
                  <a:srgbClr val="E8E8FF"/>
                </a:solidFill>
              </a:rPr>
              <a:t>2</a:t>
            </a:r>
            <a:endParaRPr lang="en-US" sz="1400" dirty="0"/>
          </a:p>
        </p:txBody>
      </p:sp>
      <p:sp>
        <p:nvSpPr>
          <p:cNvPr id="45" name="Shape 43"/>
          <p:cNvSpPr/>
          <p:nvPr/>
        </p:nvSpPr>
        <p:spPr>
          <a:xfrm>
            <a:off x="2926080" y="2971800"/>
            <a:ext cx="1280160" cy="640080"/>
          </a:xfrm>
          <a:prstGeom prst="rect">
            <a:avLst/>
          </a:prstGeom>
          <a:solidFill>
            <a:srgbClr val="4ADE50"/>
          </a:solidFill>
          <a:ln w="6350">
            <a:solidFill>
              <a:srgbClr val="1A1A28"/>
            </a:solidFill>
            <a:prstDash val="solid"/>
          </a:ln>
        </p:spPr>
        <p:txBody>
          <a:bodyPr/>
          <a:lstStyle/>
          <a:p>
            <a:endParaRPr lang="en-US"/>
          </a:p>
        </p:txBody>
      </p:sp>
      <p:sp>
        <p:nvSpPr>
          <p:cNvPr id="46" name="Text 44"/>
          <p:cNvSpPr/>
          <p:nvPr/>
        </p:nvSpPr>
        <p:spPr>
          <a:xfrm>
            <a:off x="2926080" y="2971800"/>
            <a:ext cx="1280160" cy="640080"/>
          </a:xfrm>
          <a:prstGeom prst="rect">
            <a:avLst/>
          </a:prstGeom>
          <a:noFill/>
          <a:ln/>
        </p:spPr>
        <p:txBody>
          <a:bodyPr wrap="square" rtlCol="0" anchor="ctr"/>
          <a:lstStyle/>
          <a:p>
            <a:pPr marL="0" indent="0" algn="ctr">
              <a:buNone/>
            </a:pPr>
            <a:r>
              <a:rPr lang="en-US" sz="1400" b="1" dirty="0">
                <a:solidFill>
                  <a:srgbClr val="000000"/>
                </a:solidFill>
              </a:rPr>
              <a:t>31</a:t>
            </a:r>
            <a:endParaRPr lang="en-US" sz="1400" dirty="0"/>
          </a:p>
        </p:txBody>
      </p:sp>
      <p:sp>
        <p:nvSpPr>
          <p:cNvPr id="47" name="Shape 45"/>
          <p:cNvSpPr/>
          <p:nvPr/>
        </p:nvSpPr>
        <p:spPr>
          <a:xfrm>
            <a:off x="4206240" y="2971800"/>
            <a:ext cx="1280160" cy="640080"/>
          </a:xfrm>
          <a:prstGeom prst="rect">
            <a:avLst/>
          </a:prstGeom>
          <a:solidFill>
            <a:srgbClr val="2A5020"/>
          </a:solidFill>
          <a:ln w="6350">
            <a:solidFill>
              <a:srgbClr val="1A1A28"/>
            </a:solidFill>
            <a:prstDash val="solid"/>
          </a:ln>
        </p:spPr>
        <p:txBody>
          <a:bodyPr/>
          <a:lstStyle/>
          <a:p>
            <a:endParaRPr lang="en-US"/>
          </a:p>
        </p:txBody>
      </p:sp>
      <p:sp>
        <p:nvSpPr>
          <p:cNvPr id="48" name="Text 46"/>
          <p:cNvSpPr/>
          <p:nvPr/>
        </p:nvSpPr>
        <p:spPr>
          <a:xfrm>
            <a:off x="4206240" y="2971800"/>
            <a:ext cx="1280160" cy="640080"/>
          </a:xfrm>
          <a:prstGeom prst="rect">
            <a:avLst/>
          </a:prstGeom>
          <a:noFill/>
          <a:ln/>
        </p:spPr>
        <p:txBody>
          <a:bodyPr wrap="square" rtlCol="0" anchor="ctr"/>
          <a:lstStyle/>
          <a:p>
            <a:pPr marL="0" indent="0" algn="ctr">
              <a:buNone/>
            </a:pPr>
            <a:r>
              <a:rPr lang="en-US" sz="1400" b="1" dirty="0">
                <a:solidFill>
                  <a:srgbClr val="E8E8FF"/>
                </a:solidFill>
              </a:rPr>
              <a:t>11</a:t>
            </a:r>
            <a:endParaRPr lang="en-US" sz="1400" dirty="0"/>
          </a:p>
        </p:txBody>
      </p:sp>
      <p:sp>
        <p:nvSpPr>
          <p:cNvPr id="49" name="Shape 47"/>
          <p:cNvSpPr/>
          <p:nvPr/>
        </p:nvSpPr>
        <p:spPr>
          <a:xfrm>
            <a:off x="5486400" y="2971800"/>
            <a:ext cx="1280160" cy="640080"/>
          </a:xfrm>
          <a:prstGeom prst="rect">
            <a:avLst/>
          </a:prstGeom>
          <a:solidFill>
            <a:srgbClr val="1A2010"/>
          </a:solidFill>
          <a:ln w="6350">
            <a:solidFill>
              <a:srgbClr val="1A1A28"/>
            </a:solidFill>
            <a:prstDash val="solid"/>
          </a:ln>
        </p:spPr>
        <p:txBody>
          <a:bodyPr/>
          <a:lstStyle/>
          <a:p>
            <a:endParaRPr lang="en-US"/>
          </a:p>
        </p:txBody>
      </p:sp>
      <p:sp>
        <p:nvSpPr>
          <p:cNvPr id="50" name="Text 48"/>
          <p:cNvSpPr/>
          <p:nvPr/>
        </p:nvSpPr>
        <p:spPr>
          <a:xfrm>
            <a:off x="5486400" y="2971800"/>
            <a:ext cx="1280160" cy="640080"/>
          </a:xfrm>
          <a:prstGeom prst="rect">
            <a:avLst/>
          </a:prstGeom>
          <a:noFill/>
          <a:ln/>
        </p:spPr>
        <p:txBody>
          <a:bodyPr wrap="square" rtlCol="0" anchor="ctr"/>
          <a:lstStyle/>
          <a:p>
            <a:pPr marL="0" indent="0" algn="ctr">
              <a:buNone/>
            </a:pPr>
            <a:r>
              <a:rPr lang="en-US" sz="1400" b="1" dirty="0">
                <a:solidFill>
                  <a:srgbClr val="E8E8FF"/>
                </a:solidFill>
              </a:rPr>
              <a:t>3</a:t>
            </a:r>
            <a:endParaRPr lang="en-US" sz="1400" dirty="0"/>
          </a:p>
        </p:txBody>
      </p:sp>
      <p:sp>
        <p:nvSpPr>
          <p:cNvPr id="51" name="Shape 49"/>
          <p:cNvSpPr/>
          <p:nvPr/>
        </p:nvSpPr>
        <p:spPr>
          <a:xfrm>
            <a:off x="6766560" y="2971800"/>
            <a:ext cx="1280160" cy="640080"/>
          </a:xfrm>
          <a:prstGeom prst="rect">
            <a:avLst/>
          </a:prstGeom>
          <a:solidFill>
            <a:srgbClr val="12121E"/>
          </a:solidFill>
          <a:ln w="6350">
            <a:solidFill>
              <a:srgbClr val="1A1A28"/>
            </a:solidFill>
            <a:prstDash val="solid"/>
          </a:ln>
        </p:spPr>
        <p:txBody>
          <a:bodyPr/>
          <a:lstStyle/>
          <a:p>
            <a:endParaRPr lang="en-US"/>
          </a:p>
        </p:txBody>
      </p:sp>
      <p:sp>
        <p:nvSpPr>
          <p:cNvPr id="52" name="Text 50"/>
          <p:cNvSpPr/>
          <p:nvPr/>
        </p:nvSpPr>
        <p:spPr>
          <a:xfrm>
            <a:off x="6766560" y="2971800"/>
            <a:ext cx="1280160" cy="640080"/>
          </a:xfrm>
          <a:prstGeom prst="rect">
            <a:avLst/>
          </a:prstGeom>
          <a:noFill/>
          <a:ln/>
        </p:spPr>
        <p:txBody>
          <a:bodyPr wrap="square" rtlCol="0" anchor="ctr"/>
          <a:lstStyle/>
          <a:p>
            <a:pPr marL="0" indent="0" algn="ctr">
              <a:buNone/>
            </a:pPr>
            <a:r>
              <a:rPr lang="en-US" sz="1400" b="1" dirty="0">
                <a:solidFill>
                  <a:srgbClr val="E8E8FF"/>
                </a:solidFill>
              </a:rPr>
              <a:t>—</a:t>
            </a:r>
            <a:endParaRPr lang="en-US" sz="1400" dirty="0"/>
          </a:p>
        </p:txBody>
      </p:sp>
      <p:sp>
        <p:nvSpPr>
          <p:cNvPr id="53" name="Text 51"/>
          <p:cNvSpPr/>
          <p:nvPr/>
        </p:nvSpPr>
        <p:spPr>
          <a:xfrm>
            <a:off x="91440" y="3611880"/>
            <a:ext cx="1508760" cy="640080"/>
          </a:xfrm>
          <a:prstGeom prst="rect">
            <a:avLst/>
          </a:prstGeom>
          <a:noFill/>
          <a:ln/>
        </p:spPr>
        <p:txBody>
          <a:bodyPr wrap="square" rtlCol="0" anchor="ctr"/>
          <a:lstStyle/>
          <a:p>
            <a:pPr marL="0" indent="0" algn="r">
              <a:buNone/>
            </a:pPr>
            <a:r>
              <a:rPr lang="en-US" sz="850" b="1" dirty="0">
                <a:solidFill>
                  <a:srgbClr val="E8E8FF"/>
                </a:solidFill>
              </a:rPr>
              <a:t>Al Sulaimaniyah</a:t>
            </a:r>
            <a:endParaRPr lang="en-US" sz="850" dirty="0"/>
          </a:p>
        </p:txBody>
      </p:sp>
      <p:sp>
        <p:nvSpPr>
          <p:cNvPr id="54" name="Shape 52"/>
          <p:cNvSpPr/>
          <p:nvPr/>
        </p:nvSpPr>
        <p:spPr>
          <a:xfrm>
            <a:off x="1645920" y="3611880"/>
            <a:ext cx="1280160" cy="640080"/>
          </a:xfrm>
          <a:prstGeom prst="rect">
            <a:avLst/>
          </a:prstGeom>
          <a:solidFill>
            <a:srgbClr val="1A2010"/>
          </a:solidFill>
          <a:ln w="6350">
            <a:solidFill>
              <a:srgbClr val="1A1A28"/>
            </a:solidFill>
            <a:prstDash val="solid"/>
          </a:ln>
        </p:spPr>
        <p:txBody>
          <a:bodyPr/>
          <a:lstStyle/>
          <a:p>
            <a:endParaRPr lang="en-US"/>
          </a:p>
        </p:txBody>
      </p:sp>
      <p:sp>
        <p:nvSpPr>
          <p:cNvPr id="55" name="Text 53"/>
          <p:cNvSpPr/>
          <p:nvPr/>
        </p:nvSpPr>
        <p:spPr>
          <a:xfrm>
            <a:off x="1645920" y="3611880"/>
            <a:ext cx="1280160" cy="640080"/>
          </a:xfrm>
          <a:prstGeom prst="rect">
            <a:avLst/>
          </a:prstGeom>
          <a:noFill/>
          <a:ln/>
        </p:spPr>
        <p:txBody>
          <a:bodyPr wrap="square" rtlCol="0" anchor="ctr"/>
          <a:lstStyle/>
          <a:p>
            <a:pPr marL="0" indent="0" algn="ctr">
              <a:buNone/>
            </a:pPr>
            <a:r>
              <a:rPr lang="en-US" sz="1400" b="1" dirty="0">
                <a:solidFill>
                  <a:srgbClr val="E8E8FF"/>
                </a:solidFill>
              </a:rPr>
              <a:t>3</a:t>
            </a:r>
            <a:endParaRPr lang="en-US" sz="1400" dirty="0"/>
          </a:p>
        </p:txBody>
      </p:sp>
      <p:sp>
        <p:nvSpPr>
          <p:cNvPr id="56" name="Shape 54"/>
          <p:cNvSpPr/>
          <p:nvPr/>
        </p:nvSpPr>
        <p:spPr>
          <a:xfrm>
            <a:off x="2926080" y="3611880"/>
            <a:ext cx="1280160" cy="640080"/>
          </a:xfrm>
          <a:prstGeom prst="rect">
            <a:avLst/>
          </a:prstGeom>
          <a:solidFill>
            <a:srgbClr val="3A7030"/>
          </a:solidFill>
          <a:ln w="6350">
            <a:solidFill>
              <a:srgbClr val="1A1A28"/>
            </a:solidFill>
            <a:prstDash val="solid"/>
          </a:ln>
        </p:spPr>
        <p:txBody>
          <a:bodyPr/>
          <a:lstStyle/>
          <a:p>
            <a:endParaRPr lang="en-US"/>
          </a:p>
        </p:txBody>
      </p:sp>
      <p:sp>
        <p:nvSpPr>
          <p:cNvPr id="57" name="Text 55"/>
          <p:cNvSpPr/>
          <p:nvPr/>
        </p:nvSpPr>
        <p:spPr>
          <a:xfrm>
            <a:off x="2926080" y="3611880"/>
            <a:ext cx="1280160" cy="640080"/>
          </a:xfrm>
          <a:prstGeom prst="rect">
            <a:avLst/>
          </a:prstGeom>
          <a:noFill/>
          <a:ln/>
        </p:spPr>
        <p:txBody>
          <a:bodyPr wrap="square" rtlCol="0" anchor="ctr"/>
          <a:lstStyle/>
          <a:p>
            <a:pPr marL="0" indent="0" algn="ctr">
              <a:buNone/>
            </a:pPr>
            <a:r>
              <a:rPr lang="en-US" sz="1400" b="1" dirty="0">
                <a:solidFill>
                  <a:srgbClr val="000000"/>
                </a:solidFill>
              </a:rPr>
              <a:t>28</a:t>
            </a:r>
            <a:endParaRPr lang="en-US" sz="1400" dirty="0"/>
          </a:p>
        </p:txBody>
      </p:sp>
      <p:sp>
        <p:nvSpPr>
          <p:cNvPr id="58" name="Shape 56"/>
          <p:cNvSpPr/>
          <p:nvPr/>
        </p:nvSpPr>
        <p:spPr>
          <a:xfrm>
            <a:off x="4206240" y="3611880"/>
            <a:ext cx="1280160" cy="640080"/>
          </a:xfrm>
          <a:prstGeom prst="rect">
            <a:avLst/>
          </a:prstGeom>
          <a:solidFill>
            <a:srgbClr val="2A5020"/>
          </a:solidFill>
          <a:ln w="6350">
            <a:solidFill>
              <a:srgbClr val="1A1A28"/>
            </a:solidFill>
            <a:prstDash val="solid"/>
          </a:ln>
        </p:spPr>
        <p:txBody>
          <a:bodyPr/>
          <a:lstStyle/>
          <a:p>
            <a:endParaRPr lang="en-US"/>
          </a:p>
        </p:txBody>
      </p:sp>
      <p:sp>
        <p:nvSpPr>
          <p:cNvPr id="59" name="Text 57"/>
          <p:cNvSpPr/>
          <p:nvPr/>
        </p:nvSpPr>
        <p:spPr>
          <a:xfrm>
            <a:off x="4206240" y="3611880"/>
            <a:ext cx="1280160" cy="640080"/>
          </a:xfrm>
          <a:prstGeom prst="rect">
            <a:avLst/>
          </a:prstGeom>
          <a:noFill/>
          <a:ln/>
        </p:spPr>
        <p:txBody>
          <a:bodyPr wrap="square" rtlCol="0" anchor="ctr"/>
          <a:lstStyle/>
          <a:p>
            <a:pPr marL="0" indent="0" algn="ctr">
              <a:buNone/>
            </a:pPr>
            <a:r>
              <a:rPr lang="en-US" sz="1400" b="1" dirty="0">
                <a:solidFill>
                  <a:srgbClr val="E8E8FF"/>
                </a:solidFill>
              </a:rPr>
              <a:t>10</a:t>
            </a:r>
            <a:endParaRPr lang="en-US" sz="1400" dirty="0"/>
          </a:p>
        </p:txBody>
      </p:sp>
      <p:sp>
        <p:nvSpPr>
          <p:cNvPr id="60" name="Shape 58"/>
          <p:cNvSpPr/>
          <p:nvPr/>
        </p:nvSpPr>
        <p:spPr>
          <a:xfrm>
            <a:off x="5486400" y="3611880"/>
            <a:ext cx="1280160" cy="640080"/>
          </a:xfrm>
          <a:prstGeom prst="rect">
            <a:avLst/>
          </a:prstGeom>
          <a:solidFill>
            <a:srgbClr val="1A2010"/>
          </a:solidFill>
          <a:ln w="6350">
            <a:solidFill>
              <a:srgbClr val="1A1A28"/>
            </a:solidFill>
            <a:prstDash val="solid"/>
          </a:ln>
        </p:spPr>
        <p:txBody>
          <a:bodyPr/>
          <a:lstStyle/>
          <a:p>
            <a:endParaRPr lang="en-US"/>
          </a:p>
        </p:txBody>
      </p:sp>
      <p:sp>
        <p:nvSpPr>
          <p:cNvPr id="61" name="Text 59"/>
          <p:cNvSpPr/>
          <p:nvPr/>
        </p:nvSpPr>
        <p:spPr>
          <a:xfrm>
            <a:off x="5486400" y="3611880"/>
            <a:ext cx="1280160" cy="640080"/>
          </a:xfrm>
          <a:prstGeom prst="rect">
            <a:avLst/>
          </a:prstGeom>
          <a:noFill/>
          <a:ln/>
        </p:spPr>
        <p:txBody>
          <a:bodyPr wrap="square" rtlCol="0" anchor="ctr"/>
          <a:lstStyle/>
          <a:p>
            <a:pPr marL="0" indent="0" algn="ctr">
              <a:buNone/>
            </a:pPr>
            <a:r>
              <a:rPr lang="en-US" sz="1400" b="1" dirty="0">
                <a:solidFill>
                  <a:srgbClr val="E8E8FF"/>
                </a:solidFill>
              </a:rPr>
              <a:t>2</a:t>
            </a:r>
            <a:endParaRPr lang="en-US" sz="1400" dirty="0"/>
          </a:p>
        </p:txBody>
      </p:sp>
      <p:sp>
        <p:nvSpPr>
          <p:cNvPr id="62" name="Shape 60"/>
          <p:cNvSpPr/>
          <p:nvPr/>
        </p:nvSpPr>
        <p:spPr>
          <a:xfrm>
            <a:off x="6766560" y="3611880"/>
            <a:ext cx="1280160" cy="640080"/>
          </a:xfrm>
          <a:prstGeom prst="rect">
            <a:avLst/>
          </a:prstGeom>
          <a:solidFill>
            <a:srgbClr val="12121E"/>
          </a:solidFill>
          <a:ln w="6350">
            <a:solidFill>
              <a:srgbClr val="1A1A28"/>
            </a:solidFill>
            <a:prstDash val="solid"/>
          </a:ln>
        </p:spPr>
        <p:txBody>
          <a:bodyPr/>
          <a:lstStyle/>
          <a:p>
            <a:endParaRPr lang="en-US"/>
          </a:p>
        </p:txBody>
      </p:sp>
      <p:sp>
        <p:nvSpPr>
          <p:cNvPr id="63" name="Text 61"/>
          <p:cNvSpPr/>
          <p:nvPr/>
        </p:nvSpPr>
        <p:spPr>
          <a:xfrm>
            <a:off x="6766560" y="3611880"/>
            <a:ext cx="1280160" cy="640080"/>
          </a:xfrm>
          <a:prstGeom prst="rect">
            <a:avLst/>
          </a:prstGeom>
          <a:noFill/>
          <a:ln/>
        </p:spPr>
        <p:txBody>
          <a:bodyPr wrap="square" rtlCol="0" anchor="ctr"/>
          <a:lstStyle/>
          <a:p>
            <a:pPr marL="0" indent="0" algn="ctr">
              <a:buNone/>
            </a:pPr>
            <a:r>
              <a:rPr lang="en-US" sz="1400" b="1" dirty="0">
                <a:solidFill>
                  <a:srgbClr val="E8E8FF"/>
                </a:solidFill>
              </a:rPr>
              <a:t>—</a:t>
            </a:r>
            <a:endParaRPr lang="en-US" sz="1400" dirty="0"/>
          </a:p>
        </p:txBody>
      </p:sp>
      <p:sp>
        <p:nvSpPr>
          <p:cNvPr id="64" name="Shape 62"/>
          <p:cNvSpPr/>
          <p:nvPr/>
        </p:nvSpPr>
        <p:spPr>
          <a:xfrm>
            <a:off x="228600" y="4572000"/>
            <a:ext cx="36576" cy="411480"/>
          </a:xfrm>
          <a:prstGeom prst="rect">
            <a:avLst/>
          </a:prstGeom>
          <a:solidFill>
            <a:srgbClr val="FF6B35"/>
          </a:solidFill>
          <a:ln w="12700">
            <a:solidFill>
              <a:srgbClr val="FF6B35"/>
            </a:solidFill>
            <a:prstDash val="solid"/>
          </a:ln>
        </p:spPr>
        <p:txBody>
          <a:bodyPr/>
          <a:lstStyle/>
          <a:p>
            <a:endParaRPr lang="en-US"/>
          </a:p>
        </p:txBody>
      </p:sp>
      <p:sp>
        <p:nvSpPr>
          <p:cNvPr id="65" name="Shape 63"/>
          <p:cNvSpPr/>
          <p:nvPr/>
        </p:nvSpPr>
        <p:spPr>
          <a:xfrm>
            <a:off x="265176" y="4572000"/>
            <a:ext cx="8650224" cy="411480"/>
          </a:xfrm>
          <a:prstGeom prst="rect">
            <a:avLst/>
          </a:prstGeom>
          <a:solidFill>
            <a:srgbClr val="0F0F1E"/>
          </a:solidFill>
          <a:ln w="6350">
            <a:solidFill>
              <a:srgbClr val="1A1A28"/>
            </a:solidFill>
            <a:prstDash val="solid"/>
          </a:ln>
        </p:spPr>
        <p:txBody>
          <a:bodyPr/>
          <a:lstStyle/>
          <a:p>
            <a:endParaRPr lang="en-US"/>
          </a:p>
        </p:txBody>
      </p:sp>
      <p:sp>
        <p:nvSpPr>
          <p:cNvPr id="66" name="Text 64"/>
          <p:cNvSpPr/>
          <p:nvPr/>
        </p:nvSpPr>
        <p:spPr>
          <a:xfrm>
            <a:off x="365760" y="4572000"/>
            <a:ext cx="8503920" cy="411480"/>
          </a:xfrm>
          <a:prstGeom prst="rect">
            <a:avLst/>
          </a:prstGeom>
          <a:noFill/>
          <a:ln/>
        </p:spPr>
        <p:txBody>
          <a:bodyPr wrap="square" rtlCol="0" anchor="ctr"/>
          <a:lstStyle/>
          <a:p>
            <a:pPr marL="0" indent="0">
              <a:buNone/>
            </a:pPr>
            <a:r>
              <a:rPr lang="en-US" sz="900" i="1" dirty="0">
                <a:solidFill>
                  <a:srgbClr val="9090C8"/>
                </a:solidFill>
              </a:rPr>
              <a:t>Al Malqa leads with 42 unique categories at price level 1. Budget dining (level 1) is consistently the most diverse tier across all top neighborhoods, while premium dining (levels 3 and 4) offers minimal variety. Food diversity in Riyadh is an affordable phenomenon — variety thrives at lower price points.</a:t>
            </a:r>
            <a:endParaRPr lang="en-US" sz="900" dirty="0"/>
          </a:p>
        </p:txBody>
      </p:sp>
      <p:sp>
        <p:nvSpPr>
          <p:cNvPr id="67" name="Shape 65"/>
          <p:cNvSpPr/>
          <p:nvPr/>
        </p:nvSpPr>
        <p:spPr>
          <a:xfrm>
            <a:off x="228600" y="4206240"/>
            <a:ext cx="8686800" cy="292608"/>
          </a:xfrm>
          <a:prstGeom prst="rect">
            <a:avLst/>
          </a:prstGeom>
          <a:solidFill>
            <a:srgbClr val="080810"/>
          </a:solidFill>
          <a:ln w="6350">
            <a:solidFill>
              <a:srgbClr val="2A2A44"/>
            </a:solidFill>
            <a:prstDash val="solid"/>
          </a:ln>
        </p:spPr>
        <p:txBody>
          <a:bodyPr/>
          <a:lstStyle/>
          <a:p>
            <a:endParaRPr lang="en-US"/>
          </a:p>
        </p:txBody>
      </p:sp>
      <p:sp>
        <p:nvSpPr>
          <p:cNvPr id="68" name="Text 66"/>
          <p:cNvSpPr/>
          <p:nvPr/>
        </p:nvSpPr>
        <p:spPr>
          <a:xfrm>
            <a:off x="320040" y="4206240"/>
            <a:ext cx="8549640" cy="292608"/>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variety_table = df_restaurants.groupby(['neighborhoods','price_level'])['category'].nunique().unstack()</a:t>
            </a:r>
            <a:endParaRPr lang="en-US" sz="750" dirty="0"/>
          </a:p>
          <a:p>
            <a:pPr marL="0" indent="0">
              <a:buNone/>
            </a:pPr>
            <a:r>
              <a:rPr lang="en-US" sz="750" dirty="0">
                <a:solidFill>
                  <a:srgbClr val="A0FFA0"/>
                </a:solidFill>
                <a:latin typeface="Consolas" pitchFamily="34" charset="0"/>
                <a:ea typeface="Consolas" pitchFamily="34" charset="-122"/>
                <a:cs typeface="Consolas" pitchFamily="34" charset="-120"/>
              </a:rPr>
              <a:t>sns.heatmap(variety_top5, cmap='YlOrRd', annot=True, fmt='.0f')</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Geographic Analysis · Restaurant Distribution</a:t>
            </a:r>
            <a:endParaRPr lang="en-US" sz="2600" dirty="0"/>
          </a:p>
        </p:txBody>
      </p:sp>
      <p:sp>
        <p:nvSpPr>
          <p:cNvPr id="6" name="Text 4"/>
          <p:cNvSpPr/>
          <p:nvPr/>
        </p:nvSpPr>
        <p:spPr>
          <a:xfrm>
            <a:off x="274320" y="914400"/>
            <a:ext cx="5852160" cy="3794760"/>
          </a:xfrm>
          <a:prstGeom prst="rect">
            <a:avLst/>
          </a:prstGeom>
          <a:noFill/>
          <a:ln/>
        </p:spPr>
        <p:txBody>
          <a:bodyPr wrap="square" rtlCol="0" anchor="ctr"/>
          <a:lstStyle/>
          <a:p>
            <a:pPr marL="0" indent="0" algn="ctr">
              <a:buNone/>
            </a:pPr>
            <a:endParaRPr lang="en-US" sz="1100" dirty="0"/>
          </a:p>
        </p:txBody>
      </p:sp>
      <p:sp>
        <p:nvSpPr>
          <p:cNvPr id="7" name="Text 5"/>
          <p:cNvSpPr/>
          <p:nvPr/>
        </p:nvSpPr>
        <p:spPr>
          <a:xfrm>
            <a:off x="274320" y="2560320"/>
            <a:ext cx="5852160" cy="731520"/>
          </a:xfrm>
          <a:prstGeom prst="rect">
            <a:avLst/>
          </a:prstGeom>
          <a:noFill/>
          <a:ln/>
        </p:spPr>
        <p:txBody>
          <a:bodyPr wrap="square" rtlCol="0" anchor="ctr"/>
          <a:lstStyle/>
          <a:p>
            <a:pPr marL="0" indent="0" algn="ctr">
              <a:buNone/>
            </a:pPr>
            <a:endParaRPr lang="en-US" sz="900" dirty="0"/>
          </a:p>
        </p:txBody>
      </p:sp>
      <p:sp>
        <p:nvSpPr>
          <p:cNvPr id="11" name="Shape 9"/>
          <p:cNvSpPr/>
          <p:nvPr/>
        </p:nvSpPr>
        <p:spPr>
          <a:xfrm>
            <a:off x="6400800" y="868680"/>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12" name="Text 10"/>
          <p:cNvSpPr/>
          <p:nvPr/>
        </p:nvSpPr>
        <p:spPr>
          <a:xfrm>
            <a:off x="6400800" y="868680"/>
            <a:ext cx="1828800" cy="228600"/>
          </a:xfrm>
          <a:prstGeom prst="rect">
            <a:avLst/>
          </a:prstGeom>
          <a:noFill/>
          <a:ln/>
        </p:spPr>
        <p:txBody>
          <a:bodyPr wrap="square" rtlCol="0" anchor="ctr"/>
          <a:lstStyle/>
          <a:p>
            <a:pPr marL="0" indent="0" algn="ctr">
              <a:buNone/>
            </a:pPr>
            <a:r>
              <a:rPr lang="en-US" sz="800" b="1" kern="0" spc="200" dirty="0">
                <a:solidFill>
                  <a:srgbClr val="FF6B35"/>
                </a:solidFill>
              </a:rPr>
              <a:t>SPATIAL FINDINGS</a:t>
            </a:r>
            <a:endParaRPr lang="en-US" sz="800" dirty="0"/>
          </a:p>
        </p:txBody>
      </p:sp>
      <p:sp>
        <p:nvSpPr>
          <p:cNvPr id="13" name="Shape 11"/>
          <p:cNvSpPr/>
          <p:nvPr/>
        </p:nvSpPr>
        <p:spPr>
          <a:xfrm>
            <a:off x="6400800" y="1188720"/>
            <a:ext cx="2514600" cy="7772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14" name="Shape 12"/>
          <p:cNvSpPr/>
          <p:nvPr/>
        </p:nvSpPr>
        <p:spPr>
          <a:xfrm>
            <a:off x="6400800" y="1188720"/>
            <a:ext cx="54864" cy="777240"/>
          </a:xfrm>
          <a:prstGeom prst="rect">
            <a:avLst/>
          </a:prstGeom>
          <a:solidFill>
            <a:srgbClr val="FF6B35"/>
          </a:solidFill>
          <a:ln w="12700">
            <a:solidFill>
              <a:srgbClr val="FF6B35"/>
            </a:solidFill>
            <a:prstDash val="solid"/>
          </a:ln>
        </p:spPr>
        <p:txBody>
          <a:bodyPr/>
          <a:lstStyle/>
          <a:p>
            <a:endParaRPr lang="en-US"/>
          </a:p>
        </p:txBody>
      </p:sp>
      <p:sp>
        <p:nvSpPr>
          <p:cNvPr id="15" name="Text 13"/>
          <p:cNvSpPr/>
          <p:nvPr/>
        </p:nvSpPr>
        <p:spPr>
          <a:xfrm>
            <a:off x="6510528" y="1216152"/>
            <a:ext cx="2331720" cy="274320"/>
          </a:xfrm>
          <a:prstGeom prst="rect">
            <a:avLst/>
          </a:prstGeom>
          <a:noFill/>
          <a:ln/>
        </p:spPr>
        <p:txBody>
          <a:bodyPr wrap="square" rtlCol="0" anchor="ctr"/>
          <a:lstStyle/>
          <a:p>
            <a:pPr marL="0" indent="0">
              <a:buNone/>
            </a:pPr>
            <a:r>
              <a:rPr lang="en-US" sz="900" b="1" dirty="0">
                <a:solidFill>
                  <a:srgbClr val="FF6B35"/>
                </a:solidFill>
              </a:rPr>
              <a:t>Northern Cluster</a:t>
            </a:r>
            <a:endParaRPr lang="en-US" sz="900" dirty="0"/>
          </a:p>
        </p:txBody>
      </p:sp>
      <p:sp>
        <p:nvSpPr>
          <p:cNvPr id="16" name="Text 14"/>
          <p:cNvSpPr/>
          <p:nvPr/>
        </p:nvSpPr>
        <p:spPr>
          <a:xfrm>
            <a:off x="6510528" y="1508760"/>
            <a:ext cx="2331720" cy="347472"/>
          </a:xfrm>
          <a:prstGeom prst="rect">
            <a:avLst/>
          </a:prstGeom>
          <a:noFill/>
          <a:ln/>
        </p:spPr>
        <p:txBody>
          <a:bodyPr wrap="square" rtlCol="0" anchor="ctr"/>
          <a:lstStyle/>
          <a:p>
            <a:pPr marL="0" indent="0">
              <a:buNone/>
            </a:pPr>
            <a:r>
              <a:rPr lang="en-US" sz="800" dirty="0">
                <a:solidFill>
                  <a:srgbClr val="6060A0"/>
                </a:solidFill>
              </a:rPr>
              <a:t>Highest density — Hiteen, Al Malqa, Dhahrat Laban form concentrated dining clusters</a:t>
            </a:r>
            <a:endParaRPr lang="en-US" sz="800" dirty="0"/>
          </a:p>
        </p:txBody>
      </p:sp>
      <p:sp>
        <p:nvSpPr>
          <p:cNvPr id="17" name="Shape 15"/>
          <p:cNvSpPr/>
          <p:nvPr/>
        </p:nvSpPr>
        <p:spPr>
          <a:xfrm>
            <a:off x="6400800" y="2103120"/>
            <a:ext cx="2514600" cy="7772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18" name="Shape 16"/>
          <p:cNvSpPr/>
          <p:nvPr/>
        </p:nvSpPr>
        <p:spPr>
          <a:xfrm>
            <a:off x="6400800" y="2103120"/>
            <a:ext cx="54864" cy="777240"/>
          </a:xfrm>
          <a:prstGeom prst="rect">
            <a:avLst/>
          </a:prstGeom>
          <a:solidFill>
            <a:srgbClr val="00D4FF"/>
          </a:solidFill>
          <a:ln w="12700">
            <a:solidFill>
              <a:srgbClr val="00D4FF"/>
            </a:solidFill>
            <a:prstDash val="solid"/>
          </a:ln>
        </p:spPr>
        <p:txBody>
          <a:bodyPr/>
          <a:lstStyle/>
          <a:p>
            <a:endParaRPr lang="en-US"/>
          </a:p>
        </p:txBody>
      </p:sp>
      <p:sp>
        <p:nvSpPr>
          <p:cNvPr id="19" name="Text 17"/>
          <p:cNvSpPr/>
          <p:nvPr/>
        </p:nvSpPr>
        <p:spPr>
          <a:xfrm>
            <a:off x="6510528" y="2130552"/>
            <a:ext cx="2331720" cy="274320"/>
          </a:xfrm>
          <a:prstGeom prst="rect">
            <a:avLst/>
          </a:prstGeom>
          <a:noFill/>
          <a:ln/>
        </p:spPr>
        <p:txBody>
          <a:bodyPr wrap="square" rtlCol="0" anchor="ctr"/>
          <a:lstStyle/>
          <a:p>
            <a:pPr marL="0" indent="0">
              <a:buNone/>
            </a:pPr>
            <a:r>
              <a:rPr lang="en-US" sz="900" b="1" dirty="0">
                <a:solidFill>
                  <a:srgbClr val="00D4FF"/>
                </a:solidFill>
              </a:rPr>
              <a:t>Central Core</a:t>
            </a:r>
            <a:endParaRPr lang="en-US" sz="900" dirty="0"/>
          </a:p>
        </p:txBody>
      </p:sp>
      <p:sp>
        <p:nvSpPr>
          <p:cNvPr id="20" name="Text 18"/>
          <p:cNvSpPr/>
          <p:nvPr/>
        </p:nvSpPr>
        <p:spPr>
          <a:xfrm>
            <a:off x="6510528" y="2423160"/>
            <a:ext cx="2331720" cy="347472"/>
          </a:xfrm>
          <a:prstGeom prst="rect">
            <a:avLst/>
          </a:prstGeom>
          <a:noFill/>
          <a:ln/>
        </p:spPr>
        <p:txBody>
          <a:bodyPr wrap="square" rtlCol="0" anchor="ctr"/>
          <a:lstStyle/>
          <a:p>
            <a:pPr marL="0" indent="0">
              <a:buNone/>
            </a:pPr>
            <a:r>
              <a:rPr lang="en-US" sz="800" dirty="0">
                <a:solidFill>
                  <a:srgbClr val="6060A0"/>
                </a:solidFill>
              </a:rPr>
              <a:t>Dense commercial activity near city center</a:t>
            </a:r>
            <a:endParaRPr lang="en-US" sz="800" dirty="0"/>
          </a:p>
        </p:txBody>
      </p:sp>
      <p:sp>
        <p:nvSpPr>
          <p:cNvPr id="21" name="Shape 19"/>
          <p:cNvSpPr/>
          <p:nvPr/>
        </p:nvSpPr>
        <p:spPr>
          <a:xfrm>
            <a:off x="6400800" y="3017520"/>
            <a:ext cx="2514600" cy="7772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22" name="Shape 20"/>
          <p:cNvSpPr/>
          <p:nvPr/>
        </p:nvSpPr>
        <p:spPr>
          <a:xfrm>
            <a:off x="6400800" y="3017520"/>
            <a:ext cx="54864" cy="777240"/>
          </a:xfrm>
          <a:prstGeom prst="rect">
            <a:avLst/>
          </a:prstGeom>
          <a:solidFill>
            <a:srgbClr val="4ADE80"/>
          </a:solidFill>
          <a:ln w="12700">
            <a:solidFill>
              <a:srgbClr val="4ADE80"/>
            </a:solidFill>
            <a:prstDash val="solid"/>
          </a:ln>
        </p:spPr>
        <p:txBody>
          <a:bodyPr/>
          <a:lstStyle/>
          <a:p>
            <a:endParaRPr lang="en-US"/>
          </a:p>
        </p:txBody>
      </p:sp>
      <p:sp>
        <p:nvSpPr>
          <p:cNvPr id="23" name="Text 21"/>
          <p:cNvSpPr/>
          <p:nvPr/>
        </p:nvSpPr>
        <p:spPr>
          <a:xfrm>
            <a:off x="6510528" y="3044952"/>
            <a:ext cx="2331720" cy="274320"/>
          </a:xfrm>
          <a:prstGeom prst="rect">
            <a:avLst/>
          </a:prstGeom>
          <a:noFill/>
          <a:ln/>
        </p:spPr>
        <p:txBody>
          <a:bodyPr wrap="square" rtlCol="0" anchor="ctr"/>
          <a:lstStyle/>
          <a:p>
            <a:pPr marL="0" indent="0">
              <a:buNone/>
            </a:pPr>
            <a:r>
              <a:rPr lang="en-US" sz="900" b="1" dirty="0">
                <a:solidFill>
                  <a:srgbClr val="4ADE80"/>
                </a:solidFill>
              </a:rPr>
              <a:t>Outer Districts</a:t>
            </a:r>
            <a:endParaRPr lang="en-US" sz="900" dirty="0"/>
          </a:p>
        </p:txBody>
      </p:sp>
      <p:sp>
        <p:nvSpPr>
          <p:cNvPr id="24" name="Text 22"/>
          <p:cNvSpPr/>
          <p:nvPr/>
        </p:nvSpPr>
        <p:spPr>
          <a:xfrm>
            <a:off x="6510528" y="3337560"/>
            <a:ext cx="2331720" cy="347472"/>
          </a:xfrm>
          <a:prstGeom prst="rect">
            <a:avLst/>
          </a:prstGeom>
          <a:noFill/>
          <a:ln/>
        </p:spPr>
        <p:txBody>
          <a:bodyPr wrap="square" rtlCol="0" anchor="ctr"/>
          <a:lstStyle/>
          <a:p>
            <a:pPr marL="0" indent="0">
              <a:buNone/>
            </a:pPr>
            <a:r>
              <a:rPr lang="en-US" sz="800" dirty="0">
                <a:solidFill>
                  <a:srgbClr val="6060A0"/>
                </a:solidFill>
              </a:rPr>
              <a:t>Significantly fewer venues — less commercial</a:t>
            </a:r>
            <a:endParaRPr lang="en-US" sz="800" dirty="0"/>
          </a:p>
        </p:txBody>
      </p:sp>
      <p:sp>
        <p:nvSpPr>
          <p:cNvPr id="25" name="Shape 23"/>
          <p:cNvSpPr/>
          <p:nvPr/>
        </p:nvSpPr>
        <p:spPr>
          <a:xfrm>
            <a:off x="6400800" y="3931920"/>
            <a:ext cx="2514600" cy="7772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26" name="Shape 24"/>
          <p:cNvSpPr/>
          <p:nvPr/>
        </p:nvSpPr>
        <p:spPr>
          <a:xfrm>
            <a:off x="6400800" y="3931920"/>
            <a:ext cx="54864" cy="777240"/>
          </a:xfrm>
          <a:prstGeom prst="rect">
            <a:avLst/>
          </a:prstGeom>
          <a:solidFill>
            <a:srgbClr val="FACC15"/>
          </a:solidFill>
          <a:ln w="12700">
            <a:solidFill>
              <a:srgbClr val="FACC15"/>
            </a:solidFill>
            <a:prstDash val="solid"/>
          </a:ln>
        </p:spPr>
        <p:txBody>
          <a:bodyPr/>
          <a:lstStyle/>
          <a:p>
            <a:endParaRPr lang="en-US"/>
          </a:p>
        </p:txBody>
      </p:sp>
      <p:sp>
        <p:nvSpPr>
          <p:cNvPr id="27" name="Text 25"/>
          <p:cNvSpPr/>
          <p:nvPr/>
        </p:nvSpPr>
        <p:spPr>
          <a:xfrm>
            <a:off x="6510528" y="3959352"/>
            <a:ext cx="2331720" cy="274320"/>
          </a:xfrm>
          <a:prstGeom prst="rect">
            <a:avLst/>
          </a:prstGeom>
          <a:noFill/>
          <a:ln/>
        </p:spPr>
        <p:txBody>
          <a:bodyPr wrap="square" rtlCol="0" anchor="ctr"/>
          <a:lstStyle/>
          <a:p>
            <a:pPr marL="0" indent="0">
              <a:buNone/>
            </a:pPr>
            <a:r>
              <a:rPr lang="en-US" sz="900" b="1" dirty="0">
                <a:solidFill>
                  <a:srgbClr val="FACC15"/>
                </a:solidFill>
              </a:rPr>
              <a:t>Spatial Join</a:t>
            </a:r>
            <a:endParaRPr lang="en-US" sz="900" dirty="0"/>
          </a:p>
        </p:txBody>
      </p:sp>
      <p:sp>
        <p:nvSpPr>
          <p:cNvPr id="28" name="Text 26"/>
          <p:cNvSpPr/>
          <p:nvPr/>
        </p:nvSpPr>
        <p:spPr>
          <a:xfrm>
            <a:off x="6510528" y="4251960"/>
            <a:ext cx="2331720" cy="347472"/>
          </a:xfrm>
          <a:prstGeom prst="rect">
            <a:avLst/>
          </a:prstGeom>
          <a:noFill/>
          <a:ln/>
        </p:spPr>
        <p:txBody>
          <a:bodyPr wrap="square" rtlCol="0" anchor="ctr"/>
          <a:lstStyle/>
          <a:p>
            <a:pPr marL="0" indent="0">
              <a:buNone/>
            </a:pPr>
            <a:r>
              <a:rPr lang="en-US" sz="800" dirty="0">
                <a:solidFill>
                  <a:srgbClr val="6060A0"/>
                </a:solidFill>
              </a:rPr>
              <a:t>GeoPandas sjoin + nearest-neighbor fallback used</a:t>
            </a:r>
            <a:endParaRPr lang="en-US" sz="800" dirty="0"/>
          </a:p>
        </p:txBody>
      </p:sp>
      <p:sp>
        <p:nvSpPr>
          <p:cNvPr id="29" name="Shape 27"/>
          <p:cNvSpPr/>
          <p:nvPr/>
        </p:nvSpPr>
        <p:spPr>
          <a:xfrm>
            <a:off x="228600" y="4749114"/>
            <a:ext cx="8686800" cy="384048"/>
          </a:xfrm>
          <a:prstGeom prst="rect">
            <a:avLst/>
          </a:prstGeom>
          <a:solidFill>
            <a:srgbClr val="080810"/>
          </a:solidFill>
          <a:ln w="6350">
            <a:solidFill>
              <a:srgbClr val="2A2A44"/>
            </a:solidFill>
            <a:prstDash val="solid"/>
          </a:ln>
        </p:spPr>
        <p:txBody>
          <a:bodyPr/>
          <a:lstStyle/>
          <a:p>
            <a:endParaRPr lang="en-US"/>
          </a:p>
        </p:txBody>
      </p:sp>
      <p:sp>
        <p:nvSpPr>
          <p:cNvPr id="30" name="Text 28"/>
          <p:cNvSpPr/>
          <p:nvPr/>
        </p:nvSpPr>
        <p:spPr>
          <a:xfrm>
            <a:off x="320040" y="4749114"/>
            <a:ext cx="8549640" cy="384048"/>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riyadh.plot(ax=ax, color='#f5f5f5', edgecolor='black')</a:t>
            </a:r>
            <a:endParaRPr lang="en-US" sz="750" dirty="0"/>
          </a:p>
          <a:p>
            <a:pPr marL="0" indent="0">
              <a:buNone/>
            </a:pPr>
            <a:r>
              <a:rPr lang="en-US" sz="750" dirty="0">
                <a:solidFill>
                  <a:srgbClr val="A0FFA0"/>
                </a:solidFill>
                <a:latin typeface="Consolas" pitchFamily="34" charset="0"/>
                <a:ea typeface="Consolas" pitchFamily="34" charset="-122"/>
                <a:cs typeface="Consolas" pitchFamily="34" charset="-120"/>
              </a:rPr>
              <a:t>districts.plot(ax=ax, facecolor='none', edgecolor='gray', linewidth=0.3)</a:t>
            </a:r>
            <a:endParaRPr lang="en-US" sz="750" dirty="0"/>
          </a:p>
          <a:p>
            <a:pPr marL="0" indent="0">
              <a:buNone/>
            </a:pPr>
            <a:r>
              <a:rPr lang="en-US" sz="750" dirty="0">
                <a:solidFill>
                  <a:srgbClr val="A0FFA0"/>
                </a:solidFill>
                <a:latin typeface="Consolas" pitchFamily="34" charset="0"/>
                <a:ea typeface="Consolas" pitchFamily="34" charset="-122"/>
                <a:cs typeface="Consolas" pitchFamily="34" charset="-120"/>
              </a:rPr>
              <a:t>ax.scatter(df_restaurants['longitude'], df_restaurants['latitude'], color='red', s=6, alpha=0.35)</a:t>
            </a:r>
            <a:endParaRPr lang="en-US" sz="750" dirty="0"/>
          </a:p>
        </p:txBody>
      </p:sp>
      <p:pic>
        <p:nvPicPr>
          <p:cNvPr id="1026" name="Picture 2">
            <a:extLst>
              <a:ext uri="{FF2B5EF4-FFF2-40B4-BE49-F238E27FC236}">
                <a16:creationId xmlns:a16="http://schemas.microsoft.com/office/drawing/2014/main" id="{318030FB-1FE4-95EC-EDD1-C25C43AE2F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65" y="758952"/>
            <a:ext cx="5469924" cy="38857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ML · Price Level Classifier — Problem Setup</a:t>
            </a:r>
            <a:endParaRPr lang="en-US" sz="2600" dirty="0"/>
          </a:p>
        </p:txBody>
      </p:sp>
      <p:sp>
        <p:nvSpPr>
          <p:cNvPr id="4" name="Shape 2"/>
          <p:cNvSpPr/>
          <p:nvPr/>
        </p:nvSpPr>
        <p:spPr>
          <a:xfrm>
            <a:off x="228600" y="841248"/>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5" name="Text 3"/>
          <p:cNvSpPr/>
          <p:nvPr/>
        </p:nvSpPr>
        <p:spPr>
          <a:xfrm>
            <a:off x="228600" y="841248"/>
            <a:ext cx="1828800" cy="228600"/>
          </a:xfrm>
          <a:prstGeom prst="rect">
            <a:avLst/>
          </a:prstGeom>
          <a:noFill/>
          <a:ln/>
        </p:spPr>
        <p:txBody>
          <a:bodyPr wrap="square" rtlCol="0" anchor="ctr"/>
          <a:lstStyle/>
          <a:p>
            <a:pPr marL="0" indent="0" algn="ctr">
              <a:buNone/>
            </a:pPr>
            <a:r>
              <a:rPr lang="en-US" sz="800" b="1" kern="0" spc="200" dirty="0">
                <a:solidFill>
                  <a:srgbClr val="FF6B35"/>
                </a:solidFill>
              </a:rPr>
              <a:t>OBJECTIVE</a:t>
            </a:r>
            <a:endParaRPr lang="en-US" sz="800" dirty="0"/>
          </a:p>
        </p:txBody>
      </p:sp>
      <p:sp>
        <p:nvSpPr>
          <p:cNvPr id="6" name="Shape 4"/>
          <p:cNvSpPr/>
          <p:nvPr/>
        </p:nvSpPr>
        <p:spPr>
          <a:xfrm>
            <a:off x="228600" y="1115568"/>
            <a:ext cx="8686800" cy="96012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365760" y="1161288"/>
            <a:ext cx="8412480" cy="822960"/>
          </a:xfrm>
          <a:prstGeom prst="rect">
            <a:avLst/>
          </a:prstGeom>
          <a:noFill/>
          <a:ln/>
        </p:spPr>
        <p:txBody>
          <a:bodyPr wrap="square" rtlCol="0" anchor="ctr"/>
          <a:lstStyle/>
          <a:p>
            <a:pPr marL="0" indent="0">
              <a:lnSpc>
                <a:spcPct val="140000"/>
              </a:lnSpc>
              <a:buNone/>
            </a:pPr>
            <a:r>
              <a:rPr lang="en-US" sz="1300" dirty="0">
                <a:solidFill>
                  <a:srgbClr val="E8E8FF"/>
                </a:solidFill>
              </a:rPr>
              <a:t>Can we predict a restaurant’s price level (1=$, 2=$$, 3=$$$) from ratings, photos, reviews, location, and category? We test three models to see if pricing patterns can be learned from these features.</a:t>
            </a:r>
            <a:endParaRPr lang="en-US" sz="1300" dirty="0"/>
          </a:p>
        </p:txBody>
      </p:sp>
      <p:sp>
        <p:nvSpPr>
          <p:cNvPr id="8" name="Shape 6"/>
          <p:cNvSpPr/>
          <p:nvPr/>
        </p:nvSpPr>
        <p:spPr>
          <a:xfrm>
            <a:off x="228600" y="2141424"/>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9" name="Text 7"/>
          <p:cNvSpPr/>
          <p:nvPr/>
        </p:nvSpPr>
        <p:spPr>
          <a:xfrm>
            <a:off x="228600" y="2141424"/>
            <a:ext cx="1828800" cy="228600"/>
          </a:xfrm>
          <a:prstGeom prst="rect">
            <a:avLst/>
          </a:prstGeom>
          <a:noFill/>
          <a:ln/>
        </p:spPr>
        <p:txBody>
          <a:bodyPr wrap="square" rtlCol="0" anchor="ctr"/>
          <a:lstStyle/>
          <a:p>
            <a:pPr marL="0" indent="0" algn="ctr">
              <a:buNone/>
            </a:pPr>
            <a:r>
              <a:rPr lang="en-US" sz="800" b="1" kern="0" spc="200" dirty="0">
                <a:solidFill>
                  <a:srgbClr val="FF6B35"/>
                </a:solidFill>
              </a:rPr>
              <a:t>FEATURES USED</a:t>
            </a:r>
            <a:endParaRPr lang="en-US" sz="800" dirty="0"/>
          </a:p>
        </p:txBody>
      </p:sp>
      <p:sp>
        <p:nvSpPr>
          <p:cNvPr id="10" name="Shape 8"/>
          <p:cNvSpPr/>
          <p:nvPr/>
        </p:nvSpPr>
        <p:spPr>
          <a:xfrm>
            <a:off x="228600" y="2443176"/>
            <a:ext cx="4206240" cy="502920"/>
          </a:xfrm>
          <a:prstGeom prst="rect">
            <a:avLst/>
          </a:prstGeom>
          <a:solidFill>
            <a:srgbClr val="12121E"/>
          </a:solidFill>
          <a:ln w="6350">
            <a:solidFill>
              <a:srgbClr val="1A1A28"/>
            </a:solidFill>
            <a:prstDash val="solid"/>
          </a:ln>
        </p:spPr>
        <p:txBody>
          <a:bodyPr/>
          <a:lstStyle/>
          <a:p>
            <a:endParaRPr lang="en-US"/>
          </a:p>
        </p:txBody>
      </p:sp>
      <p:sp>
        <p:nvSpPr>
          <p:cNvPr id="11" name="Shape 9"/>
          <p:cNvSpPr/>
          <p:nvPr/>
        </p:nvSpPr>
        <p:spPr>
          <a:xfrm>
            <a:off x="228600" y="2443176"/>
            <a:ext cx="54864" cy="502920"/>
          </a:xfrm>
          <a:prstGeom prst="rect">
            <a:avLst/>
          </a:prstGeom>
          <a:solidFill>
            <a:srgbClr val="4ADE80"/>
          </a:solidFill>
          <a:ln w="12700">
            <a:solidFill>
              <a:srgbClr val="4ADE80"/>
            </a:solidFill>
            <a:prstDash val="solid"/>
          </a:ln>
        </p:spPr>
        <p:txBody>
          <a:bodyPr/>
          <a:lstStyle/>
          <a:p>
            <a:endParaRPr lang="en-US"/>
          </a:p>
        </p:txBody>
      </p:sp>
      <p:sp>
        <p:nvSpPr>
          <p:cNvPr id="12" name="Text 10"/>
          <p:cNvSpPr/>
          <p:nvPr/>
        </p:nvSpPr>
        <p:spPr>
          <a:xfrm>
            <a:off x="338328" y="2443176"/>
            <a:ext cx="1280160" cy="502920"/>
          </a:xfrm>
          <a:prstGeom prst="rect">
            <a:avLst/>
          </a:prstGeom>
          <a:noFill/>
          <a:ln/>
        </p:spPr>
        <p:txBody>
          <a:bodyPr wrap="square" rtlCol="0" anchor="ctr"/>
          <a:lstStyle/>
          <a:p>
            <a:pPr marL="0" indent="0">
              <a:buNone/>
            </a:pPr>
            <a:r>
              <a:rPr lang="en-US" sz="900" b="1" dirty="0">
                <a:solidFill>
                  <a:srgbClr val="00D4FF"/>
                </a:solidFill>
                <a:latin typeface="Consolas" pitchFamily="34" charset="0"/>
                <a:ea typeface="Consolas" pitchFamily="34" charset="-122"/>
                <a:cs typeface="Consolas" pitchFamily="34" charset="-120"/>
              </a:rPr>
              <a:t>rating</a:t>
            </a:r>
            <a:endParaRPr lang="en-US" sz="900" dirty="0"/>
          </a:p>
        </p:txBody>
      </p:sp>
      <p:sp>
        <p:nvSpPr>
          <p:cNvPr id="13" name="Text 11"/>
          <p:cNvSpPr/>
          <p:nvPr/>
        </p:nvSpPr>
        <p:spPr>
          <a:xfrm>
            <a:off x="1645920" y="2443176"/>
            <a:ext cx="914400" cy="502920"/>
          </a:xfrm>
          <a:prstGeom prst="rect">
            <a:avLst/>
          </a:prstGeom>
          <a:noFill/>
          <a:ln/>
        </p:spPr>
        <p:txBody>
          <a:bodyPr wrap="square" rtlCol="0" anchor="ctr"/>
          <a:lstStyle/>
          <a:p>
            <a:pPr marL="0" indent="0">
              <a:buNone/>
            </a:pPr>
            <a:r>
              <a:rPr lang="en-US" sz="800" i="1" dirty="0">
                <a:solidFill>
                  <a:srgbClr val="4ADE80"/>
                </a:solidFill>
              </a:rPr>
              <a:t>Numerical</a:t>
            </a:r>
            <a:endParaRPr lang="en-US" sz="800" dirty="0"/>
          </a:p>
        </p:txBody>
      </p:sp>
      <p:sp>
        <p:nvSpPr>
          <p:cNvPr id="14" name="Text 12"/>
          <p:cNvSpPr/>
          <p:nvPr/>
        </p:nvSpPr>
        <p:spPr>
          <a:xfrm>
            <a:off x="2606040" y="2443176"/>
            <a:ext cx="1737360" cy="502920"/>
          </a:xfrm>
          <a:prstGeom prst="rect">
            <a:avLst/>
          </a:prstGeom>
          <a:noFill/>
          <a:ln/>
        </p:spPr>
        <p:txBody>
          <a:bodyPr wrap="square" rtlCol="0" anchor="ctr"/>
          <a:lstStyle/>
          <a:p>
            <a:pPr marL="0" indent="0">
              <a:buNone/>
            </a:pPr>
            <a:r>
              <a:rPr lang="en-US" sz="800" dirty="0">
                <a:solidFill>
                  <a:srgbClr val="6060A0"/>
                </a:solidFill>
              </a:rPr>
              <a:t>Foursquare average score 0–10</a:t>
            </a:r>
            <a:endParaRPr lang="en-US" sz="800" dirty="0"/>
          </a:p>
        </p:txBody>
      </p:sp>
      <p:sp>
        <p:nvSpPr>
          <p:cNvPr id="15" name="Shape 13"/>
          <p:cNvSpPr/>
          <p:nvPr/>
        </p:nvSpPr>
        <p:spPr>
          <a:xfrm>
            <a:off x="228600" y="3010104"/>
            <a:ext cx="4206240" cy="502920"/>
          </a:xfrm>
          <a:prstGeom prst="rect">
            <a:avLst/>
          </a:prstGeom>
          <a:solidFill>
            <a:srgbClr val="12121E"/>
          </a:solidFill>
          <a:ln w="6350">
            <a:solidFill>
              <a:srgbClr val="1A1A28"/>
            </a:solidFill>
            <a:prstDash val="solid"/>
          </a:ln>
        </p:spPr>
        <p:txBody>
          <a:bodyPr/>
          <a:lstStyle/>
          <a:p>
            <a:endParaRPr lang="en-US"/>
          </a:p>
        </p:txBody>
      </p:sp>
      <p:sp>
        <p:nvSpPr>
          <p:cNvPr id="16" name="Shape 14"/>
          <p:cNvSpPr/>
          <p:nvPr/>
        </p:nvSpPr>
        <p:spPr>
          <a:xfrm>
            <a:off x="228600" y="3010104"/>
            <a:ext cx="54864" cy="502920"/>
          </a:xfrm>
          <a:prstGeom prst="rect">
            <a:avLst/>
          </a:prstGeom>
          <a:solidFill>
            <a:srgbClr val="4ADE80"/>
          </a:solidFill>
          <a:ln w="12700">
            <a:solidFill>
              <a:srgbClr val="4ADE80"/>
            </a:solidFill>
            <a:prstDash val="solid"/>
          </a:ln>
        </p:spPr>
        <p:txBody>
          <a:bodyPr/>
          <a:lstStyle/>
          <a:p>
            <a:endParaRPr lang="en-US"/>
          </a:p>
        </p:txBody>
      </p:sp>
      <p:sp>
        <p:nvSpPr>
          <p:cNvPr id="17" name="Text 15"/>
          <p:cNvSpPr/>
          <p:nvPr/>
        </p:nvSpPr>
        <p:spPr>
          <a:xfrm>
            <a:off x="338328" y="3010104"/>
            <a:ext cx="1280160" cy="502920"/>
          </a:xfrm>
          <a:prstGeom prst="rect">
            <a:avLst/>
          </a:prstGeom>
          <a:noFill/>
          <a:ln/>
        </p:spPr>
        <p:txBody>
          <a:bodyPr wrap="square" rtlCol="0" anchor="ctr"/>
          <a:lstStyle/>
          <a:p>
            <a:pPr marL="0" indent="0">
              <a:buNone/>
            </a:pPr>
            <a:r>
              <a:rPr lang="en-US" sz="900" b="1" dirty="0">
                <a:solidFill>
                  <a:srgbClr val="00D4FF"/>
                </a:solidFill>
                <a:latin typeface="Consolas" pitchFamily="34" charset="0"/>
                <a:ea typeface="Consolas" pitchFamily="34" charset="-122"/>
                <a:cs typeface="Consolas" pitchFamily="34" charset="-120"/>
              </a:rPr>
              <a:t>total_ratings</a:t>
            </a:r>
            <a:endParaRPr lang="en-US" sz="900" dirty="0"/>
          </a:p>
        </p:txBody>
      </p:sp>
      <p:sp>
        <p:nvSpPr>
          <p:cNvPr id="18" name="Text 16"/>
          <p:cNvSpPr/>
          <p:nvPr/>
        </p:nvSpPr>
        <p:spPr>
          <a:xfrm>
            <a:off x="1645920" y="3010104"/>
            <a:ext cx="914400" cy="502920"/>
          </a:xfrm>
          <a:prstGeom prst="rect">
            <a:avLst/>
          </a:prstGeom>
          <a:noFill/>
          <a:ln/>
        </p:spPr>
        <p:txBody>
          <a:bodyPr wrap="square" rtlCol="0" anchor="ctr"/>
          <a:lstStyle/>
          <a:p>
            <a:pPr marL="0" indent="0">
              <a:buNone/>
            </a:pPr>
            <a:r>
              <a:rPr lang="en-US" sz="800" i="1" dirty="0">
                <a:solidFill>
                  <a:srgbClr val="4ADE80"/>
                </a:solidFill>
              </a:rPr>
              <a:t>Numerical</a:t>
            </a:r>
            <a:endParaRPr lang="en-US" sz="800" dirty="0"/>
          </a:p>
        </p:txBody>
      </p:sp>
      <p:sp>
        <p:nvSpPr>
          <p:cNvPr id="19" name="Text 17"/>
          <p:cNvSpPr/>
          <p:nvPr/>
        </p:nvSpPr>
        <p:spPr>
          <a:xfrm>
            <a:off x="2606040" y="3010104"/>
            <a:ext cx="1737360" cy="502920"/>
          </a:xfrm>
          <a:prstGeom prst="rect">
            <a:avLst/>
          </a:prstGeom>
          <a:noFill/>
          <a:ln/>
        </p:spPr>
        <p:txBody>
          <a:bodyPr wrap="square" rtlCol="0" anchor="ctr"/>
          <a:lstStyle/>
          <a:p>
            <a:pPr marL="0" indent="0">
              <a:buNone/>
            </a:pPr>
            <a:r>
              <a:rPr lang="en-US" sz="800" dirty="0">
                <a:solidFill>
                  <a:srgbClr val="6060A0"/>
                </a:solidFill>
              </a:rPr>
              <a:t>Total number of user ratings</a:t>
            </a:r>
            <a:endParaRPr lang="en-US" sz="800" dirty="0"/>
          </a:p>
        </p:txBody>
      </p:sp>
      <p:sp>
        <p:nvSpPr>
          <p:cNvPr id="20" name="Shape 18"/>
          <p:cNvSpPr/>
          <p:nvPr/>
        </p:nvSpPr>
        <p:spPr>
          <a:xfrm>
            <a:off x="228600" y="3577032"/>
            <a:ext cx="4206240" cy="502920"/>
          </a:xfrm>
          <a:prstGeom prst="rect">
            <a:avLst/>
          </a:prstGeom>
          <a:solidFill>
            <a:srgbClr val="12121E"/>
          </a:solidFill>
          <a:ln w="6350">
            <a:solidFill>
              <a:srgbClr val="1A1A28"/>
            </a:solidFill>
            <a:prstDash val="solid"/>
          </a:ln>
        </p:spPr>
        <p:txBody>
          <a:bodyPr/>
          <a:lstStyle/>
          <a:p>
            <a:endParaRPr lang="en-US"/>
          </a:p>
        </p:txBody>
      </p:sp>
      <p:sp>
        <p:nvSpPr>
          <p:cNvPr id="21" name="Shape 19"/>
          <p:cNvSpPr/>
          <p:nvPr/>
        </p:nvSpPr>
        <p:spPr>
          <a:xfrm>
            <a:off x="228600" y="3577032"/>
            <a:ext cx="54864" cy="502920"/>
          </a:xfrm>
          <a:prstGeom prst="rect">
            <a:avLst/>
          </a:prstGeom>
          <a:solidFill>
            <a:srgbClr val="4ADE80"/>
          </a:solidFill>
          <a:ln w="12700">
            <a:solidFill>
              <a:srgbClr val="4ADE80"/>
            </a:solidFill>
            <a:prstDash val="solid"/>
          </a:ln>
        </p:spPr>
        <p:txBody>
          <a:bodyPr/>
          <a:lstStyle/>
          <a:p>
            <a:endParaRPr lang="en-US"/>
          </a:p>
        </p:txBody>
      </p:sp>
      <p:sp>
        <p:nvSpPr>
          <p:cNvPr id="22" name="Text 20"/>
          <p:cNvSpPr/>
          <p:nvPr/>
        </p:nvSpPr>
        <p:spPr>
          <a:xfrm>
            <a:off x="338328" y="3577032"/>
            <a:ext cx="1280160" cy="502920"/>
          </a:xfrm>
          <a:prstGeom prst="rect">
            <a:avLst/>
          </a:prstGeom>
          <a:noFill/>
          <a:ln/>
        </p:spPr>
        <p:txBody>
          <a:bodyPr wrap="square" rtlCol="0" anchor="ctr"/>
          <a:lstStyle/>
          <a:p>
            <a:pPr marL="0" indent="0">
              <a:buNone/>
            </a:pPr>
            <a:r>
              <a:rPr lang="en-US" sz="900" b="1" dirty="0">
                <a:solidFill>
                  <a:srgbClr val="00D4FF"/>
                </a:solidFill>
                <a:latin typeface="Consolas" pitchFamily="34" charset="0"/>
                <a:ea typeface="Consolas" pitchFamily="34" charset="-122"/>
                <a:cs typeface="Consolas" pitchFamily="34" charset="-120"/>
              </a:rPr>
              <a:t>total_photos</a:t>
            </a:r>
            <a:endParaRPr lang="en-US" sz="900" dirty="0"/>
          </a:p>
        </p:txBody>
      </p:sp>
      <p:sp>
        <p:nvSpPr>
          <p:cNvPr id="23" name="Text 21"/>
          <p:cNvSpPr/>
          <p:nvPr/>
        </p:nvSpPr>
        <p:spPr>
          <a:xfrm>
            <a:off x="1645920" y="3577032"/>
            <a:ext cx="914400" cy="502920"/>
          </a:xfrm>
          <a:prstGeom prst="rect">
            <a:avLst/>
          </a:prstGeom>
          <a:noFill/>
          <a:ln/>
        </p:spPr>
        <p:txBody>
          <a:bodyPr wrap="square" rtlCol="0" anchor="ctr"/>
          <a:lstStyle/>
          <a:p>
            <a:pPr marL="0" indent="0">
              <a:buNone/>
            </a:pPr>
            <a:r>
              <a:rPr lang="en-US" sz="800" i="1" dirty="0">
                <a:solidFill>
                  <a:srgbClr val="4ADE80"/>
                </a:solidFill>
              </a:rPr>
              <a:t>Numerical</a:t>
            </a:r>
            <a:endParaRPr lang="en-US" sz="800" dirty="0"/>
          </a:p>
        </p:txBody>
      </p:sp>
      <p:sp>
        <p:nvSpPr>
          <p:cNvPr id="24" name="Text 22"/>
          <p:cNvSpPr/>
          <p:nvPr/>
        </p:nvSpPr>
        <p:spPr>
          <a:xfrm>
            <a:off x="2606040" y="3577032"/>
            <a:ext cx="1737360" cy="502920"/>
          </a:xfrm>
          <a:prstGeom prst="rect">
            <a:avLst/>
          </a:prstGeom>
          <a:noFill/>
          <a:ln/>
        </p:spPr>
        <p:txBody>
          <a:bodyPr wrap="square" rtlCol="0" anchor="ctr"/>
          <a:lstStyle/>
          <a:p>
            <a:pPr marL="0" indent="0">
              <a:buNone/>
            </a:pPr>
            <a:r>
              <a:rPr lang="en-US" sz="800" dirty="0">
                <a:solidFill>
                  <a:srgbClr val="6060A0"/>
                </a:solidFill>
              </a:rPr>
              <a:t>Number of photos uploaded</a:t>
            </a:r>
            <a:endParaRPr lang="en-US" sz="800" dirty="0"/>
          </a:p>
        </p:txBody>
      </p:sp>
      <p:sp>
        <p:nvSpPr>
          <p:cNvPr id="25" name="Shape 23"/>
          <p:cNvSpPr/>
          <p:nvPr/>
        </p:nvSpPr>
        <p:spPr>
          <a:xfrm>
            <a:off x="4663440" y="2443176"/>
            <a:ext cx="4206240" cy="502920"/>
          </a:xfrm>
          <a:prstGeom prst="rect">
            <a:avLst/>
          </a:prstGeom>
          <a:solidFill>
            <a:srgbClr val="12121E"/>
          </a:solidFill>
          <a:ln w="6350">
            <a:solidFill>
              <a:srgbClr val="1A1A28"/>
            </a:solidFill>
            <a:prstDash val="solid"/>
          </a:ln>
        </p:spPr>
        <p:txBody>
          <a:bodyPr/>
          <a:lstStyle/>
          <a:p>
            <a:endParaRPr lang="en-US"/>
          </a:p>
        </p:txBody>
      </p:sp>
      <p:sp>
        <p:nvSpPr>
          <p:cNvPr id="26" name="Shape 24"/>
          <p:cNvSpPr/>
          <p:nvPr/>
        </p:nvSpPr>
        <p:spPr>
          <a:xfrm>
            <a:off x="4663440" y="2443176"/>
            <a:ext cx="54864" cy="502920"/>
          </a:xfrm>
          <a:prstGeom prst="rect">
            <a:avLst/>
          </a:prstGeom>
          <a:solidFill>
            <a:srgbClr val="4ADE80"/>
          </a:solidFill>
          <a:ln w="12700">
            <a:solidFill>
              <a:srgbClr val="4ADE80"/>
            </a:solidFill>
            <a:prstDash val="solid"/>
          </a:ln>
        </p:spPr>
        <p:txBody>
          <a:bodyPr/>
          <a:lstStyle/>
          <a:p>
            <a:endParaRPr lang="en-US"/>
          </a:p>
        </p:txBody>
      </p:sp>
      <p:sp>
        <p:nvSpPr>
          <p:cNvPr id="27" name="Text 25"/>
          <p:cNvSpPr/>
          <p:nvPr/>
        </p:nvSpPr>
        <p:spPr>
          <a:xfrm>
            <a:off x="4773168" y="2443176"/>
            <a:ext cx="1280160" cy="502920"/>
          </a:xfrm>
          <a:prstGeom prst="rect">
            <a:avLst/>
          </a:prstGeom>
          <a:noFill/>
          <a:ln/>
        </p:spPr>
        <p:txBody>
          <a:bodyPr wrap="square" rtlCol="0" anchor="ctr"/>
          <a:lstStyle/>
          <a:p>
            <a:pPr marL="0" indent="0">
              <a:buNone/>
            </a:pPr>
            <a:r>
              <a:rPr lang="en-US" sz="900" b="1" dirty="0">
                <a:solidFill>
                  <a:srgbClr val="00D4FF"/>
                </a:solidFill>
                <a:latin typeface="Consolas" pitchFamily="34" charset="0"/>
                <a:ea typeface="Consolas" pitchFamily="34" charset="-122"/>
                <a:cs typeface="Consolas" pitchFamily="34" charset="-120"/>
              </a:rPr>
              <a:t>total_tips</a:t>
            </a:r>
            <a:endParaRPr lang="en-US" sz="900" dirty="0"/>
          </a:p>
        </p:txBody>
      </p:sp>
      <p:sp>
        <p:nvSpPr>
          <p:cNvPr id="28" name="Text 26"/>
          <p:cNvSpPr/>
          <p:nvPr/>
        </p:nvSpPr>
        <p:spPr>
          <a:xfrm>
            <a:off x="6080760" y="2443176"/>
            <a:ext cx="914400" cy="502920"/>
          </a:xfrm>
          <a:prstGeom prst="rect">
            <a:avLst/>
          </a:prstGeom>
          <a:noFill/>
          <a:ln/>
        </p:spPr>
        <p:txBody>
          <a:bodyPr wrap="square" rtlCol="0" anchor="ctr"/>
          <a:lstStyle/>
          <a:p>
            <a:pPr marL="0" indent="0">
              <a:buNone/>
            </a:pPr>
            <a:r>
              <a:rPr lang="en-US" sz="800" i="1" dirty="0">
                <a:solidFill>
                  <a:srgbClr val="4ADE80"/>
                </a:solidFill>
              </a:rPr>
              <a:t>Numerical</a:t>
            </a:r>
            <a:endParaRPr lang="en-US" sz="800" dirty="0"/>
          </a:p>
        </p:txBody>
      </p:sp>
      <p:sp>
        <p:nvSpPr>
          <p:cNvPr id="29" name="Text 27"/>
          <p:cNvSpPr/>
          <p:nvPr/>
        </p:nvSpPr>
        <p:spPr>
          <a:xfrm>
            <a:off x="7040880" y="2443176"/>
            <a:ext cx="1737360" cy="502920"/>
          </a:xfrm>
          <a:prstGeom prst="rect">
            <a:avLst/>
          </a:prstGeom>
          <a:noFill/>
          <a:ln/>
        </p:spPr>
        <p:txBody>
          <a:bodyPr wrap="square" rtlCol="0" anchor="ctr"/>
          <a:lstStyle/>
          <a:p>
            <a:pPr marL="0" indent="0">
              <a:buNone/>
            </a:pPr>
            <a:r>
              <a:rPr lang="en-US" sz="800" dirty="0">
                <a:solidFill>
                  <a:srgbClr val="6060A0"/>
                </a:solidFill>
              </a:rPr>
              <a:t>Number of user tips/reviews</a:t>
            </a:r>
            <a:endParaRPr lang="en-US" sz="800" dirty="0"/>
          </a:p>
        </p:txBody>
      </p:sp>
      <p:sp>
        <p:nvSpPr>
          <p:cNvPr id="30" name="Shape 28"/>
          <p:cNvSpPr/>
          <p:nvPr/>
        </p:nvSpPr>
        <p:spPr>
          <a:xfrm>
            <a:off x="4663440" y="3010104"/>
            <a:ext cx="4206240" cy="502920"/>
          </a:xfrm>
          <a:prstGeom prst="rect">
            <a:avLst/>
          </a:prstGeom>
          <a:solidFill>
            <a:srgbClr val="12121E"/>
          </a:solidFill>
          <a:ln w="6350">
            <a:solidFill>
              <a:srgbClr val="1A1A28"/>
            </a:solidFill>
            <a:prstDash val="solid"/>
          </a:ln>
        </p:spPr>
        <p:txBody>
          <a:bodyPr/>
          <a:lstStyle/>
          <a:p>
            <a:endParaRPr lang="en-US"/>
          </a:p>
        </p:txBody>
      </p:sp>
      <p:sp>
        <p:nvSpPr>
          <p:cNvPr id="31" name="Shape 29"/>
          <p:cNvSpPr/>
          <p:nvPr/>
        </p:nvSpPr>
        <p:spPr>
          <a:xfrm>
            <a:off x="4663440" y="3010104"/>
            <a:ext cx="54864" cy="502920"/>
          </a:xfrm>
          <a:prstGeom prst="rect">
            <a:avLst/>
          </a:prstGeom>
          <a:solidFill>
            <a:srgbClr val="FF6B35"/>
          </a:solidFill>
          <a:ln w="12700">
            <a:solidFill>
              <a:srgbClr val="FF6B35"/>
            </a:solidFill>
            <a:prstDash val="solid"/>
          </a:ln>
        </p:spPr>
        <p:txBody>
          <a:bodyPr/>
          <a:lstStyle/>
          <a:p>
            <a:endParaRPr lang="en-US"/>
          </a:p>
        </p:txBody>
      </p:sp>
      <p:sp>
        <p:nvSpPr>
          <p:cNvPr id="32" name="Text 30"/>
          <p:cNvSpPr/>
          <p:nvPr/>
        </p:nvSpPr>
        <p:spPr>
          <a:xfrm>
            <a:off x="4773168" y="3010104"/>
            <a:ext cx="1280160" cy="502920"/>
          </a:xfrm>
          <a:prstGeom prst="rect">
            <a:avLst/>
          </a:prstGeom>
          <a:noFill/>
          <a:ln/>
        </p:spPr>
        <p:txBody>
          <a:bodyPr wrap="square" rtlCol="0" anchor="ctr"/>
          <a:lstStyle/>
          <a:p>
            <a:pPr marL="0" indent="0">
              <a:buNone/>
            </a:pPr>
            <a:r>
              <a:rPr lang="en-US" sz="900" b="1" dirty="0">
                <a:solidFill>
                  <a:srgbClr val="00D4FF"/>
                </a:solidFill>
                <a:latin typeface="Consolas" pitchFamily="34" charset="0"/>
                <a:ea typeface="Consolas" pitchFamily="34" charset="-122"/>
                <a:cs typeface="Consolas" pitchFamily="34" charset="-120"/>
              </a:rPr>
              <a:t>neighborhoods</a:t>
            </a:r>
            <a:endParaRPr lang="en-US" sz="900" dirty="0"/>
          </a:p>
        </p:txBody>
      </p:sp>
      <p:sp>
        <p:nvSpPr>
          <p:cNvPr id="33" name="Text 31"/>
          <p:cNvSpPr/>
          <p:nvPr/>
        </p:nvSpPr>
        <p:spPr>
          <a:xfrm>
            <a:off x="6080760" y="3010104"/>
            <a:ext cx="914400" cy="502920"/>
          </a:xfrm>
          <a:prstGeom prst="rect">
            <a:avLst/>
          </a:prstGeom>
          <a:noFill/>
          <a:ln/>
        </p:spPr>
        <p:txBody>
          <a:bodyPr wrap="square" rtlCol="0" anchor="ctr"/>
          <a:lstStyle/>
          <a:p>
            <a:pPr marL="0" indent="0">
              <a:buNone/>
            </a:pPr>
            <a:r>
              <a:rPr lang="en-US" sz="800" i="1" dirty="0">
                <a:solidFill>
                  <a:srgbClr val="FF6B35"/>
                </a:solidFill>
              </a:rPr>
              <a:t>Categorical</a:t>
            </a:r>
            <a:endParaRPr lang="en-US" sz="800" dirty="0"/>
          </a:p>
        </p:txBody>
      </p:sp>
      <p:sp>
        <p:nvSpPr>
          <p:cNvPr id="34" name="Text 32"/>
          <p:cNvSpPr/>
          <p:nvPr/>
        </p:nvSpPr>
        <p:spPr>
          <a:xfrm>
            <a:off x="7040880" y="3010104"/>
            <a:ext cx="1737360" cy="502920"/>
          </a:xfrm>
          <a:prstGeom prst="rect">
            <a:avLst/>
          </a:prstGeom>
          <a:noFill/>
          <a:ln/>
        </p:spPr>
        <p:txBody>
          <a:bodyPr wrap="square" rtlCol="0" anchor="ctr"/>
          <a:lstStyle/>
          <a:p>
            <a:pPr marL="0" indent="0">
              <a:buNone/>
            </a:pPr>
            <a:r>
              <a:rPr lang="en-US" sz="800" dirty="0">
                <a:solidFill>
                  <a:srgbClr val="6060A0"/>
                </a:solidFill>
              </a:rPr>
              <a:t>District — LabelEncoded to integer</a:t>
            </a:r>
            <a:endParaRPr lang="en-US" sz="800" dirty="0"/>
          </a:p>
        </p:txBody>
      </p:sp>
      <p:sp>
        <p:nvSpPr>
          <p:cNvPr id="35" name="Shape 33"/>
          <p:cNvSpPr/>
          <p:nvPr/>
        </p:nvSpPr>
        <p:spPr>
          <a:xfrm>
            <a:off x="4663440" y="3577032"/>
            <a:ext cx="4206240" cy="502920"/>
          </a:xfrm>
          <a:prstGeom prst="rect">
            <a:avLst/>
          </a:prstGeom>
          <a:solidFill>
            <a:srgbClr val="12121E"/>
          </a:solidFill>
          <a:ln w="6350">
            <a:solidFill>
              <a:srgbClr val="1A1A28"/>
            </a:solidFill>
            <a:prstDash val="solid"/>
          </a:ln>
        </p:spPr>
        <p:txBody>
          <a:bodyPr/>
          <a:lstStyle/>
          <a:p>
            <a:endParaRPr lang="en-US"/>
          </a:p>
        </p:txBody>
      </p:sp>
      <p:sp>
        <p:nvSpPr>
          <p:cNvPr id="36" name="Shape 34"/>
          <p:cNvSpPr/>
          <p:nvPr/>
        </p:nvSpPr>
        <p:spPr>
          <a:xfrm>
            <a:off x="4663440" y="3577032"/>
            <a:ext cx="54864" cy="502920"/>
          </a:xfrm>
          <a:prstGeom prst="rect">
            <a:avLst/>
          </a:prstGeom>
          <a:solidFill>
            <a:srgbClr val="FF6B35"/>
          </a:solidFill>
          <a:ln w="12700">
            <a:solidFill>
              <a:srgbClr val="FF6B35"/>
            </a:solidFill>
            <a:prstDash val="solid"/>
          </a:ln>
        </p:spPr>
        <p:txBody>
          <a:bodyPr/>
          <a:lstStyle/>
          <a:p>
            <a:endParaRPr lang="en-US"/>
          </a:p>
        </p:txBody>
      </p:sp>
      <p:sp>
        <p:nvSpPr>
          <p:cNvPr id="37" name="Text 35"/>
          <p:cNvSpPr/>
          <p:nvPr/>
        </p:nvSpPr>
        <p:spPr>
          <a:xfrm>
            <a:off x="4773168" y="3577032"/>
            <a:ext cx="1280160" cy="502920"/>
          </a:xfrm>
          <a:prstGeom prst="rect">
            <a:avLst/>
          </a:prstGeom>
          <a:noFill/>
          <a:ln/>
        </p:spPr>
        <p:txBody>
          <a:bodyPr wrap="square" rtlCol="0" anchor="ctr"/>
          <a:lstStyle/>
          <a:p>
            <a:pPr marL="0" indent="0">
              <a:buNone/>
            </a:pPr>
            <a:r>
              <a:rPr lang="en-US" sz="900" b="1" dirty="0">
                <a:solidFill>
                  <a:srgbClr val="00D4FF"/>
                </a:solidFill>
                <a:latin typeface="Consolas" pitchFamily="34" charset="0"/>
                <a:ea typeface="Consolas" pitchFamily="34" charset="-122"/>
                <a:cs typeface="Consolas" pitchFamily="34" charset="-120"/>
              </a:rPr>
              <a:t>category</a:t>
            </a:r>
            <a:endParaRPr lang="en-US" sz="900" dirty="0"/>
          </a:p>
        </p:txBody>
      </p:sp>
      <p:sp>
        <p:nvSpPr>
          <p:cNvPr id="38" name="Text 36"/>
          <p:cNvSpPr/>
          <p:nvPr/>
        </p:nvSpPr>
        <p:spPr>
          <a:xfrm>
            <a:off x="6080760" y="3577032"/>
            <a:ext cx="914400" cy="502920"/>
          </a:xfrm>
          <a:prstGeom prst="rect">
            <a:avLst/>
          </a:prstGeom>
          <a:noFill/>
          <a:ln/>
        </p:spPr>
        <p:txBody>
          <a:bodyPr wrap="square" rtlCol="0" anchor="ctr"/>
          <a:lstStyle/>
          <a:p>
            <a:pPr marL="0" indent="0">
              <a:buNone/>
            </a:pPr>
            <a:r>
              <a:rPr lang="en-US" sz="800" i="1" dirty="0">
                <a:solidFill>
                  <a:srgbClr val="FF6B35"/>
                </a:solidFill>
              </a:rPr>
              <a:t>Categorical</a:t>
            </a:r>
            <a:endParaRPr lang="en-US" sz="800" dirty="0"/>
          </a:p>
        </p:txBody>
      </p:sp>
      <p:sp>
        <p:nvSpPr>
          <p:cNvPr id="39" name="Text 37"/>
          <p:cNvSpPr/>
          <p:nvPr/>
        </p:nvSpPr>
        <p:spPr>
          <a:xfrm>
            <a:off x="7040880" y="3577032"/>
            <a:ext cx="1737360" cy="502920"/>
          </a:xfrm>
          <a:prstGeom prst="rect">
            <a:avLst/>
          </a:prstGeom>
          <a:noFill/>
          <a:ln/>
        </p:spPr>
        <p:txBody>
          <a:bodyPr wrap="square" rtlCol="0" anchor="ctr"/>
          <a:lstStyle/>
          <a:p>
            <a:pPr marL="0" indent="0">
              <a:buNone/>
            </a:pPr>
            <a:r>
              <a:rPr lang="en-US" sz="800" dirty="0">
                <a:solidFill>
                  <a:srgbClr val="6060A0"/>
                </a:solidFill>
              </a:rPr>
              <a:t>Venue type — LabelEncoded to integer</a:t>
            </a:r>
            <a:endParaRPr lang="en-US" sz="800" dirty="0"/>
          </a:p>
        </p:txBody>
      </p:sp>
      <p:sp>
        <p:nvSpPr>
          <p:cNvPr id="40" name="Shape 38"/>
          <p:cNvSpPr/>
          <p:nvPr/>
        </p:nvSpPr>
        <p:spPr>
          <a:xfrm>
            <a:off x="228600" y="4198824"/>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41" name="Text 39"/>
          <p:cNvSpPr/>
          <p:nvPr/>
        </p:nvSpPr>
        <p:spPr>
          <a:xfrm>
            <a:off x="228600" y="4198824"/>
            <a:ext cx="1828800" cy="228600"/>
          </a:xfrm>
          <a:prstGeom prst="rect">
            <a:avLst/>
          </a:prstGeom>
          <a:noFill/>
          <a:ln/>
        </p:spPr>
        <p:txBody>
          <a:bodyPr wrap="square" rtlCol="0" anchor="ctr"/>
          <a:lstStyle/>
          <a:p>
            <a:pPr marL="0" indent="0" algn="ctr">
              <a:buNone/>
            </a:pPr>
            <a:r>
              <a:rPr lang="en-US" sz="800" b="1" kern="0" spc="200" dirty="0">
                <a:solidFill>
                  <a:srgbClr val="FF6B35"/>
                </a:solidFill>
              </a:rPr>
              <a:t>SETUP</a:t>
            </a:r>
            <a:endParaRPr lang="en-US" sz="800" dirty="0"/>
          </a:p>
        </p:txBody>
      </p:sp>
      <p:sp>
        <p:nvSpPr>
          <p:cNvPr id="42" name="Shape 40"/>
          <p:cNvSpPr/>
          <p:nvPr/>
        </p:nvSpPr>
        <p:spPr>
          <a:xfrm>
            <a:off x="228600" y="4473144"/>
            <a:ext cx="4206240" cy="292608"/>
          </a:xfrm>
          <a:prstGeom prst="rect">
            <a:avLst/>
          </a:prstGeom>
          <a:solidFill>
            <a:srgbClr val="0F0F1E"/>
          </a:solidFill>
          <a:ln w="3810">
            <a:solidFill>
              <a:srgbClr val="1A1A28"/>
            </a:solidFill>
            <a:prstDash val="solid"/>
          </a:ln>
        </p:spPr>
        <p:txBody>
          <a:bodyPr/>
          <a:lstStyle/>
          <a:p>
            <a:endParaRPr lang="en-US"/>
          </a:p>
        </p:txBody>
      </p:sp>
      <p:sp>
        <p:nvSpPr>
          <p:cNvPr id="43" name="Text 41"/>
          <p:cNvSpPr/>
          <p:nvPr/>
        </p:nvSpPr>
        <p:spPr>
          <a:xfrm>
            <a:off x="320040" y="4473144"/>
            <a:ext cx="822960" cy="292608"/>
          </a:xfrm>
          <a:prstGeom prst="rect">
            <a:avLst/>
          </a:prstGeom>
          <a:noFill/>
          <a:ln/>
        </p:spPr>
        <p:txBody>
          <a:bodyPr wrap="square" rtlCol="0" anchor="ctr"/>
          <a:lstStyle/>
          <a:p>
            <a:pPr marL="0" indent="0">
              <a:buNone/>
            </a:pPr>
            <a:r>
              <a:rPr lang="en-US" sz="850" b="1" dirty="0">
                <a:solidFill>
                  <a:srgbClr val="FF6B35"/>
                </a:solidFill>
              </a:rPr>
              <a:t>Target:</a:t>
            </a:r>
            <a:endParaRPr lang="en-US" sz="850" dirty="0"/>
          </a:p>
        </p:txBody>
      </p:sp>
      <p:sp>
        <p:nvSpPr>
          <p:cNvPr id="44" name="Text 42"/>
          <p:cNvSpPr/>
          <p:nvPr/>
        </p:nvSpPr>
        <p:spPr>
          <a:xfrm>
            <a:off x="1143000" y="4473144"/>
            <a:ext cx="3200400" cy="292608"/>
          </a:xfrm>
          <a:prstGeom prst="rect">
            <a:avLst/>
          </a:prstGeom>
          <a:noFill/>
          <a:ln/>
        </p:spPr>
        <p:txBody>
          <a:bodyPr wrap="square" rtlCol="0" anchor="ctr"/>
          <a:lstStyle/>
          <a:p>
            <a:pPr marL="0" indent="0">
              <a:buNone/>
            </a:pPr>
            <a:r>
              <a:rPr lang="en-US" sz="850" dirty="0">
                <a:solidFill>
                  <a:srgbClr val="6060A0"/>
                </a:solidFill>
              </a:rPr>
              <a:t>price_level (1, 2, or 3) — 3,460 budget, 845 mid-range, 185 premium venues</a:t>
            </a:r>
            <a:endParaRPr lang="en-US" sz="850" dirty="0"/>
          </a:p>
        </p:txBody>
      </p:sp>
      <p:sp>
        <p:nvSpPr>
          <p:cNvPr id="45" name="Shape 43"/>
          <p:cNvSpPr/>
          <p:nvPr/>
        </p:nvSpPr>
        <p:spPr>
          <a:xfrm>
            <a:off x="4663440" y="4473144"/>
            <a:ext cx="4206240" cy="292608"/>
          </a:xfrm>
          <a:prstGeom prst="rect">
            <a:avLst/>
          </a:prstGeom>
          <a:solidFill>
            <a:srgbClr val="0F0F1E"/>
          </a:solidFill>
          <a:ln w="3810">
            <a:solidFill>
              <a:srgbClr val="1A1A28"/>
            </a:solidFill>
            <a:prstDash val="solid"/>
          </a:ln>
        </p:spPr>
        <p:txBody>
          <a:bodyPr/>
          <a:lstStyle/>
          <a:p>
            <a:endParaRPr lang="en-US"/>
          </a:p>
        </p:txBody>
      </p:sp>
      <p:sp>
        <p:nvSpPr>
          <p:cNvPr id="46" name="Text 44"/>
          <p:cNvSpPr/>
          <p:nvPr/>
        </p:nvSpPr>
        <p:spPr>
          <a:xfrm>
            <a:off x="4754880" y="4473144"/>
            <a:ext cx="822960" cy="292608"/>
          </a:xfrm>
          <a:prstGeom prst="rect">
            <a:avLst/>
          </a:prstGeom>
          <a:noFill/>
          <a:ln/>
        </p:spPr>
        <p:txBody>
          <a:bodyPr wrap="square" rtlCol="0" anchor="ctr"/>
          <a:lstStyle/>
          <a:p>
            <a:pPr marL="0" indent="0">
              <a:buNone/>
            </a:pPr>
            <a:r>
              <a:rPr lang="en-US" sz="850" b="1" dirty="0">
                <a:solidFill>
                  <a:srgbClr val="FF6B35"/>
                </a:solidFill>
              </a:rPr>
              <a:t>Split:</a:t>
            </a:r>
            <a:endParaRPr lang="en-US" sz="850" dirty="0"/>
          </a:p>
        </p:txBody>
      </p:sp>
      <p:sp>
        <p:nvSpPr>
          <p:cNvPr id="47" name="Text 45"/>
          <p:cNvSpPr/>
          <p:nvPr/>
        </p:nvSpPr>
        <p:spPr>
          <a:xfrm>
            <a:off x="5577840" y="4473144"/>
            <a:ext cx="3200400" cy="292608"/>
          </a:xfrm>
          <a:prstGeom prst="rect">
            <a:avLst/>
          </a:prstGeom>
          <a:noFill/>
          <a:ln/>
        </p:spPr>
        <p:txBody>
          <a:bodyPr wrap="square" rtlCol="0" anchor="ctr"/>
          <a:lstStyle/>
          <a:p>
            <a:pPr marL="0" indent="0">
              <a:buNone/>
            </a:pPr>
            <a:r>
              <a:rPr lang="en-US" sz="850" dirty="0">
                <a:solidFill>
                  <a:srgbClr val="6060A0"/>
                </a:solidFill>
              </a:rPr>
              <a:t>80% train (3,592) / 20% test (898) · random_state=42</a:t>
            </a:r>
            <a:endParaRPr lang="en-US" sz="850" dirty="0"/>
          </a:p>
        </p:txBody>
      </p:sp>
      <p:sp>
        <p:nvSpPr>
          <p:cNvPr id="48" name="Shape 46"/>
          <p:cNvSpPr/>
          <p:nvPr/>
        </p:nvSpPr>
        <p:spPr>
          <a:xfrm>
            <a:off x="228600" y="4820616"/>
            <a:ext cx="4206240" cy="292608"/>
          </a:xfrm>
          <a:prstGeom prst="rect">
            <a:avLst/>
          </a:prstGeom>
          <a:solidFill>
            <a:srgbClr val="0F0F1E"/>
          </a:solidFill>
          <a:ln w="3810">
            <a:solidFill>
              <a:srgbClr val="1A1A28"/>
            </a:solidFill>
            <a:prstDash val="solid"/>
          </a:ln>
        </p:spPr>
        <p:txBody>
          <a:bodyPr/>
          <a:lstStyle/>
          <a:p>
            <a:endParaRPr lang="en-US"/>
          </a:p>
        </p:txBody>
      </p:sp>
      <p:sp>
        <p:nvSpPr>
          <p:cNvPr id="49" name="Text 47"/>
          <p:cNvSpPr/>
          <p:nvPr/>
        </p:nvSpPr>
        <p:spPr>
          <a:xfrm>
            <a:off x="320040" y="4820616"/>
            <a:ext cx="822960" cy="292608"/>
          </a:xfrm>
          <a:prstGeom prst="rect">
            <a:avLst/>
          </a:prstGeom>
          <a:noFill/>
          <a:ln/>
        </p:spPr>
        <p:txBody>
          <a:bodyPr wrap="square" rtlCol="0" anchor="ctr"/>
          <a:lstStyle/>
          <a:p>
            <a:pPr marL="0" indent="0">
              <a:buNone/>
            </a:pPr>
            <a:r>
              <a:rPr lang="en-US" sz="850" b="1" dirty="0">
                <a:solidFill>
                  <a:srgbClr val="FF6B35"/>
                </a:solidFill>
              </a:rPr>
              <a:t>Imbalance:</a:t>
            </a:r>
            <a:endParaRPr lang="en-US" sz="850" dirty="0"/>
          </a:p>
        </p:txBody>
      </p:sp>
      <p:sp>
        <p:nvSpPr>
          <p:cNvPr id="50" name="Text 48"/>
          <p:cNvSpPr/>
          <p:nvPr/>
        </p:nvSpPr>
        <p:spPr>
          <a:xfrm>
            <a:off x="1143000" y="4820616"/>
            <a:ext cx="3200400" cy="292608"/>
          </a:xfrm>
          <a:prstGeom prst="rect">
            <a:avLst/>
          </a:prstGeom>
          <a:noFill/>
          <a:ln/>
        </p:spPr>
        <p:txBody>
          <a:bodyPr wrap="square" rtlCol="0" anchor="ctr"/>
          <a:lstStyle/>
          <a:p>
            <a:pPr marL="0" indent="0">
              <a:buNone/>
            </a:pPr>
            <a:r>
              <a:rPr lang="en-US" sz="850" dirty="0">
                <a:solidFill>
                  <a:srgbClr val="6060A0"/>
                </a:solidFill>
              </a:rPr>
              <a:t>class_weight='balanced' applied to all 3 models</a:t>
            </a:r>
            <a:endParaRPr lang="en-US" sz="850" dirty="0"/>
          </a:p>
        </p:txBody>
      </p:sp>
      <p:sp>
        <p:nvSpPr>
          <p:cNvPr id="51" name="Shape 49"/>
          <p:cNvSpPr/>
          <p:nvPr/>
        </p:nvSpPr>
        <p:spPr>
          <a:xfrm>
            <a:off x="4663440" y="4820616"/>
            <a:ext cx="4206240" cy="292608"/>
          </a:xfrm>
          <a:prstGeom prst="rect">
            <a:avLst/>
          </a:prstGeom>
          <a:solidFill>
            <a:srgbClr val="0F0F1E"/>
          </a:solidFill>
          <a:ln w="3810">
            <a:solidFill>
              <a:srgbClr val="1A1A28"/>
            </a:solidFill>
            <a:prstDash val="solid"/>
          </a:ln>
        </p:spPr>
        <p:txBody>
          <a:bodyPr/>
          <a:lstStyle/>
          <a:p>
            <a:endParaRPr lang="en-US"/>
          </a:p>
        </p:txBody>
      </p:sp>
      <p:sp>
        <p:nvSpPr>
          <p:cNvPr id="52" name="Text 50"/>
          <p:cNvSpPr/>
          <p:nvPr/>
        </p:nvSpPr>
        <p:spPr>
          <a:xfrm>
            <a:off x="4754880" y="4820616"/>
            <a:ext cx="822960" cy="292608"/>
          </a:xfrm>
          <a:prstGeom prst="rect">
            <a:avLst/>
          </a:prstGeom>
          <a:noFill/>
          <a:ln/>
        </p:spPr>
        <p:txBody>
          <a:bodyPr wrap="square" rtlCol="0" anchor="ctr"/>
          <a:lstStyle/>
          <a:p>
            <a:pPr marL="0" indent="0">
              <a:buNone/>
            </a:pPr>
            <a:r>
              <a:rPr lang="en-US" sz="850" b="1" dirty="0">
                <a:solidFill>
                  <a:srgbClr val="FF6B35"/>
                </a:solidFill>
              </a:rPr>
              <a:t>Encoding:</a:t>
            </a:r>
            <a:endParaRPr lang="en-US" sz="850" dirty="0"/>
          </a:p>
        </p:txBody>
      </p:sp>
      <p:sp>
        <p:nvSpPr>
          <p:cNvPr id="53" name="Text 51"/>
          <p:cNvSpPr/>
          <p:nvPr/>
        </p:nvSpPr>
        <p:spPr>
          <a:xfrm>
            <a:off x="5577840" y="4820616"/>
            <a:ext cx="3200400" cy="292608"/>
          </a:xfrm>
          <a:prstGeom prst="rect">
            <a:avLst/>
          </a:prstGeom>
          <a:noFill/>
          <a:ln/>
        </p:spPr>
        <p:txBody>
          <a:bodyPr wrap="square" rtlCol="0" anchor="ctr"/>
          <a:lstStyle/>
          <a:p>
            <a:pPr marL="0" indent="0">
              <a:buNone/>
            </a:pPr>
            <a:r>
              <a:rPr lang="en-US" sz="850" dirty="0">
                <a:solidFill>
                  <a:srgbClr val="6060A0"/>
                </a:solidFill>
              </a:rPr>
              <a:t>LabelEncoder for neighborhoods + category columns</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ML · Model Results Comparison</a:t>
            </a:r>
            <a:endParaRPr lang="en-US" sz="2600" dirty="0"/>
          </a:p>
        </p:txBody>
      </p:sp>
      <p:sp>
        <p:nvSpPr>
          <p:cNvPr id="4" name="Shape 2"/>
          <p:cNvSpPr/>
          <p:nvPr/>
        </p:nvSpPr>
        <p:spPr>
          <a:xfrm>
            <a:off x="228600" y="841248"/>
            <a:ext cx="2788920" cy="416052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228600" y="841248"/>
            <a:ext cx="2788920" cy="54864"/>
          </a:xfrm>
          <a:prstGeom prst="rect">
            <a:avLst/>
          </a:prstGeom>
          <a:solidFill>
            <a:srgbClr val="FF6B35"/>
          </a:solidFill>
          <a:ln w="12700">
            <a:solidFill>
              <a:srgbClr val="FF6B35"/>
            </a:solidFill>
            <a:prstDash val="solid"/>
          </a:ln>
        </p:spPr>
        <p:txBody>
          <a:bodyPr/>
          <a:lstStyle/>
          <a:p>
            <a:endParaRPr lang="en-US"/>
          </a:p>
        </p:txBody>
      </p:sp>
      <p:sp>
        <p:nvSpPr>
          <p:cNvPr id="6" name="Shape 4"/>
          <p:cNvSpPr/>
          <p:nvPr/>
        </p:nvSpPr>
        <p:spPr>
          <a:xfrm>
            <a:off x="1965960" y="960120"/>
            <a:ext cx="960120" cy="256032"/>
          </a:xfrm>
          <a:prstGeom prst="rect">
            <a:avLst/>
          </a:prstGeom>
          <a:solidFill>
            <a:srgbClr val="FF6B35">
              <a:alpha val="20000"/>
            </a:srgbClr>
          </a:solidFill>
          <a:ln w="6350">
            <a:solidFill>
              <a:srgbClr val="FF6B35"/>
            </a:solidFill>
            <a:prstDash val="solid"/>
          </a:ln>
        </p:spPr>
        <p:txBody>
          <a:bodyPr/>
          <a:lstStyle/>
          <a:p>
            <a:endParaRPr lang="en-US"/>
          </a:p>
        </p:txBody>
      </p:sp>
      <p:sp>
        <p:nvSpPr>
          <p:cNvPr id="7" name="Text 5"/>
          <p:cNvSpPr/>
          <p:nvPr/>
        </p:nvSpPr>
        <p:spPr>
          <a:xfrm>
            <a:off x="1965960" y="960120"/>
            <a:ext cx="960120" cy="256032"/>
          </a:xfrm>
          <a:prstGeom prst="rect">
            <a:avLst/>
          </a:prstGeom>
          <a:noFill/>
          <a:ln/>
        </p:spPr>
        <p:txBody>
          <a:bodyPr wrap="square" rtlCol="0" anchor="ctr"/>
          <a:lstStyle/>
          <a:p>
            <a:pPr marL="0" indent="0" algn="ctr">
              <a:buNone/>
            </a:pPr>
            <a:r>
              <a:rPr lang="en-US" sz="700" b="1" kern="0" spc="100" dirty="0">
                <a:solidFill>
                  <a:srgbClr val="FF6B35"/>
                </a:solidFill>
              </a:rPr>
              <a:t>BEST</a:t>
            </a:r>
            <a:endParaRPr lang="en-US" sz="700" dirty="0"/>
          </a:p>
        </p:txBody>
      </p:sp>
      <p:sp>
        <p:nvSpPr>
          <p:cNvPr id="8" name="Text 6"/>
          <p:cNvSpPr/>
          <p:nvPr/>
        </p:nvSpPr>
        <p:spPr>
          <a:xfrm>
            <a:off x="320040" y="914400"/>
            <a:ext cx="1645920" cy="347472"/>
          </a:xfrm>
          <a:prstGeom prst="rect">
            <a:avLst/>
          </a:prstGeom>
          <a:noFill/>
          <a:ln/>
        </p:spPr>
        <p:txBody>
          <a:bodyPr wrap="square" rtlCol="0" anchor="ctr"/>
          <a:lstStyle/>
          <a:p>
            <a:pPr marL="0" indent="0">
              <a:buNone/>
            </a:pPr>
            <a:r>
              <a:rPr lang="en-US" sz="1000" b="1" dirty="0">
                <a:solidFill>
                  <a:srgbClr val="E8E8FF"/>
                </a:solidFill>
              </a:rPr>
              <a:t>Random Forest</a:t>
            </a:r>
            <a:endParaRPr lang="en-US" sz="1000" dirty="0"/>
          </a:p>
        </p:txBody>
      </p:sp>
      <p:sp>
        <p:nvSpPr>
          <p:cNvPr id="9" name="Text 7"/>
          <p:cNvSpPr/>
          <p:nvPr/>
        </p:nvSpPr>
        <p:spPr>
          <a:xfrm>
            <a:off x="320040" y="1325880"/>
            <a:ext cx="2560320" cy="777240"/>
          </a:xfrm>
          <a:prstGeom prst="rect">
            <a:avLst/>
          </a:prstGeom>
          <a:noFill/>
          <a:ln/>
        </p:spPr>
        <p:txBody>
          <a:bodyPr wrap="square" rtlCol="0" anchor="ctr"/>
          <a:lstStyle/>
          <a:p>
            <a:pPr marL="0" indent="0" algn="ctr">
              <a:buNone/>
            </a:pPr>
            <a:r>
              <a:rPr lang="en-US" sz="4800" b="1" dirty="0">
                <a:solidFill>
                  <a:srgbClr val="FF6B35"/>
                </a:solidFill>
                <a:latin typeface="Trebuchet MS" pitchFamily="34" charset="0"/>
                <a:ea typeface="Trebuchet MS" pitchFamily="34" charset="-122"/>
                <a:cs typeface="Trebuchet MS" pitchFamily="34" charset="-120"/>
              </a:rPr>
              <a:t>89%</a:t>
            </a:r>
            <a:endParaRPr lang="en-US" sz="4800" dirty="0"/>
          </a:p>
        </p:txBody>
      </p:sp>
      <p:sp>
        <p:nvSpPr>
          <p:cNvPr id="10" name="Text 8"/>
          <p:cNvSpPr/>
          <p:nvPr/>
        </p:nvSpPr>
        <p:spPr>
          <a:xfrm>
            <a:off x="320040" y="2103120"/>
            <a:ext cx="2560320" cy="256032"/>
          </a:xfrm>
          <a:prstGeom prst="rect">
            <a:avLst/>
          </a:prstGeom>
          <a:noFill/>
          <a:ln/>
        </p:spPr>
        <p:txBody>
          <a:bodyPr wrap="square" rtlCol="0" anchor="ctr"/>
          <a:lstStyle/>
          <a:p>
            <a:pPr marL="0" indent="0" algn="ctr">
              <a:buNone/>
            </a:pPr>
            <a:r>
              <a:rPr lang="en-US" sz="800" kern="0" spc="100" dirty="0">
                <a:solidFill>
                  <a:srgbClr val="6060A0"/>
                </a:solidFill>
              </a:rPr>
              <a:t>Accuracy</a:t>
            </a:r>
            <a:endParaRPr lang="en-US" sz="800" dirty="0"/>
          </a:p>
        </p:txBody>
      </p:sp>
      <p:sp>
        <p:nvSpPr>
          <p:cNvPr id="11" name="Shape 9"/>
          <p:cNvSpPr/>
          <p:nvPr/>
        </p:nvSpPr>
        <p:spPr>
          <a:xfrm>
            <a:off x="365760" y="2487168"/>
            <a:ext cx="2514600" cy="182880"/>
          </a:xfrm>
          <a:prstGeom prst="rect">
            <a:avLst/>
          </a:prstGeom>
          <a:solidFill>
            <a:srgbClr val="1A1A28"/>
          </a:solidFill>
          <a:ln w="12700">
            <a:solidFill>
              <a:srgbClr val="1A1A28"/>
            </a:solidFill>
            <a:prstDash val="solid"/>
          </a:ln>
        </p:spPr>
        <p:txBody>
          <a:bodyPr/>
          <a:lstStyle/>
          <a:p>
            <a:endParaRPr lang="en-US"/>
          </a:p>
        </p:txBody>
      </p:sp>
      <p:sp>
        <p:nvSpPr>
          <p:cNvPr id="12" name="Shape 10"/>
          <p:cNvSpPr/>
          <p:nvPr/>
        </p:nvSpPr>
        <p:spPr>
          <a:xfrm>
            <a:off x="365760" y="2487168"/>
            <a:ext cx="1973275" cy="182880"/>
          </a:xfrm>
          <a:prstGeom prst="rect">
            <a:avLst/>
          </a:prstGeom>
          <a:solidFill>
            <a:srgbClr val="FF6B35"/>
          </a:solidFill>
          <a:ln w="12700">
            <a:solidFill>
              <a:srgbClr val="FF6B35"/>
            </a:solidFill>
            <a:prstDash val="solid"/>
          </a:ln>
        </p:spPr>
        <p:txBody>
          <a:bodyPr/>
          <a:lstStyle/>
          <a:p>
            <a:endParaRPr lang="en-US"/>
          </a:p>
        </p:txBody>
      </p:sp>
      <p:sp>
        <p:nvSpPr>
          <p:cNvPr id="13" name="Text 11"/>
          <p:cNvSpPr/>
          <p:nvPr/>
        </p:nvSpPr>
        <p:spPr>
          <a:xfrm>
            <a:off x="320040" y="2697480"/>
            <a:ext cx="1371600" cy="201168"/>
          </a:xfrm>
          <a:prstGeom prst="rect">
            <a:avLst/>
          </a:prstGeom>
          <a:noFill/>
          <a:ln/>
        </p:spPr>
        <p:txBody>
          <a:bodyPr wrap="square" rtlCol="0" anchor="ctr"/>
          <a:lstStyle/>
          <a:p>
            <a:pPr marL="0" indent="0">
              <a:buNone/>
            </a:pPr>
            <a:r>
              <a:rPr lang="en-US" sz="800" dirty="0">
                <a:solidFill>
                  <a:srgbClr val="6060A0"/>
                </a:solidFill>
              </a:rPr>
              <a:t>Low ($)</a:t>
            </a:r>
            <a:endParaRPr lang="en-US" sz="800" dirty="0"/>
          </a:p>
        </p:txBody>
      </p:sp>
      <p:sp>
        <p:nvSpPr>
          <p:cNvPr id="14" name="Text 12"/>
          <p:cNvSpPr/>
          <p:nvPr/>
        </p:nvSpPr>
        <p:spPr>
          <a:xfrm>
            <a:off x="1737360" y="2697480"/>
            <a:ext cx="1097280" cy="201168"/>
          </a:xfrm>
          <a:prstGeom prst="rect">
            <a:avLst/>
          </a:prstGeom>
          <a:noFill/>
          <a:ln/>
        </p:spPr>
        <p:txBody>
          <a:bodyPr wrap="square" rtlCol="0" anchor="ctr"/>
          <a:lstStyle/>
          <a:p>
            <a:pPr marL="0" indent="0" algn="r">
              <a:buNone/>
            </a:pPr>
            <a:r>
              <a:rPr lang="en-US" sz="800" dirty="0">
                <a:solidFill>
                  <a:srgbClr val="FF6B35"/>
                </a:solidFill>
              </a:rPr>
              <a:t>F1: 0.93</a:t>
            </a:r>
            <a:endParaRPr lang="en-US" sz="800" dirty="0"/>
          </a:p>
        </p:txBody>
      </p:sp>
      <p:sp>
        <p:nvSpPr>
          <p:cNvPr id="15" name="Shape 13"/>
          <p:cNvSpPr/>
          <p:nvPr/>
        </p:nvSpPr>
        <p:spPr>
          <a:xfrm>
            <a:off x="365760" y="3054096"/>
            <a:ext cx="2514600" cy="182880"/>
          </a:xfrm>
          <a:prstGeom prst="rect">
            <a:avLst/>
          </a:prstGeom>
          <a:solidFill>
            <a:srgbClr val="1A1A28"/>
          </a:solidFill>
          <a:ln w="12700">
            <a:solidFill>
              <a:srgbClr val="1A1A28"/>
            </a:solidFill>
            <a:prstDash val="solid"/>
          </a:ln>
        </p:spPr>
        <p:txBody>
          <a:bodyPr/>
          <a:lstStyle/>
          <a:p>
            <a:endParaRPr lang="en-US"/>
          </a:p>
        </p:txBody>
      </p:sp>
      <p:sp>
        <p:nvSpPr>
          <p:cNvPr id="16" name="Shape 14"/>
          <p:cNvSpPr/>
          <p:nvPr/>
        </p:nvSpPr>
        <p:spPr>
          <a:xfrm>
            <a:off x="365760" y="3054096"/>
            <a:ext cx="285293" cy="182880"/>
          </a:xfrm>
          <a:prstGeom prst="rect">
            <a:avLst/>
          </a:prstGeom>
          <a:solidFill>
            <a:srgbClr val="FF6B35"/>
          </a:solidFill>
          <a:ln w="12700">
            <a:solidFill>
              <a:srgbClr val="FF6B35"/>
            </a:solidFill>
            <a:prstDash val="solid"/>
          </a:ln>
        </p:spPr>
        <p:txBody>
          <a:bodyPr/>
          <a:lstStyle/>
          <a:p>
            <a:endParaRPr lang="en-US"/>
          </a:p>
        </p:txBody>
      </p:sp>
      <p:sp>
        <p:nvSpPr>
          <p:cNvPr id="17" name="Text 15"/>
          <p:cNvSpPr/>
          <p:nvPr/>
        </p:nvSpPr>
        <p:spPr>
          <a:xfrm>
            <a:off x="320040" y="3264408"/>
            <a:ext cx="1371600" cy="201168"/>
          </a:xfrm>
          <a:prstGeom prst="rect">
            <a:avLst/>
          </a:prstGeom>
          <a:noFill/>
          <a:ln/>
        </p:spPr>
        <p:txBody>
          <a:bodyPr wrap="square" rtlCol="0" anchor="ctr"/>
          <a:lstStyle/>
          <a:p>
            <a:pPr marL="0" indent="0">
              <a:buNone/>
            </a:pPr>
            <a:r>
              <a:rPr lang="en-US" sz="800" dirty="0">
                <a:solidFill>
                  <a:srgbClr val="6060A0"/>
                </a:solidFill>
              </a:rPr>
              <a:t>Mid ($$)</a:t>
            </a:r>
            <a:endParaRPr lang="en-US" sz="800" dirty="0"/>
          </a:p>
        </p:txBody>
      </p:sp>
      <p:sp>
        <p:nvSpPr>
          <p:cNvPr id="18" name="Text 16"/>
          <p:cNvSpPr/>
          <p:nvPr/>
        </p:nvSpPr>
        <p:spPr>
          <a:xfrm>
            <a:off x="1737360" y="3264408"/>
            <a:ext cx="1097280" cy="201168"/>
          </a:xfrm>
          <a:prstGeom prst="rect">
            <a:avLst/>
          </a:prstGeom>
          <a:noFill/>
          <a:ln/>
        </p:spPr>
        <p:txBody>
          <a:bodyPr wrap="square" rtlCol="0" anchor="ctr"/>
          <a:lstStyle/>
          <a:p>
            <a:pPr marL="0" indent="0" algn="r">
              <a:buNone/>
            </a:pPr>
            <a:r>
              <a:rPr lang="en-US" sz="800" dirty="0">
                <a:solidFill>
                  <a:srgbClr val="FF6B35"/>
                </a:solidFill>
              </a:rPr>
              <a:t>F1: 0.79</a:t>
            </a:r>
            <a:endParaRPr lang="en-US" sz="800" dirty="0"/>
          </a:p>
        </p:txBody>
      </p:sp>
      <p:sp>
        <p:nvSpPr>
          <p:cNvPr id="19" name="Shape 17"/>
          <p:cNvSpPr/>
          <p:nvPr/>
        </p:nvSpPr>
        <p:spPr>
          <a:xfrm>
            <a:off x="365760" y="3621024"/>
            <a:ext cx="2514600" cy="182880"/>
          </a:xfrm>
          <a:prstGeom prst="rect">
            <a:avLst/>
          </a:prstGeom>
          <a:solidFill>
            <a:srgbClr val="1A1A28"/>
          </a:solidFill>
          <a:ln w="12700">
            <a:solidFill>
              <a:srgbClr val="1A1A28"/>
            </a:solidFill>
            <a:prstDash val="solid"/>
          </a:ln>
        </p:spPr>
        <p:txBody>
          <a:bodyPr/>
          <a:lstStyle/>
          <a:p>
            <a:endParaRPr lang="en-US"/>
          </a:p>
        </p:txBody>
      </p:sp>
      <p:sp>
        <p:nvSpPr>
          <p:cNvPr id="20" name="Shape 18"/>
          <p:cNvSpPr/>
          <p:nvPr/>
        </p:nvSpPr>
        <p:spPr>
          <a:xfrm>
            <a:off x="365760" y="3621024"/>
            <a:ext cx="118872" cy="182880"/>
          </a:xfrm>
          <a:prstGeom prst="rect">
            <a:avLst/>
          </a:prstGeom>
          <a:solidFill>
            <a:srgbClr val="FF6B35"/>
          </a:solidFill>
          <a:ln w="12700">
            <a:solidFill>
              <a:srgbClr val="FF6B35"/>
            </a:solidFill>
            <a:prstDash val="solid"/>
          </a:ln>
        </p:spPr>
        <p:txBody>
          <a:bodyPr/>
          <a:lstStyle/>
          <a:p>
            <a:endParaRPr lang="en-US"/>
          </a:p>
        </p:txBody>
      </p:sp>
      <p:sp>
        <p:nvSpPr>
          <p:cNvPr id="21" name="Text 19"/>
          <p:cNvSpPr/>
          <p:nvPr/>
        </p:nvSpPr>
        <p:spPr>
          <a:xfrm>
            <a:off x="320040" y="3831336"/>
            <a:ext cx="1371600" cy="201168"/>
          </a:xfrm>
          <a:prstGeom prst="rect">
            <a:avLst/>
          </a:prstGeom>
          <a:noFill/>
          <a:ln/>
        </p:spPr>
        <p:txBody>
          <a:bodyPr wrap="square" rtlCol="0" anchor="ctr"/>
          <a:lstStyle/>
          <a:p>
            <a:pPr marL="0" indent="0">
              <a:buNone/>
            </a:pPr>
            <a:r>
              <a:rPr lang="en-US" sz="800" dirty="0">
                <a:solidFill>
                  <a:srgbClr val="6060A0"/>
                </a:solidFill>
              </a:rPr>
              <a:t>High ($$$)</a:t>
            </a:r>
            <a:endParaRPr lang="en-US" sz="800" dirty="0"/>
          </a:p>
        </p:txBody>
      </p:sp>
      <p:sp>
        <p:nvSpPr>
          <p:cNvPr id="22" name="Text 20"/>
          <p:cNvSpPr/>
          <p:nvPr/>
        </p:nvSpPr>
        <p:spPr>
          <a:xfrm>
            <a:off x="1737360" y="3831336"/>
            <a:ext cx="1097280" cy="201168"/>
          </a:xfrm>
          <a:prstGeom prst="rect">
            <a:avLst/>
          </a:prstGeom>
          <a:noFill/>
          <a:ln/>
        </p:spPr>
        <p:txBody>
          <a:bodyPr wrap="square" rtlCol="0" anchor="ctr"/>
          <a:lstStyle/>
          <a:p>
            <a:pPr marL="0" indent="0" algn="r">
              <a:buNone/>
            </a:pPr>
            <a:r>
              <a:rPr lang="en-US" sz="800" dirty="0">
                <a:solidFill>
                  <a:srgbClr val="FF6B35"/>
                </a:solidFill>
              </a:rPr>
              <a:t>F1: 0.44</a:t>
            </a:r>
            <a:endParaRPr lang="en-US" sz="800" dirty="0"/>
          </a:p>
        </p:txBody>
      </p:sp>
      <p:sp>
        <p:nvSpPr>
          <p:cNvPr id="23" name="Text 21"/>
          <p:cNvSpPr/>
          <p:nvPr/>
        </p:nvSpPr>
        <p:spPr>
          <a:xfrm>
            <a:off x="320040" y="4206240"/>
            <a:ext cx="2606040" cy="640080"/>
          </a:xfrm>
          <a:prstGeom prst="rect">
            <a:avLst/>
          </a:prstGeom>
          <a:noFill/>
          <a:ln/>
        </p:spPr>
        <p:txBody>
          <a:bodyPr wrap="square" rtlCol="0" anchor="ctr"/>
          <a:lstStyle/>
          <a:p>
            <a:pPr marL="0" indent="0">
              <a:buNone/>
            </a:pPr>
            <a:r>
              <a:rPr lang="en-US" sz="750" i="1" dirty="0">
                <a:solidFill>
                  <a:srgbClr val="404060"/>
                </a:solidFill>
              </a:rPr>
              <a:t>Best performer with 89% accuracy. Excellent F1 score (0.93) on budget restaurants. Uses 100 estimators with balanced class weights to handle imbalanced data.</a:t>
            </a:r>
            <a:endParaRPr lang="en-US" sz="750" dirty="0"/>
          </a:p>
        </p:txBody>
      </p:sp>
      <p:sp>
        <p:nvSpPr>
          <p:cNvPr id="24" name="Shape 22"/>
          <p:cNvSpPr/>
          <p:nvPr/>
        </p:nvSpPr>
        <p:spPr>
          <a:xfrm>
            <a:off x="3154680" y="841248"/>
            <a:ext cx="2788920" cy="416052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25" name="Shape 23"/>
          <p:cNvSpPr/>
          <p:nvPr/>
        </p:nvSpPr>
        <p:spPr>
          <a:xfrm>
            <a:off x="3154680" y="841248"/>
            <a:ext cx="2788920" cy="54864"/>
          </a:xfrm>
          <a:prstGeom prst="rect">
            <a:avLst/>
          </a:prstGeom>
          <a:solidFill>
            <a:srgbClr val="00D4FF"/>
          </a:solidFill>
          <a:ln w="12700">
            <a:solidFill>
              <a:srgbClr val="00D4FF"/>
            </a:solidFill>
            <a:prstDash val="solid"/>
          </a:ln>
        </p:spPr>
        <p:txBody>
          <a:bodyPr/>
          <a:lstStyle/>
          <a:p>
            <a:endParaRPr lang="en-US"/>
          </a:p>
        </p:txBody>
      </p:sp>
      <p:sp>
        <p:nvSpPr>
          <p:cNvPr id="26" name="Shape 24"/>
          <p:cNvSpPr/>
          <p:nvPr/>
        </p:nvSpPr>
        <p:spPr>
          <a:xfrm>
            <a:off x="4892040" y="960120"/>
            <a:ext cx="960120" cy="256032"/>
          </a:xfrm>
          <a:prstGeom prst="rect">
            <a:avLst/>
          </a:prstGeom>
          <a:solidFill>
            <a:srgbClr val="00D4FF">
              <a:alpha val="20000"/>
            </a:srgbClr>
          </a:solidFill>
          <a:ln w="6350">
            <a:solidFill>
              <a:srgbClr val="00D4FF"/>
            </a:solidFill>
            <a:prstDash val="solid"/>
          </a:ln>
        </p:spPr>
        <p:txBody>
          <a:bodyPr/>
          <a:lstStyle/>
          <a:p>
            <a:endParaRPr lang="en-US"/>
          </a:p>
        </p:txBody>
      </p:sp>
      <p:sp>
        <p:nvSpPr>
          <p:cNvPr id="27" name="Text 25"/>
          <p:cNvSpPr/>
          <p:nvPr/>
        </p:nvSpPr>
        <p:spPr>
          <a:xfrm>
            <a:off x="4892040" y="960120"/>
            <a:ext cx="960120" cy="256032"/>
          </a:xfrm>
          <a:prstGeom prst="rect">
            <a:avLst/>
          </a:prstGeom>
          <a:noFill/>
          <a:ln/>
        </p:spPr>
        <p:txBody>
          <a:bodyPr wrap="square" rtlCol="0" anchor="ctr"/>
          <a:lstStyle/>
          <a:p>
            <a:pPr marL="0" indent="0" algn="ctr">
              <a:buNone/>
            </a:pPr>
            <a:r>
              <a:rPr lang="en-US" sz="700" b="1" kern="0" spc="100" dirty="0">
                <a:solidFill>
                  <a:srgbClr val="00D4FF"/>
                </a:solidFill>
              </a:rPr>
              <a:t>BALANCED</a:t>
            </a:r>
            <a:endParaRPr lang="en-US" sz="700" dirty="0"/>
          </a:p>
        </p:txBody>
      </p:sp>
      <p:sp>
        <p:nvSpPr>
          <p:cNvPr id="28" name="Text 26"/>
          <p:cNvSpPr/>
          <p:nvPr/>
        </p:nvSpPr>
        <p:spPr>
          <a:xfrm>
            <a:off x="3246120" y="914400"/>
            <a:ext cx="1645920" cy="347472"/>
          </a:xfrm>
          <a:prstGeom prst="rect">
            <a:avLst/>
          </a:prstGeom>
          <a:noFill/>
          <a:ln/>
        </p:spPr>
        <p:txBody>
          <a:bodyPr wrap="square" rtlCol="0" anchor="ctr"/>
          <a:lstStyle/>
          <a:p>
            <a:pPr marL="0" indent="0">
              <a:buNone/>
            </a:pPr>
            <a:r>
              <a:rPr lang="en-US" sz="1000" b="1" dirty="0">
                <a:solidFill>
                  <a:srgbClr val="E8E8FF"/>
                </a:solidFill>
              </a:rPr>
              <a:t>Decision Tree</a:t>
            </a:r>
            <a:endParaRPr lang="en-US" sz="1000" dirty="0"/>
          </a:p>
        </p:txBody>
      </p:sp>
      <p:sp>
        <p:nvSpPr>
          <p:cNvPr id="29" name="Text 27"/>
          <p:cNvSpPr/>
          <p:nvPr/>
        </p:nvSpPr>
        <p:spPr>
          <a:xfrm>
            <a:off x="3246120" y="1325880"/>
            <a:ext cx="2560320" cy="777240"/>
          </a:xfrm>
          <a:prstGeom prst="rect">
            <a:avLst/>
          </a:prstGeom>
          <a:noFill/>
          <a:ln/>
        </p:spPr>
        <p:txBody>
          <a:bodyPr wrap="square" rtlCol="0" anchor="ctr"/>
          <a:lstStyle/>
          <a:p>
            <a:pPr marL="0" indent="0" algn="ctr">
              <a:buNone/>
            </a:pPr>
            <a:r>
              <a:rPr lang="en-US" sz="4800" b="1" dirty="0">
                <a:solidFill>
                  <a:srgbClr val="00D4FF"/>
                </a:solidFill>
                <a:latin typeface="Trebuchet MS" pitchFamily="34" charset="0"/>
                <a:ea typeface="Trebuchet MS" pitchFamily="34" charset="-122"/>
                <a:cs typeface="Trebuchet MS" pitchFamily="34" charset="-120"/>
              </a:rPr>
              <a:t>88%</a:t>
            </a:r>
            <a:endParaRPr lang="en-US" sz="4800" dirty="0"/>
          </a:p>
        </p:txBody>
      </p:sp>
      <p:sp>
        <p:nvSpPr>
          <p:cNvPr id="30" name="Text 28"/>
          <p:cNvSpPr/>
          <p:nvPr/>
        </p:nvSpPr>
        <p:spPr>
          <a:xfrm>
            <a:off x="3246120" y="2103120"/>
            <a:ext cx="2560320" cy="256032"/>
          </a:xfrm>
          <a:prstGeom prst="rect">
            <a:avLst/>
          </a:prstGeom>
          <a:noFill/>
          <a:ln/>
        </p:spPr>
        <p:txBody>
          <a:bodyPr wrap="square" rtlCol="0" anchor="ctr"/>
          <a:lstStyle/>
          <a:p>
            <a:pPr marL="0" indent="0" algn="ctr">
              <a:buNone/>
            </a:pPr>
            <a:r>
              <a:rPr lang="en-US" sz="800" kern="0" spc="100" dirty="0">
                <a:solidFill>
                  <a:srgbClr val="6060A0"/>
                </a:solidFill>
              </a:rPr>
              <a:t>Accuracy</a:t>
            </a:r>
            <a:endParaRPr lang="en-US" sz="800" dirty="0"/>
          </a:p>
        </p:txBody>
      </p:sp>
      <p:sp>
        <p:nvSpPr>
          <p:cNvPr id="31" name="Shape 29"/>
          <p:cNvSpPr/>
          <p:nvPr/>
        </p:nvSpPr>
        <p:spPr>
          <a:xfrm>
            <a:off x="3291840" y="2487168"/>
            <a:ext cx="2514600" cy="182880"/>
          </a:xfrm>
          <a:prstGeom prst="rect">
            <a:avLst/>
          </a:prstGeom>
          <a:solidFill>
            <a:srgbClr val="1A1A28"/>
          </a:solidFill>
          <a:ln w="12700">
            <a:solidFill>
              <a:srgbClr val="1A1A28"/>
            </a:solidFill>
            <a:prstDash val="solid"/>
          </a:ln>
        </p:spPr>
        <p:txBody>
          <a:bodyPr/>
          <a:lstStyle/>
          <a:p>
            <a:endParaRPr lang="en-US"/>
          </a:p>
        </p:txBody>
      </p:sp>
      <p:sp>
        <p:nvSpPr>
          <p:cNvPr id="32" name="Shape 30"/>
          <p:cNvSpPr/>
          <p:nvPr/>
        </p:nvSpPr>
        <p:spPr>
          <a:xfrm>
            <a:off x="3291840" y="2487168"/>
            <a:ext cx="1521562" cy="182880"/>
          </a:xfrm>
          <a:prstGeom prst="rect">
            <a:avLst/>
          </a:prstGeom>
          <a:solidFill>
            <a:srgbClr val="00D4FF"/>
          </a:solidFill>
          <a:ln w="12700">
            <a:solidFill>
              <a:srgbClr val="00D4FF"/>
            </a:solidFill>
            <a:prstDash val="solid"/>
          </a:ln>
        </p:spPr>
        <p:txBody>
          <a:bodyPr/>
          <a:lstStyle/>
          <a:p>
            <a:endParaRPr lang="en-US"/>
          </a:p>
        </p:txBody>
      </p:sp>
      <p:sp>
        <p:nvSpPr>
          <p:cNvPr id="33" name="Text 31"/>
          <p:cNvSpPr/>
          <p:nvPr/>
        </p:nvSpPr>
        <p:spPr>
          <a:xfrm>
            <a:off x="3246120" y="2697480"/>
            <a:ext cx="1371600" cy="201168"/>
          </a:xfrm>
          <a:prstGeom prst="rect">
            <a:avLst/>
          </a:prstGeom>
          <a:noFill/>
          <a:ln/>
        </p:spPr>
        <p:txBody>
          <a:bodyPr wrap="square" rtlCol="0" anchor="ctr"/>
          <a:lstStyle/>
          <a:p>
            <a:pPr marL="0" indent="0">
              <a:buNone/>
            </a:pPr>
            <a:r>
              <a:rPr lang="en-US" sz="800" dirty="0">
                <a:solidFill>
                  <a:srgbClr val="6060A0"/>
                </a:solidFill>
              </a:rPr>
              <a:t>Low ($)</a:t>
            </a:r>
            <a:endParaRPr lang="en-US" sz="800" dirty="0"/>
          </a:p>
        </p:txBody>
      </p:sp>
      <p:sp>
        <p:nvSpPr>
          <p:cNvPr id="34" name="Text 32"/>
          <p:cNvSpPr/>
          <p:nvPr/>
        </p:nvSpPr>
        <p:spPr>
          <a:xfrm>
            <a:off x="4663440" y="2697480"/>
            <a:ext cx="1097280" cy="201168"/>
          </a:xfrm>
          <a:prstGeom prst="rect">
            <a:avLst/>
          </a:prstGeom>
          <a:noFill/>
          <a:ln/>
        </p:spPr>
        <p:txBody>
          <a:bodyPr wrap="square" rtlCol="0" anchor="ctr"/>
          <a:lstStyle/>
          <a:p>
            <a:pPr marL="0" indent="0" algn="r">
              <a:buNone/>
            </a:pPr>
            <a:r>
              <a:rPr lang="en-US" sz="800" dirty="0">
                <a:solidFill>
                  <a:srgbClr val="00D4FF"/>
                </a:solidFill>
              </a:rPr>
              <a:t>F1: 0.93</a:t>
            </a:r>
            <a:endParaRPr lang="en-US" sz="800" dirty="0"/>
          </a:p>
        </p:txBody>
      </p:sp>
      <p:sp>
        <p:nvSpPr>
          <p:cNvPr id="35" name="Shape 33"/>
          <p:cNvSpPr/>
          <p:nvPr/>
        </p:nvSpPr>
        <p:spPr>
          <a:xfrm>
            <a:off x="3291840" y="3054096"/>
            <a:ext cx="2514600" cy="182880"/>
          </a:xfrm>
          <a:prstGeom prst="rect">
            <a:avLst/>
          </a:prstGeom>
          <a:solidFill>
            <a:srgbClr val="1A1A28"/>
          </a:solidFill>
          <a:ln w="12700">
            <a:solidFill>
              <a:srgbClr val="1A1A28"/>
            </a:solidFill>
            <a:prstDash val="solid"/>
          </a:ln>
        </p:spPr>
        <p:txBody>
          <a:bodyPr/>
          <a:lstStyle/>
          <a:p>
            <a:endParaRPr lang="en-US"/>
          </a:p>
        </p:txBody>
      </p:sp>
      <p:sp>
        <p:nvSpPr>
          <p:cNvPr id="36" name="Shape 34"/>
          <p:cNvSpPr/>
          <p:nvPr/>
        </p:nvSpPr>
        <p:spPr>
          <a:xfrm>
            <a:off x="3291840" y="3054096"/>
            <a:ext cx="903427" cy="182880"/>
          </a:xfrm>
          <a:prstGeom prst="rect">
            <a:avLst/>
          </a:prstGeom>
          <a:solidFill>
            <a:srgbClr val="00D4FF"/>
          </a:solidFill>
          <a:ln w="12700">
            <a:solidFill>
              <a:srgbClr val="00D4FF"/>
            </a:solidFill>
            <a:prstDash val="solid"/>
          </a:ln>
        </p:spPr>
        <p:txBody>
          <a:bodyPr/>
          <a:lstStyle/>
          <a:p>
            <a:endParaRPr lang="en-US"/>
          </a:p>
        </p:txBody>
      </p:sp>
      <p:sp>
        <p:nvSpPr>
          <p:cNvPr id="37" name="Text 35"/>
          <p:cNvSpPr/>
          <p:nvPr/>
        </p:nvSpPr>
        <p:spPr>
          <a:xfrm>
            <a:off x="3246120" y="3264408"/>
            <a:ext cx="1371600" cy="201168"/>
          </a:xfrm>
          <a:prstGeom prst="rect">
            <a:avLst/>
          </a:prstGeom>
          <a:noFill/>
          <a:ln/>
        </p:spPr>
        <p:txBody>
          <a:bodyPr wrap="square" rtlCol="0" anchor="ctr"/>
          <a:lstStyle/>
          <a:p>
            <a:pPr marL="0" indent="0">
              <a:buNone/>
            </a:pPr>
            <a:r>
              <a:rPr lang="en-US" sz="800" dirty="0">
                <a:solidFill>
                  <a:srgbClr val="6060A0"/>
                </a:solidFill>
              </a:rPr>
              <a:t>Mid ($$)</a:t>
            </a:r>
            <a:endParaRPr lang="en-US" sz="800" dirty="0"/>
          </a:p>
        </p:txBody>
      </p:sp>
      <p:sp>
        <p:nvSpPr>
          <p:cNvPr id="38" name="Text 36"/>
          <p:cNvSpPr/>
          <p:nvPr/>
        </p:nvSpPr>
        <p:spPr>
          <a:xfrm>
            <a:off x="4663440" y="3264408"/>
            <a:ext cx="1097280" cy="201168"/>
          </a:xfrm>
          <a:prstGeom prst="rect">
            <a:avLst/>
          </a:prstGeom>
          <a:noFill/>
          <a:ln/>
        </p:spPr>
        <p:txBody>
          <a:bodyPr wrap="square" rtlCol="0" anchor="ctr"/>
          <a:lstStyle/>
          <a:p>
            <a:pPr marL="0" indent="0" algn="r">
              <a:buNone/>
            </a:pPr>
            <a:r>
              <a:rPr lang="en-US" sz="800" dirty="0">
                <a:solidFill>
                  <a:srgbClr val="00D4FF"/>
                </a:solidFill>
              </a:rPr>
              <a:t>F1: 0.77</a:t>
            </a:r>
            <a:endParaRPr lang="en-US" sz="800" dirty="0"/>
          </a:p>
        </p:txBody>
      </p:sp>
      <p:sp>
        <p:nvSpPr>
          <p:cNvPr id="39" name="Shape 37"/>
          <p:cNvSpPr/>
          <p:nvPr/>
        </p:nvSpPr>
        <p:spPr>
          <a:xfrm>
            <a:off x="3291840" y="3621024"/>
            <a:ext cx="2514600" cy="182880"/>
          </a:xfrm>
          <a:prstGeom prst="rect">
            <a:avLst/>
          </a:prstGeom>
          <a:solidFill>
            <a:srgbClr val="1A1A28"/>
          </a:solidFill>
          <a:ln w="12700">
            <a:solidFill>
              <a:srgbClr val="1A1A28"/>
            </a:solidFill>
            <a:prstDash val="solid"/>
          </a:ln>
        </p:spPr>
        <p:txBody>
          <a:bodyPr/>
          <a:lstStyle/>
          <a:p>
            <a:endParaRPr lang="en-US"/>
          </a:p>
        </p:txBody>
      </p:sp>
      <p:sp>
        <p:nvSpPr>
          <p:cNvPr id="40" name="Shape 38"/>
          <p:cNvSpPr/>
          <p:nvPr/>
        </p:nvSpPr>
        <p:spPr>
          <a:xfrm>
            <a:off x="3291840" y="3621024"/>
            <a:ext cx="523037" cy="182880"/>
          </a:xfrm>
          <a:prstGeom prst="rect">
            <a:avLst/>
          </a:prstGeom>
          <a:solidFill>
            <a:srgbClr val="00D4FF"/>
          </a:solidFill>
          <a:ln w="12700">
            <a:solidFill>
              <a:srgbClr val="00D4FF"/>
            </a:solidFill>
            <a:prstDash val="solid"/>
          </a:ln>
        </p:spPr>
        <p:txBody>
          <a:bodyPr/>
          <a:lstStyle/>
          <a:p>
            <a:endParaRPr lang="en-US"/>
          </a:p>
        </p:txBody>
      </p:sp>
      <p:sp>
        <p:nvSpPr>
          <p:cNvPr id="41" name="Text 39"/>
          <p:cNvSpPr/>
          <p:nvPr/>
        </p:nvSpPr>
        <p:spPr>
          <a:xfrm>
            <a:off x="3246120" y="3831336"/>
            <a:ext cx="1371600" cy="201168"/>
          </a:xfrm>
          <a:prstGeom prst="rect">
            <a:avLst/>
          </a:prstGeom>
          <a:noFill/>
          <a:ln/>
        </p:spPr>
        <p:txBody>
          <a:bodyPr wrap="square" rtlCol="0" anchor="ctr"/>
          <a:lstStyle/>
          <a:p>
            <a:pPr marL="0" indent="0">
              <a:buNone/>
            </a:pPr>
            <a:r>
              <a:rPr lang="en-US" sz="800" dirty="0">
                <a:solidFill>
                  <a:srgbClr val="6060A0"/>
                </a:solidFill>
              </a:rPr>
              <a:t>High ($$$)</a:t>
            </a:r>
            <a:endParaRPr lang="en-US" sz="800" dirty="0"/>
          </a:p>
        </p:txBody>
      </p:sp>
      <p:sp>
        <p:nvSpPr>
          <p:cNvPr id="42" name="Text 40"/>
          <p:cNvSpPr/>
          <p:nvPr/>
        </p:nvSpPr>
        <p:spPr>
          <a:xfrm>
            <a:off x="4663440" y="3831336"/>
            <a:ext cx="1097280" cy="201168"/>
          </a:xfrm>
          <a:prstGeom prst="rect">
            <a:avLst/>
          </a:prstGeom>
          <a:noFill/>
          <a:ln/>
        </p:spPr>
        <p:txBody>
          <a:bodyPr wrap="square" rtlCol="0" anchor="ctr"/>
          <a:lstStyle/>
          <a:p>
            <a:pPr marL="0" indent="0" algn="r">
              <a:buNone/>
            </a:pPr>
            <a:r>
              <a:rPr lang="en-US" sz="800" dirty="0">
                <a:solidFill>
                  <a:srgbClr val="00D4FF"/>
                </a:solidFill>
              </a:rPr>
              <a:t>F1: 0.50</a:t>
            </a:r>
            <a:endParaRPr lang="en-US" sz="800" dirty="0"/>
          </a:p>
        </p:txBody>
      </p:sp>
      <p:sp>
        <p:nvSpPr>
          <p:cNvPr id="43" name="Text 41"/>
          <p:cNvSpPr/>
          <p:nvPr/>
        </p:nvSpPr>
        <p:spPr>
          <a:xfrm>
            <a:off x="3246120" y="4206240"/>
            <a:ext cx="2606040" cy="640080"/>
          </a:xfrm>
          <a:prstGeom prst="rect">
            <a:avLst/>
          </a:prstGeom>
          <a:noFill/>
          <a:ln/>
        </p:spPr>
        <p:txBody>
          <a:bodyPr wrap="square" rtlCol="0" anchor="ctr"/>
          <a:lstStyle/>
          <a:p>
            <a:pPr marL="0" indent="0">
              <a:buNone/>
            </a:pPr>
            <a:r>
              <a:rPr lang="en-US" sz="750" i="1" dirty="0">
                <a:solidFill>
                  <a:srgbClr val="404060"/>
                </a:solidFill>
              </a:rPr>
              <a:t>Strong performance with 88% accuracy. Nearly identical to Random Forest with F1 scores of 0.93 (Low), 0.77 (Mid), and 0.50 (High). Simpler model with comparable results.</a:t>
            </a:r>
            <a:endParaRPr lang="en-US" sz="750" dirty="0"/>
          </a:p>
        </p:txBody>
      </p:sp>
      <p:sp>
        <p:nvSpPr>
          <p:cNvPr id="44" name="Shape 42"/>
          <p:cNvSpPr/>
          <p:nvPr/>
        </p:nvSpPr>
        <p:spPr>
          <a:xfrm>
            <a:off x="6080760" y="841248"/>
            <a:ext cx="2788920" cy="416052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45" name="Shape 43"/>
          <p:cNvSpPr/>
          <p:nvPr/>
        </p:nvSpPr>
        <p:spPr>
          <a:xfrm>
            <a:off x="6080760" y="841248"/>
            <a:ext cx="2788920" cy="54864"/>
          </a:xfrm>
          <a:prstGeom prst="rect">
            <a:avLst/>
          </a:prstGeom>
          <a:solidFill>
            <a:srgbClr val="F472B6"/>
          </a:solidFill>
          <a:ln w="12700">
            <a:solidFill>
              <a:srgbClr val="F472B6"/>
            </a:solidFill>
            <a:prstDash val="solid"/>
          </a:ln>
        </p:spPr>
        <p:txBody>
          <a:bodyPr/>
          <a:lstStyle/>
          <a:p>
            <a:endParaRPr lang="en-US"/>
          </a:p>
        </p:txBody>
      </p:sp>
      <p:sp>
        <p:nvSpPr>
          <p:cNvPr id="46" name="Shape 44"/>
          <p:cNvSpPr/>
          <p:nvPr/>
        </p:nvSpPr>
        <p:spPr>
          <a:xfrm>
            <a:off x="7818120" y="960120"/>
            <a:ext cx="960120" cy="256032"/>
          </a:xfrm>
          <a:prstGeom prst="rect">
            <a:avLst/>
          </a:prstGeom>
          <a:solidFill>
            <a:srgbClr val="F472B6">
              <a:alpha val="20000"/>
            </a:srgbClr>
          </a:solidFill>
          <a:ln w="6350">
            <a:solidFill>
              <a:srgbClr val="F472B6"/>
            </a:solidFill>
            <a:prstDash val="solid"/>
          </a:ln>
        </p:spPr>
        <p:txBody>
          <a:bodyPr/>
          <a:lstStyle/>
          <a:p>
            <a:endParaRPr lang="en-US"/>
          </a:p>
        </p:txBody>
      </p:sp>
      <p:sp>
        <p:nvSpPr>
          <p:cNvPr id="47" name="Text 45"/>
          <p:cNvSpPr/>
          <p:nvPr/>
        </p:nvSpPr>
        <p:spPr>
          <a:xfrm>
            <a:off x="7818120" y="960120"/>
            <a:ext cx="960120" cy="256032"/>
          </a:xfrm>
          <a:prstGeom prst="rect">
            <a:avLst/>
          </a:prstGeom>
          <a:noFill/>
          <a:ln/>
        </p:spPr>
        <p:txBody>
          <a:bodyPr wrap="square" rtlCol="0" anchor="ctr"/>
          <a:lstStyle/>
          <a:p>
            <a:pPr marL="0" indent="0" algn="ctr">
              <a:buNone/>
            </a:pPr>
            <a:r>
              <a:rPr lang="en-US" sz="700" b="1" kern="0" spc="100" dirty="0">
                <a:solidFill>
                  <a:srgbClr val="F472B6"/>
                </a:solidFill>
              </a:rPr>
              <a:t>WEAKEST</a:t>
            </a:r>
            <a:endParaRPr lang="en-US" sz="700" dirty="0"/>
          </a:p>
        </p:txBody>
      </p:sp>
      <p:sp>
        <p:nvSpPr>
          <p:cNvPr id="48" name="Text 46"/>
          <p:cNvSpPr/>
          <p:nvPr/>
        </p:nvSpPr>
        <p:spPr>
          <a:xfrm>
            <a:off x="6172200" y="914400"/>
            <a:ext cx="1645920" cy="347472"/>
          </a:xfrm>
          <a:prstGeom prst="rect">
            <a:avLst/>
          </a:prstGeom>
          <a:noFill/>
          <a:ln/>
        </p:spPr>
        <p:txBody>
          <a:bodyPr wrap="square" rtlCol="0" anchor="ctr"/>
          <a:lstStyle/>
          <a:p>
            <a:pPr marL="0" indent="0">
              <a:buNone/>
            </a:pPr>
            <a:r>
              <a:rPr lang="en-US" sz="1000" b="1" dirty="0">
                <a:solidFill>
                  <a:srgbClr val="E8E8FF"/>
                </a:solidFill>
              </a:rPr>
              <a:t>Logistic Regression</a:t>
            </a:r>
            <a:endParaRPr lang="en-US" sz="1000" dirty="0"/>
          </a:p>
        </p:txBody>
      </p:sp>
      <p:sp>
        <p:nvSpPr>
          <p:cNvPr id="49" name="Text 47"/>
          <p:cNvSpPr/>
          <p:nvPr/>
        </p:nvSpPr>
        <p:spPr>
          <a:xfrm>
            <a:off x="6172200" y="1325880"/>
            <a:ext cx="2560320" cy="777240"/>
          </a:xfrm>
          <a:prstGeom prst="rect">
            <a:avLst/>
          </a:prstGeom>
          <a:noFill/>
          <a:ln/>
        </p:spPr>
        <p:txBody>
          <a:bodyPr wrap="square" rtlCol="0" anchor="ctr"/>
          <a:lstStyle/>
          <a:p>
            <a:pPr marL="0" indent="0" algn="ctr">
              <a:buNone/>
            </a:pPr>
            <a:r>
              <a:rPr lang="en-US" sz="4800" b="1" dirty="0">
                <a:solidFill>
                  <a:srgbClr val="F472B6"/>
                </a:solidFill>
                <a:latin typeface="Trebuchet MS" pitchFamily="34" charset="0"/>
                <a:ea typeface="Trebuchet MS" pitchFamily="34" charset="-122"/>
                <a:cs typeface="Trebuchet MS" pitchFamily="34" charset="-120"/>
              </a:rPr>
              <a:t>23%</a:t>
            </a:r>
            <a:endParaRPr lang="en-US" sz="4800" dirty="0"/>
          </a:p>
        </p:txBody>
      </p:sp>
      <p:sp>
        <p:nvSpPr>
          <p:cNvPr id="50" name="Text 48"/>
          <p:cNvSpPr/>
          <p:nvPr/>
        </p:nvSpPr>
        <p:spPr>
          <a:xfrm>
            <a:off x="6172200" y="2103120"/>
            <a:ext cx="2560320" cy="256032"/>
          </a:xfrm>
          <a:prstGeom prst="rect">
            <a:avLst/>
          </a:prstGeom>
          <a:noFill/>
          <a:ln/>
        </p:spPr>
        <p:txBody>
          <a:bodyPr wrap="square" rtlCol="0" anchor="ctr"/>
          <a:lstStyle/>
          <a:p>
            <a:pPr marL="0" indent="0" algn="ctr">
              <a:buNone/>
            </a:pPr>
            <a:r>
              <a:rPr lang="en-US" sz="800" kern="0" spc="100" dirty="0">
                <a:solidFill>
                  <a:srgbClr val="6060A0"/>
                </a:solidFill>
              </a:rPr>
              <a:t>Accuracy</a:t>
            </a:r>
            <a:endParaRPr lang="en-US" sz="800" dirty="0"/>
          </a:p>
        </p:txBody>
      </p:sp>
      <p:sp>
        <p:nvSpPr>
          <p:cNvPr id="51" name="Shape 49"/>
          <p:cNvSpPr/>
          <p:nvPr/>
        </p:nvSpPr>
        <p:spPr>
          <a:xfrm>
            <a:off x="6217920" y="2487168"/>
            <a:ext cx="2514600" cy="182880"/>
          </a:xfrm>
          <a:prstGeom prst="rect">
            <a:avLst/>
          </a:prstGeom>
          <a:solidFill>
            <a:srgbClr val="1A1A28"/>
          </a:solidFill>
          <a:ln w="12700">
            <a:solidFill>
              <a:srgbClr val="1A1A28"/>
            </a:solidFill>
            <a:prstDash val="solid"/>
          </a:ln>
        </p:spPr>
        <p:txBody>
          <a:bodyPr/>
          <a:lstStyle/>
          <a:p>
            <a:endParaRPr lang="en-US"/>
          </a:p>
        </p:txBody>
      </p:sp>
      <p:sp>
        <p:nvSpPr>
          <p:cNvPr id="52" name="Shape 50"/>
          <p:cNvSpPr/>
          <p:nvPr/>
        </p:nvSpPr>
        <p:spPr>
          <a:xfrm>
            <a:off x="6217920" y="2487168"/>
            <a:ext cx="594360" cy="182880"/>
          </a:xfrm>
          <a:prstGeom prst="rect">
            <a:avLst/>
          </a:prstGeom>
          <a:solidFill>
            <a:srgbClr val="F472B6"/>
          </a:solidFill>
          <a:ln w="12700">
            <a:solidFill>
              <a:srgbClr val="F472B6"/>
            </a:solidFill>
            <a:prstDash val="solid"/>
          </a:ln>
        </p:spPr>
        <p:txBody>
          <a:bodyPr/>
          <a:lstStyle/>
          <a:p>
            <a:endParaRPr lang="en-US"/>
          </a:p>
        </p:txBody>
      </p:sp>
      <p:sp>
        <p:nvSpPr>
          <p:cNvPr id="53" name="Text 51"/>
          <p:cNvSpPr/>
          <p:nvPr/>
        </p:nvSpPr>
        <p:spPr>
          <a:xfrm>
            <a:off x="6172200" y="2697480"/>
            <a:ext cx="1371600" cy="201168"/>
          </a:xfrm>
          <a:prstGeom prst="rect">
            <a:avLst/>
          </a:prstGeom>
          <a:noFill/>
          <a:ln/>
        </p:spPr>
        <p:txBody>
          <a:bodyPr wrap="square" rtlCol="0" anchor="ctr"/>
          <a:lstStyle/>
          <a:p>
            <a:pPr marL="0" indent="0">
              <a:buNone/>
            </a:pPr>
            <a:r>
              <a:rPr lang="en-US" sz="800" dirty="0">
                <a:solidFill>
                  <a:srgbClr val="6060A0"/>
                </a:solidFill>
              </a:rPr>
              <a:t>Low ($)</a:t>
            </a:r>
            <a:endParaRPr lang="en-US" sz="800" dirty="0"/>
          </a:p>
        </p:txBody>
      </p:sp>
      <p:sp>
        <p:nvSpPr>
          <p:cNvPr id="54" name="Text 52"/>
          <p:cNvSpPr/>
          <p:nvPr/>
        </p:nvSpPr>
        <p:spPr>
          <a:xfrm>
            <a:off x="7589520" y="2697480"/>
            <a:ext cx="1097280" cy="201168"/>
          </a:xfrm>
          <a:prstGeom prst="rect">
            <a:avLst/>
          </a:prstGeom>
          <a:noFill/>
          <a:ln/>
        </p:spPr>
        <p:txBody>
          <a:bodyPr wrap="square" rtlCol="0" anchor="ctr"/>
          <a:lstStyle/>
          <a:p>
            <a:pPr marL="0" indent="0" algn="r">
              <a:buNone/>
            </a:pPr>
            <a:r>
              <a:rPr lang="en-US" sz="800" dirty="0">
                <a:solidFill>
                  <a:srgbClr val="F472B6"/>
                </a:solidFill>
              </a:rPr>
              <a:t>F1: 0.20</a:t>
            </a:r>
            <a:endParaRPr lang="en-US" sz="800" dirty="0"/>
          </a:p>
        </p:txBody>
      </p:sp>
      <p:sp>
        <p:nvSpPr>
          <p:cNvPr id="55" name="Shape 53"/>
          <p:cNvSpPr/>
          <p:nvPr/>
        </p:nvSpPr>
        <p:spPr>
          <a:xfrm>
            <a:off x="6217920" y="3054096"/>
            <a:ext cx="2514600" cy="182880"/>
          </a:xfrm>
          <a:prstGeom prst="rect">
            <a:avLst/>
          </a:prstGeom>
          <a:solidFill>
            <a:srgbClr val="1A1A28"/>
          </a:solidFill>
          <a:ln w="12700">
            <a:solidFill>
              <a:srgbClr val="1A1A28"/>
            </a:solidFill>
            <a:prstDash val="solid"/>
          </a:ln>
        </p:spPr>
        <p:txBody>
          <a:bodyPr/>
          <a:lstStyle/>
          <a:p>
            <a:endParaRPr lang="en-US"/>
          </a:p>
        </p:txBody>
      </p:sp>
      <p:sp>
        <p:nvSpPr>
          <p:cNvPr id="56" name="Shape 54"/>
          <p:cNvSpPr/>
          <p:nvPr/>
        </p:nvSpPr>
        <p:spPr>
          <a:xfrm>
            <a:off x="6217920" y="3054096"/>
            <a:ext cx="427939" cy="182880"/>
          </a:xfrm>
          <a:prstGeom prst="rect">
            <a:avLst/>
          </a:prstGeom>
          <a:solidFill>
            <a:srgbClr val="F472B6"/>
          </a:solidFill>
          <a:ln w="12700">
            <a:solidFill>
              <a:srgbClr val="F472B6"/>
            </a:solidFill>
            <a:prstDash val="solid"/>
          </a:ln>
        </p:spPr>
        <p:txBody>
          <a:bodyPr/>
          <a:lstStyle/>
          <a:p>
            <a:endParaRPr lang="en-US"/>
          </a:p>
        </p:txBody>
      </p:sp>
      <p:sp>
        <p:nvSpPr>
          <p:cNvPr id="57" name="Text 55"/>
          <p:cNvSpPr/>
          <p:nvPr/>
        </p:nvSpPr>
        <p:spPr>
          <a:xfrm>
            <a:off x="6172200" y="3264408"/>
            <a:ext cx="1371600" cy="201168"/>
          </a:xfrm>
          <a:prstGeom prst="rect">
            <a:avLst/>
          </a:prstGeom>
          <a:noFill/>
          <a:ln/>
        </p:spPr>
        <p:txBody>
          <a:bodyPr wrap="square" rtlCol="0" anchor="ctr"/>
          <a:lstStyle/>
          <a:p>
            <a:pPr marL="0" indent="0">
              <a:buNone/>
            </a:pPr>
            <a:r>
              <a:rPr lang="en-US" sz="800" dirty="0">
                <a:solidFill>
                  <a:srgbClr val="6060A0"/>
                </a:solidFill>
              </a:rPr>
              <a:t>Mid ($$)</a:t>
            </a:r>
            <a:endParaRPr lang="en-US" sz="800" dirty="0"/>
          </a:p>
        </p:txBody>
      </p:sp>
      <p:sp>
        <p:nvSpPr>
          <p:cNvPr id="58" name="Text 56"/>
          <p:cNvSpPr/>
          <p:nvPr/>
        </p:nvSpPr>
        <p:spPr>
          <a:xfrm>
            <a:off x="7589520" y="3264408"/>
            <a:ext cx="1097280" cy="201168"/>
          </a:xfrm>
          <a:prstGeom prst="rect">
            <a:avLst/>
          </a:prstGeom>
          <a:noFill/>
          <a:ln/>
        </p:spPr>
        <p:txBody>
          <a:bodyPr wrap="square" rtlCol="0" anchor="ctr"/>
          <a:lstStyle/>
          <a:p>
            <a:pPr marL="0" indent="0" algn="r">
              <a:buNone/>
            </a:pPr>
            <a:r>
              <a:rPr lang="en-US" sz="800" dirty="0">
                <a:solidFill>
                  <a:srgbClr val="F472B6"/>
                </a:solidFill>
              </a:rPr>
              <a:t>F1: 0.33</a:t>
            </a:r>
            <a:endParaRPr lang="en-US" sz="800" dirty="0"/>
          </a:p>
        </p:txBody>
      </p:sp>
      <p:sp>
        <p:nvSpPr>
          <p:cNvPr id="59" name="Shape 57"/>
          <p:cNvSpPr/>
          <p:nvPr/>
        </p:nvSpPr>
        <p:spPr>
          <a:xfrm>
            <a:off x="6217920" y="3621024"/>
            <a:ext cx="2514600" cy="182880"/>
          </a:xfrm>
          <a:prstGeom prst="rect">
            <a:avLst/>
          </a:prstGeom>
          <a:solidFill>
            <a:srgbClr val="1A1A28"/>
          </a:solidFill>
          <a:ln w="12700">
            <a:solidFill>
              <a:srgbClr val="1A1A28"/>
            </a:solidFill>
            <a:prstDash val="solid"/>
          </a:ln>
        </p:spPr>
        <p:txBody>
          <a:bodyPr/>
          <a:lstStyle/>
          <a:p>
            <a:endParaRPr lang="en-US"/>
          </a:p>
        </p:txBody>
      </p:sp>
      <p:sp>
        <p:nvSpPr>
          <p:cNvPr id="60" name="Shape 58"/>
          <p:cNvSpPr/>
          <p:nvPr/>
        </p:nvSpPr>
        <p:spPr>
          <a:xfrm>
            <a:off x="6217920" y="3621024"/>
            <a:ext cx="285293" cy="182880"/>
          </a:xfrm>
          <a:prstGeom prst="rect">
            <a:avLst/>
          </a:prstGeom>
          <a:solidFill>
            <a:srgbClr val="F472B6"/>
          </a:solidFill>
          <a:ln w="12700">
            <a:solidFill>
              <a:srgbClr val="F472B6"/>
            </a:solidFill>
            <a:prstDash val="solid"/>
          </a:ln>
        </p:spPr>
        <p:txBody>
          <a:bodyPr/>
          <a:lstStyle/>
          <a:p>
            <a:endParaRPr lang="en-US"/>
          </a:p>
        </p:txBody>
      </p:sp>
      <p:sp>
        <p:nvSpPr>
          <p:cNvPr id="61" name="Text 59"/>
          <p:cNvSpPr/>
          <p:nvPr/>
        </p:nvSpPr>
        <p:spPr>
          <a:xfrm>
            <a:off x="6172200" y="3831336"/>
            <a:ext cx="1371600" cy="201168"/>
          </a:xfrm>
          <a:prstGeom prst="rect">
            <a:avLst/>
          </a:prstGeom>
          <a:noFill/>
          <a:ln/>
        </p:spPr>
        <p:txBody>
          <a:bodyPr wrap="square" rtlCol="0" anchor="ctr"/>
          <a:lstStyle/>
          <a:p>
            <a:pPr marL="0" indent="0">
              <a:buNone/>
            </a:pPr>
            <a:r>
              <a:rPr lang="en-US" sz="800" dirty="0">
                <a:solidFill>
                  <a:srgbClr val="6060A0"/>
                </a:solidFill>
              </a:rPr>
              <a:t>High ($$$)</a:t>
            </a:r>
            <a:endParaRPr lang="en-US" sz="800" dirty="0"/>
          </a:p>
        </p:txBody>
      </p:sp>
      <p:sp>
        <p:nvSpPr>
          <p:cNvPr id="62" name="Text 60"/>
          <p:cNvSpPr/>
          <p:nvPr/>
        </p:nvSpPr>
        <p:spPr>
          <a:xfrm>
            <a:off x="7589520" y="3831336"/>
            <a:ext cx="1097280" cy="201168"/>
          </a:xfrm>
          <a:prstGeom prst="rect">
            <a:avLst/>
          </a:prstGeom>
          <a:noFill/>
          <a:ln/>
        </p:spPr>
        <p:txBody>
          <a:bodyPr wrap="square" rtlCol="0" anchor="ctr"/>
          <a:lstStyle/>
          <a:p>
            <a:pPr marL="0" indent="0" algn="r">
              <a:buNone/>
            </a:pPr>
            <a:r>
              <a:rPr lang="en-US" sz="800" dirty="0">
                <a:solidFill>
                  <a:srgbClr val="F472B6"/>
                </a:solidFill>
              </a:rPr>
              <a:t>F1: 0.06</a:t>
            </a:r>
            <a:endParaRPr lang="en-US" sz="800" dirty="0"/>
          </a:p>
        </p:txBody>
      </p:sp>
      <p:sp>
        <p:nvSpPr>
          <p:cNvPr id="63" name="Text 61"/>
          <p:cNvSpPr/>
          <p:nvPr/>
        </p:nvSpPr>
        <p:spPr>
          <a:xfrm>
            <a:off x="6172200" y="4206240"/>
            <a:ext cx="2606040" cy="640080"/>
          </a:xfrm>
          <a:prstGeom prst="rect">
            <a:avLst/>
          </a:prstGeom>
          <a:noFill/>
          <a:ln/>
        </p:spPr>
        <p:txBody>
          <a:bodyPr wrap="square" rtlCol="0" anchor="ctr"/>
          <a:lstStyle/>
          <a:p>
            <a:pPr marL="0" indent="0">
              <a:buNone/>
            </a:pPr>
            <a:r>
              <a:rPr lang="en-US" sz="750" i="1" dirty="0">
                <a:solidFill>
                  <a:srgbClr val="404060"/>
                </a:solidFill>
              </a:rPr>
              <a:t>Weakest performer at 23% accuracy. F1 scores: 0.20 (Low), 0.33 (Mid), 0.06 (High). Features show non-linear relationships with price, making linear models ineffective.</a:t>
            </a:r>
            <a:endParaRPr lang="en-US" sz="750" dirty="0"/>
          </a:p>
        </p:txBody>
      </p:sp>
      <p:sp>
        <p:nvSpPr>
          <p:cNvPr id="64" name="Shape 62"/>
          <p:cNvSpPr/>
          <p:nvPr/>
        </p:nvSpPr>
        <p:spPr>
          <a:xfrm>
            <a:off x="228600" y="4700100"/>
            <a:ext cx="8686800" cy="438912"/>
          </a:xfrm>
          <a:prstGeom prst="rect">
            <a:avLst/>
          </a:prstGeom>
          <a:solidFill>
            <a:srgbClr val="080810"/>
          </a:solidFill>
          <a:ln w="6350">
            <a:solidFill>
              <a:srgbClr val="2A2A44"/>
            </a:solidFill>
            <a:prstDash val="solid"/>
          </a:ln>
        </p:spPr>
        <p:txBody>
          <a:bodyPr/>
          <a:lstStyle/>
          <a:p>
            <a:endParaRPr lang="en-US"/>
          </a:p>
        </p:txBody>
      </p:sp>
      <p:sp>
        <p:nvSpPr>
          <p:cNvPr id="65" name="Text 63"/>
          <p:cNvSpPr/>
          <p:nvPr/>
        </p:nvSpPr>
        <p:spPr>
          <a:xfrm>
            <a:off x="320040" y="4700100"/>
            <a:ext cx="8549640" cy="438912"/>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models = {'Random Forest': RandomForestClassifier(n_estimators=100, class_weight='balanced'),</a:t>
            </a:r>
            <a:endParaRPr lang="en-US" sz="750" dirty="0"/>
          </a:p>
          <a:p>
            <a:pPr marL="0" indent="0">
              <a:buNone/>
            </a:pPr>
            <a:r>
              <a:rPr lang="en-US" sz="750" dirty="0">
                <a:solidFill>
                  <a:srgbClr val="A0FFA0"/>
                </a:solidFill>
                <a:latin typeface="Consolas" pitchFamily="34" charset="0"/>
                <a:ea typeface="Consolas" pitchFamily="34" charset="-122"/>
                <a:cs typeface="Consolas" pitchFamily="34" charset="-120"/>
              </a:rPr>
              <a:t>          'Decision Tree': DecisionTreeClassifier(class_weight='balanced'),</a:t>
            </a:r>
            <a:endParaRPr lang="en-US" sz="750" dirty="0"/>
          </a:p>
          <a:p>
            <a:pPr marL="0" indent="0">
              <a:buNone/>
            </a:pPr>
            <a:r>
              <a:rPr lang="en-US" sz="750" dirty="0">
                <a:solidFill>
                  <a:srgbClr val="A0FFA0"/>
                </a:solidFill>
                <a:latin typeface="Consolas" pitchFamily="34" charset="0"/>
                <a:ea typeface="Consolas" pitchFamily="34" charset="-122"/>
                <a:cs typeface="Consolas" pitchFamily="34" charset="-120"/>
              </a:rPr>
              <a:t>          'Logistic Regression': LogisticRegression(class_weight='balanced', max_iter=2000)}</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ML · Feature Importance — Random Forest</a:t>
            </a:r>
            <a:endParaRPr lang="en-US" sz="2600" dirty="0"/>
          </a:p>
        </p:txBody>
      </p:sp>
      <p:sp>
        <p:nvSpPr>
          <p:cNvPr id="4" name="Shape 2"/>
          <p:cNvSpPr/>
          <p:nvPr/>
        </p:nvSpPr>
        <p:spPr>
          <a:xfrm>
            <a:off x="228600" y="868680"/>
            <a:ext cx="5303520" cy="356616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graphicFrame>
        <p:nvGraphicFramePr>
          <p:cNvPr id="5" name="Chart 0"/>
          <p:cNvGraphicFramePr/>
          <p:nvPr>
            <p:extLst>
              <p:ext uri="{D42A27DB-BD31-4B8C-83A1-F6EECF244321}">
                <p14:modId xmlns:p14="http://schemas.microsoft.com/office/powerpoint/2010/main" val="3395404435"/>
              </p:ext>
            </p:extLst>
          </p:nvPr>
        </p:nvGraphicFramePr>
        <p:xfrm>
          <a:off x="320040" y="914400"/>
          <a:ext cx="51206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60720" y="868680"/>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7" name="Text 4"/>
          <p:cNvSpPr/>
          <p:nvPr/>
        </p:nvSpPr>
        <p:spPr>
          <a:xfrm>
            <a:off x="5760720" y="868680"/>
            <a:ext cx="1828800" cy="228600"/>
          </a:xfrm>
          <a:prstGeom prst="rect">
            <a:avLst/>
          </a:prstGeom>
          <a:noFill/>
          <a:ln/>
        </p:spPr>
        <p:txBody>
          <a:bodyPr wrap="square" rtlCol="0" anchor="ctr"/>
          <a:lstStyle/>
          <a:p>
            <a:pPr marL="0" indent="0" algn="ctr">
              <a:buNone/>
            </a:pPr>
            <a:r>
              <a:rPr lang="en-US" sz="800" b="1" kern="0" spc="200" dirty="0">
                <a:solidFill>
                  <a:srgbClr val="FF6B35"/>
                </a:solidFill>
              </a:rPr>
              <a:t>INTERPRETATION</a:t>
            </a:r>
            <a:endParaRPr lang="en-US" sz="800" dirty="0"/>
          </a:p>
        </p:txBody>
      </p:sp>
      <p:sp>
        <p:nvSpPr>
          <p:cNvPr id="8" name="Shape 5"/>
          <p:cNvSpPr/>
          <p:nvPr/>
        </p:nvSpPr>
        <p:spPr>
          <a:xfrm>
            <a:off x="5760720" y="1188720"/>
            <a:ext cx="3154680" cy="5486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9" name="Text 6"/>
          <p:cNvSpPr/>
          <p:nvPr/>
        </p:nvSpPr>
        <p:spPr>
          <a:xfrm>
            <a:off x="5760720" y="1216152"/>
            <a:ext cx="548640" cy="493776"/>
          </a:xfrm>
          <a:prstGeom prst="rect">
            <a:avLst/>
          </a:prstGeom>
          <a:noFill/>
          <a:ln/>
        </p:spPr>
        <p:txBody>
          <a:bodyPr wrap="square" rtlCol="0" anchor="ctr"/>
          <a:lstStyle/>
          <a:p>
            <a:pPr marL="0" indent="0" algn="ctr">
              <a:buNone/>
            </a:pPr>
            <a:r>
              <a:rPr lang="en-US" sz="1400" b="1" dirty="0">
                <a:solidFill>
                  <a:srgbClr val="FF6B35"/>
                </a:solidFill>
              </a:rPr>
              <a:t>0.24</a:t>
            </a:r>
            <a:endParaRPr lang="en-US" sz="1400" dirty="0"/>
          </a:p>
        </p:txBody>
      </p:sp>
      <p:sp>
        <p:nvSpPr>
          <p:cNvPr id="10" name="Text 7"/>
          <p:cNvSpPr/>
          <p:nvPr/>
        </p:nvSpPr>
        <p:spPr>
          <a:xfrm>
            <a:off x="6355080" y="1216152"/>
            <a:ext cx="1188720" cy="228600"/>
          </a:xfrm>
          <a:prstGeom prst="rect">
            <a:avLst/>
          </a:prstGeom>
          <a:noFill/>
          <a:ln/>
        </p:spPr>
        <p:txBody>
          <a:bodyPr wrap="square" rtlCol="0" anchor="ctr"/>
          <a:lstStyle/>
          <a:p>
            <a:pPr marL="0" indent="0">
              <a:buNone/>
            </a:pPr>
            <a:r>
              <a:rPr lang="en-US" sz="850" b="1" dirty="0">
                <a:solidFill>
                  <a:srgbClr val="E8E8FF"/>
                </a:solidFill>
                <a:latin typeface="Consolas" pitchFamily="34" charset="0"/>
                <a:ea typeface="Consolas" pitchFamily="34" charset="-122"/>
                <a:cs typeface="Consolas" pitchFamily="34" charset="-120"/>
              </a:rPr>
              <a:t>total_photos</a:t>
            </a:r>
            <a:endParaRPr lang="en-US" sz="850" dirty="0"/>
          </a:p>
        </p:txBody>
      </p:sp>
      <p:sp>
        <p:nvSpPr>
          <p:cNvPr id="11" name="Text 8"/>
          <p:cNvSpPr/>
          <p:nvPr/>
        </p:nvSpPr>
        <p:spPr>
          <a:xfrm>
            <a:off x="6355080" y="1444752"/>
            <a:ext cx="1600200" cy="228600"/>
          </a:xfrm>
          <a:prstGeom prst="rect">
            <a:avLst/>
          </a:prstGeom>
          <a:noFill/>
          <a:ln/>
        </p:spPr>
        <p:txBody>
          <a:bodyPr wrap="square" rtlCol="0" anchor="ctr"/>
          <a:lstStyle/>
          <a:p>
            <a:pPr marL="0" indent="0">
              <a:buNone/>
            </a:pPr>
            <a:r>
              <a:rPr lang="en-US" sz="750" dirty="0">
                <a:solidFill>
                  <a:srgbClr val="6060A0"/>
                </a:solidFill>
              </a:rPr>
              <a:t>Most predictive — popular venues tend to be pricier</a:t>
            </a:r>
            <a:endParaRPr lang="en-US" sz="750" dirty="0"/>
          </a:p>
        </p:txBody>
      </p:sp>
      <p:sp>
        <p:nvSpPr>
          <p:cNvPr id="12" name="Shape 9"/>
          <p:cNvSpPr/>
          <p:nvPr/>
        </p:nvSpPr>
        <p:spPr>
          <a:xfrm>
            <a:off x="5760720" y="1810512"/>
            <a:ext cx="3154680" cy="5486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13" name="Text 10"/>
          <p:cNvSpPr/>
          <p:nvPr/>
        </p:nvSpPr>
        <p:spPr>
          <a:xfrm>
            <a:off x="5760720" y="1837944"/>
            <a:ext cx="548640" cy="493776"/>
          </a:xfrm>
          <a:prstGeom prst="rect">
            <a:avLst/>
          </a:prstGeom>
          <a:noFill/>
          <a:ln/>
        </p:spPr>
        <p:txBody>
          <a:bodyPr wrap="square" rtlCol="0" anchor="ctr"/>
          <a:lstStyle/>
          <a:p>
            <a:pPr marL="0" indent="0" algn="ctr">
              <a:buNone/>
            </a:pPr>
            <a:r>
              <a:rPr lang="en-US" sz="1400" b="1" dirty="0">
                <a:solidFill>
                  <a:srgbClr val="00D4FF"/>
                </a:solidFill>
              </a:rPr>
              <a:t>0.21</a:t>
            </a:r>
            <a:endParaRPr lang="en-US" sz="1400" dirty="0"/>
          </a:p>
        </p:txBody>
      </p:sp>
      <p:sp>
        <p:nvSpPr>
          <p:cNvPr id="14" name="Text 11"/>
          <p:cNvSpPr/>
          <p:nvPr/>
        </p:nvSpPr>
        <p:spPr>
          <a:xfrm>
            <a:off x="6355080" y="1837944"/>
            <a:ext cx="1188720" cy="228600"/>
          </a:xfrm>
          <a:prstGeom prst="rect">
            <a:avLst/>
          </a:prstGeom>
          <a:noFill/>
          <a:ln/>
        </p:spPr>
        <p:txBody>
          <a:bodyPr wrap="square" rtlCol="0" anchor="ctr"/>
          <a:lstStyle/>
          <a:p>
            <a:pPr marL="0" indent="0">
              <a:buNone/>
            </a:pPr>
            <a:r>
              <a:rPr lang="en-US" sz="850" b="1" dirty="0">
                <a:solidFill>
                  <a:srgbClr val="E8E8FF"/>
                </a:solidFill>
                <a:latin typeface="Consolas" pitchFamily="34" charset="0"/>
                <a:ea typeface="Consolas" pitchFamily="34" charset="-122"/>
                <a:cs typeface="Consolas" pitchFamily="34" charset="-120"/>
              </a:rPr>
              <a:t>neighborhoods</a:t>
            </a:r>
            <a:endParaRPr lang="en-US" sz="850" dirty="0"/>
          </a:p>
        </p:txBody>
      </p:sp>
      <p:sp>
        <p:nvSpPr>
          <p:cNvPr id="15" name="Text 12"/>
          <p:cNvSpPr/>
          <p:nvPr/>
        </p:nvSpPr>
        <p:spPr>
          <a:xfrm>
            <a:off x="6355080" y="2066544"/>
            <a:ext cx="1600200" cy="228600"/>
          </a:xfrm>
          <a:prstGeom prst="rect">
            <a:avLst/>
          </a:prstGeom>
          <a:noFill/>
          <a:ln/>
        </p:spPr>
        <p:txBody>
          <a:bodyPr wrap="square" rtlCol="0" anchor="ctr"/>
          <a:lstStyle/>
          <a:p>
            <a:pPr marL="0" indent="0">
              <a:buNone/>
            </a:pPr>
            <a:r>
              <a:rPr lang="en-US" sz="750" dirty="0">
                <a:solidFill>
                  <a:srgbClr val="6060A0"/>
                </a:solidFill>
              </a:rPr>
              <a:t>Location matters — district signals price tier</a:t>
            </a:r>
            <a:endParaRPr lang="en-US" sz="750" dirty="0"/>
          </a:p>
        </p:txBody>
      </p:sp>
      <p:sp>
        <p:nvSpPr>
          <p:cNvPr id="16" name="Shape 13"/>
          <p:cNvSpPr/>
          <p:nvPr/>
        </p:nvSpPr>
        <p:spPr>
          <a:xfrm>
            <a:off x="5760720" y="2432304"/>
            <a:ext cx="3154680" cy="5486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17" name="Text 14"/>
          <p:cNvSpPr/>
          <p:nvPr/>
        </p:nvSpPr>
        <p:spPr>
          <a:xfrm>
            <a:off x="5760720" y="2459736"/>
            <a:ext cx="548640" cy="493776"/>
          </a:xfrm>
          <a:prstGeom prst="rect">
            <a:avLst/>
          </a:prstGeom>
          <a:noFill/>
          <a:ln/>
        </p:spPr>
        <p:txBody>
          <a:bodyPr wrap="square" rtlCol="0" anchor="ctr"/>
          <a:lstStyle/>
          <a:p>
            <a:pPr marL="0" indent="0" algn="ctr">
              <a:buNone/>
            </a:pPr>
            <a:r>
              <a:rPr lang="en-US" sz="1400" b="1" dirty="0">
                <a:solidFill>
                  <a:srgbClr val="4ADE80"/>
                </a:solidFill>
              </a:rPr>
              <a:t>0.20</a:t>
            </a:r>
            <a:endParaRPr lang="en-US" sz="1400" dirty="0"/>
          </a:p>
        </p:txBody>
      </p:sp>
      <p:sp>
        <p:nvSpPr>
          <p:cNvPr id="18" name="Text 15"/>
          <p:cNvSpPr/>
          <p:nvPr/>
        </p:nvSpPr>
        <p:spPr>
          <a:xfrm>
            <a:off x="6355080" y="2459736"/>
            <a:ext cx="1188720" cy="228600"/>
          </a:xfrm>
          <a:prstGeom prst="rect">
            <a:avLst/>
          </a:prstGeom>
          <a:noFill/>
          <a:ln/>
        </p:spPr>
        <p:txBody>
          <a:bodyPr wrap="square" rtlCol="0" anchor="ctr"/>
          <a:lstStyle/>
          <a:p>
            <a:pPr marL="0" indent="0">
              <a:buNone/>
            </a:pPr>
            <a:r>
              <a:rPr lang="en-US" sz="850" b="1" dirty="0">
                <a:solidFill>
                  <a:srgbClr val="E8E8FF"/>
                </a:solidFill>
                <a:latin typeface="Consolas" pitchFamily="34" charset="0"/>
                <a:ea typeface="Consolas" pitchFamily="34" charset="-122"/>
                <a:cs typeface="Consolas" pitchFamily="34" charset="-120"/>
              </a:rPr>
              <a:t>category</a:t>
            </a:r>
            <a:endParaRPr lang="en-US" sz="850" dirty="0"/>
          </a:p>
        </p:txBody>
      </p:sp>
      <p:sp>
        <p:nvSpPr>
          <p:cNvPr id="19" name="Text 16"/>
          <p:cNvSpPr/>
          <p:nvPr/>
        </p:nvSpPr>
        <p:spPr>
          <a:xfrm>
            <a:off x="6355080" y="2688336"/>
            <a:ext cx="1600200" cy="228600"/>
          </a:xfrm>
          <a:prstGeom prst="rect">
            <a:avLst/>
          </a:prstGeom>
          <a:noFill/>
          <a:ln/>
        </p:spPr>
        <p:txBody>
          <a:bodyPr wrap="square" rtlCol="0" anchor="ctr"/>
          <a:lstStyle/>
          <a:p>
            <a:pPr marL="0" indent="0">
              <a:buNone/>
            </a:pPr>
            <a:r>
              <a:rPr lang="en-US" sz="750" dirty="0">
                <a:solidFill>
                  <a:srgbClr val="6060A0"/>
                </a:solidFill>
              </a:rPr>
              <a:t>Venue type partially encodes price expectations</a:t>
            </a:r>
            <a:endParaRPr lang="en-US" sz="750" dirty="0"/>
          </a:p>
        </p:txBody>
      </p:sp>
      <p:sp>
        <p:nvSpPr>
          <p:cNvPr id="20" name="Shape 17"/>
          <p:cNvSpPr/>
          <p:nvPr/>
        </p:nvSpPr>
        <p:spPr>
          <a:xfrm>
            <a:off x="5760720" y="3054096"/>
            <a:ext cx="3154680" cy="5486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21" name="Text 18"/>
          <p:cNvSpPr/>
          <p:nvPr/>
        </p:nvSpPr>
        <p:spPr>
          <a:xfrm>
            <a:off x="5760720" y="3081528"/>
            <a:ext cx="548640" cy="493776"/>
          </a:xfrm>
          <a:prstGeom prst="rect">
            <a:avLst/>
          </a:prstGeom>
          <a:noFill/>
          <a:ln/>
        </p:spPr>
        <p:txBody>
          <a:bodyPr wrap="square" rtlCol="0" anchor="ctr"/>
          <a:lstStyle/>
          <a:p>
            <a:pPr marL="0" indent="0" algn="ctr">
              <a:buNone/>
            </a:pPr>
            <a:r>
              <a:rPr lang="en-US" sz="1400" b="1" dirty="0">
                <a:solidFill>
                  <a:srgbClr val="FACC15"/>
                </a:solidFill>
              </a:rPr>
              <a:t>0.15</a:t>
            </a:r>
            <a:endParaRPr lang="en-US" sz="1400" dirty="0"/>
          </a:p>
        </p:txBody>
      </p:sp>
      <p:sp>
        <p:nvSpPr>
          <p:cNvPr id="22" name="Text 19"/>
          <p:cNvSpPr/>
          <p:nvPr/>
        </p:nvSpPr>
        <p:spPr>
          <a:xfrm>
            <a:off x="6355080" y="3081528"/>
            <a:ext cx="1188720" cy="228600"/>
          </a:xfrm>
          <a:prstGeom prst="rect">
            <a:avLst/>
          </a:prstGeom>
          <a:noFill/>
          <a:ln/>
        </p:spPr>
        <p:txBody>
          <a:bodyPr wrap="square" rtlCol="0" anchor="ctr"/>
          <a:lstStyle/>
          <a:p>
            <a:pPr marL="0" indent="0">
              <a:buNone/>
            </a:pPr>
            <a:r>
              <a:rPr lang="en-US" sz="850" b="1" dirty="0">
                <a:solidFill>
                  <a:srgbClr val="E8E8FF"/>
                </a:solidFill>
                <a:latin typeface="Consolas" pitchFamily="34" charset="0"/>
                <a:ea typeface="Consolas" pitchFamily="34" charset="-122"/>
                <a:cs typeface="Consolas" pitchFamily="34" charset="-120"/>
              </a:rPr>
              <a:t>total_ratings</a:t>
            </a:r>
            <a:endParaRPr lang="en-US" sz="850" dirty="0"/>
          </a:p>
        </p:txBody>
      </p:sp>
      <p:sp>
        <p:nvSpPr>
          <p:cNvPr id="23" name="Text 20"/>
          <p:cNvSpPr/>
          <p:nvPr/>
        </p:nvSpPr>
        <p:spPr>
          <a:xfrm>
            <a:off x="6355080" y="3310128"/>
            <a:ext cx="1600200" cy="228600"/>
          </a:xfrm>
          <a:prstGeom prst="rect">
            <a:avLst/>
          </a:prstGeom>
          <a:noFill/>
          <a:ln/>
        </p:spPr>
        <p:txBody>
          <a:bodyPr wrap="square" rtlCol="0" anchor="ctr"/>
          <a:lstStyle/>
          <a:p>
            <a:pPr marL="0" indent="0">
              <a:buNone/>
            </a:pPr>
            <a:r>
              <a:rPr lang="en-US" sz="750" dirty="0">
                <a:solidFill>
                  <a:srgbClr val="6060A0"/>
                </a:solidFill>
              </a:rPr>
              <a:t>Review volume weakly predicts price</a:t>
            </a:r>
            <a:endParaRPr lang="en-US" sz="750" dirty="0"/>
          </a:p>
        </p:txBody>
      </p:sp>
      <p:sp>
        <p:nvSpPr>
          <p:cNvPr id="24" name="Shape 21"/>
          <p:cNvSpPr/>
          <p:nvPr/>
        </p:nvSpPr>
        <p:spPr>
          <a:xfrm>
            <a:off x="5760720" y="3675888"/>
            <a:ext cx="3154680" cy="5486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25" name="Text 22"/>
          <p:cNvSpPr/>
          <p:nvPr/>
        </p:nvSpPr>
        <p:spPr>
          <a:xfrm>
            <a:off x="5760720" y="3703320"/>
            <a:ext cx="548640" cy="493776"/>
          </a:xfrm>
          <a:prstGeom prst="rect">
            <a:avLst/>
          </a:prstGeom>
          <a:noFill/>
          <a:ln/>
        </p:spPr>
        <p:txBody>
          <a:bodyPr wrap="square" rtlCol="0" anchor="ctr"/>
          <a:lstStyle/>
          <a:p>
            <a:pPr marL="0" indent="0" algn="ctr">
              <a:buNone/>
            </a:pPr>
            <a:r>
              <a:rPr lang="en-US" sz="1400" b="1" dirty="0">
                <a:solidFill>
                  <a:srgbClr val="F472B6"/>
                </a:solidFill>
              </a:rPr>
              <a:t>0.12</a:t>
            </a:r>
            <a:endParaRPr lang="en-US" sz="1400" dirty="0"/>
          </a:p>
        </p:txBody>
      </p:sp>
      <p:sp>
        <p:nvSpPr>
          <p:cNvPr id="26" name="Text 23"/>
          <p:cNvSpPr/>
          <p:nvPr/>
        </p:nvSpPr>
        <p:spPr>
          <a:xfrm>
            <a:off x="6355080" y="3703320"/>
            <a:ext cx="1188720" cy="228600"/>
          </a:xfrm>
          <a:prstGeom prst="rect">
            <a:avLst/>
          </a:prstGeom>
          <a:noFill/>
          <a:ln/>
        </p:spPr>
        <p:txBody>
          <a:bodyPr wrap="square" rtlCol="0" anchor="ctr"/>
          <a:lstStyle/>
          <a:p>
            <a:pPr marL="0" indent="0">
              <a:buNone/>
            </a:pPr>
            <a:r>
              <a:rPr lang="en-US" sz="850" b="1" dirty="0">
                <a:solidFill>
                  <a:srgbClr val="E8E8FF"/>
                </a:solidFill>
                <a:latin typeface="Consolas" pitchFamily="34" charset="0"/>
                <a:ea typeface="Consolas" pitchFamily="34" charset="-122"/>
                <a:cs typeface="Consolas" pitchFamily="34" charset="-120"/>
              </a:rPr>
              <a:t>rating</a:t>
            </a:r>
            <a:endParaRPr lang="en-US" sz="850" dirty="0"/>
          </a:p>
        </p:txBody>
      </p:sp>
      <p:sp>
        <p:nvSpPr>
          <p:cNvPr id="27" name="Text 24"/>
          <p:cNvSpPr/>
          <p:nvPr/>
        </p:nvSpPr>
        <p:spPr>
          <a:xfrm>
            <a:off x="6355080" y="3931920"/>
            <a:ext cx="1600200" cy="228600"/>
          </a:xfrm>
          <a:prstGeom prst="rect">
            <a:avLst/>
          </a:prstGeom>
          <a:noFill/>
          <a:ln/>
        </p:spPr>
        <p:txBody>
          <a:bodyPr wrap="square" rtlCol="0" anchor="ctr"/>
          <a:lstStyle/>
          <a:p>
            <a:pPr marL="0" indent="0">
              <a:buNone/>
            </a:pPr>
            <a:r>
              <a:rPr lang="en-US" sz="750" dirty="0">
                <a:solidFill>
                  <a:srgbClr val="6060A0"/>
                </a:solidFill>
              </a:rPr>
              <a:t>Surprisingly weak — confirms price ≠ quality</a:t>
            </a:r>
            <a:endParaRPr lang="en-US" sz="750" dirty="0"/>
          </a:p>
        </p:txBody>
      </p:sp>
      <p:sp>
        <p:nvSpPr>
          <p:cNvPr id="28" name="Shape 25"/>
          <p:cNvSpPr/>
          <p:nvPr/>
        </p:nvSpPr>
        <p:spPr>
          <a:xfrm>
            <a:off x="5760720" y="4297680"/>
            <a:ext cx="3154680" cy="54864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29" name="Text 26"/>
          <p:cNvSpPr/>
          <p:nvPr/>
        </p:nvSpPr>
        <p:spPr>
          <a:xfrm>
            <a:off x="5760720" y="4325112"/>
            <a:ext cx="548640" cy="493776"/>
          </a:xfrm>
          <a:prstGeom prst="rect">
            <a:avLst/>
          </a:prstGeom>
          <a:noFill/>
          <a:ln/>
        </p:spPr>
        <p:txBody>
          <a:bodyPr wrap="square" rtlCol="0" anchor="ctr"/>
          <a:lstStyle/>
          <a:p>
            <a:pPr marL="0" indent="0" algn="ctr">
              <a:buNone/>
            </a:pPr>
            <a:r>
              <a:rPr lang="en-US" sz="1400" b="1" dirty="0">
                <a:solidFill>
                  <a:srgbClr val="A78BFA"/>
                </a:solidFill>
              </a:rPr>
              <a:t>0.08</a:t>
            </a:r>
            <a:endParaRPr lang="en-US" sz="1400" dirty="0"/>
          </a:p>
        </p:txBody>
      </p:sp>
      <p:sp>
        <p:nvSpPr>
          <p:cNvPr id="30" name="Text 27"/>
          <p:cNvSpPr/>
          <p:nvPr/>
        </p:nvSpPr>
        <p:spPr>
          <a:xfrm>
            <a:off x="6355080" y="4325112"/>
            <a:ext cx="1188720" cy="228600"/>
          </a:xfrm>
          <a:prstGeom prst="rect">
            <a:avLst/>
          </a:prstGeom>
          <a:noFill/>
          <a:ln/>
        </p:spPr>
        <p:txBody>
          <a:bodyPr wrap="square" rtlCol="0" anchor="ctr"/>
          <a:lstStyle/>
          <a:p>
            <a:pPr marL="0" indent="0">
              <a:buNone/>
            </a:pPr>
            <a:r>
              <a:rPr lang="en-US" sz="850" b="1" dirty="0">
                <a:solidFill>
                  <a:srgbClr val="E8E8FF"/>
                </a:solidFill>
                <a:latin typeface="Consolas" pitchFamily="34" charset="0"/>
                <a:ea typeface="Consolas" pitchFamily="34" charset="-122"/>
                <a:cs typeface="Consolas" pitchFamily="34" charset="-120"/>
              </a:rPr>
              <a:t>total_tips</a:t>
            </a:r>
            <a:endParaRPr lang="en-US" sz="850" dirty="0"/>
          </a:p>
        </p:txBody>
      </p:sp>
      <p:sp>
        <p:nvSpPr>
          <p:cNvPr id="31" name="Text 28"/>
          <p:cNvSpPr/>
          <p:nvPr/>
        </p:nvSpPr>
        <p:spPr>
          <a:xfrm>
            <a:off x="6355080" y="4553712"/>
            <a:ext cx="1600200" cy="228600"/>
          </a:xfrm>
          <a:prstGeom prst="rect">
            <a:avLst/>
          </a:prstGeom>
          <a:noFill/>
          <a:ln/>
        </p:spPr>
        <p:txBody>
          <a:bodyPr wrap="square" rtlCol="0" anchor="ctr"/>
          <a:lstStyle/>
          <a:p>
            <a:pPr marL="0" indent="0">
              <a:buNone/>
            </a:pPr>
            <a:r>
              <a:rPr lang="en-US" sz="750" dirty="0">
                <a:solidFill>
                  <a:srgbClr val="6060A0"/>
                </a:solidFill>
              </a:rPr>
              <a:t>Least important — sparse data</a:t>
            </a:r>
            <a:endParaRPr lang="en-US" sz="750" dirty="0"/>
          </a:p>
        </p:txBody>
      </p:sp>
      <p:sp>
        <p:nvSpPr>
          <p:cNvPr id="32" name="Shape 29"/>
          <p:cNvSpPr/>
          <p:nvPr/>
        </p:nvSpPr>
        <p:spPr>
          <a:xfrm>
            <a:off x="228600" y="4572000"/>
            <a:ext cx="5486400" cy="292608"/>
          </a:xfrm>
          <a:prstGeom prst="rect">
            <a:avLst/>
          </a:prstGeom>
          <a:solidFill>
            <a:srgbClr val="080810"/>
          </a:solidFill>
          <a:ln w="6350">
            <a:solidFill>
              <a:srgbClr val="2A2A44"/>
            </a:solidFill>
            <a:prstDash val="solid"/>
          </a:ln>
        </p:spPr>
        <p:txBody>
          <a:bodyPr/>
          <a:lstStyle/>
          <a:p>
            <a:endParaRPr lang="en-US"/>
          </a:p>
        </p:txBody>
      </p:sp>
      <p:sp>
        <p:nvSpPr>
          <p:cNvPr id="33" name="Text 30"/>
          <p:cNvSpPr/>
          <p:nvPr/>
        </p:nvSpPr>
        <p:spPr>
          <a:xfrm>
            <a:off x="320040" y="4572000"/>
            <a:ext cx="8549640" cy="292608"/>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feat_imp = pd.Series(rf_model.feature_importances_, index=features).sort_values()</a:t>
            </a:r>
            <a:endParaRPr lang="en-US" sz="750" dirty="0"/>
          </a:p>
          <a:p>
            <a:pPr marL="0" indent="0">
              <a:buNone/>
            </a:pPr>
            <a:r>
              <a:rPr lang="en-US" sz="750" dirty="0">
                <a:solidFill>
                  <a:srgbClr val="A0FFA0"/>
                </a:solidFill>
                <a:latin typeface="Consolas" pitchFamily="34" charset="0"/>
                <a:ea typeface="Consolas" pitchFamily="34" charset="-122"/>
                <a:cs typeface="Consolas" pitchFamily="34" charset="-120"/>
              </a:rPr>
              <a:t>sns.barplot(y=feat_imp.index, x=feat_imp.values)</a:t>
            </a:r>
            <a:endParaRPr lang="en-US" sz="750" dirty="0"/>
          </a:p>
        </p:txBody>
      </p:sp>
      <p:sp>
        <p:nvSpPr>
          <p:cNvPr id="34" name="Shape 31"/>
          <p:cNvSpPr/>
          <p:nvPr/>
        </p:nvSpPr>
        <p:spPr>
          <a:xfrm>
            <a:off x="228600" y="4892040"/>
            <a:ext cx="36576" cy="256032"/>
          </a:xfrm>
          <a:prstGeom prst="rect">
            <a:avLst/>
          </a:prstGeom>
          <a:solidFill>
            <a:srgbClr val="FF6B35"/>
          </a:solidFill>
          <a:ln w="12700">
            <a:solidFill>
              <a:srgbClr val="FF6B35"/>
            </a:solidFill>
            <a:prstDash val="solid"/>
          </a:ln>
        </p:spPr>
        <p:txBody>
          <a:bodyPr/>
          <a:lstStyle/>
          <a:p>
            <a:endParaRPr lang="en-US"/>
          </a:p>
        </p:txBody>
      </p:sp>
      <p:sp>
        <p:nvSpPr>
          <p:cNvPr id="35" name="Shape 32"/>
          <p:cNvSpPr/>
          <p:nvPr/>
        </p:nvSpPr>
        <p:spPr>
          <a:xfrm>
            <a:off x="265176" y="4842612"/>
            <a:ext cx="5365914" cy="256032"/>
          </a:xfrm>
          <a:prstGeom prst="rect">
            <a:avLst/>
          </a:prstGeom>
          <a:solidFill>
            <a:srgbClr val="0F0F1E"/>
          </a:solidFill>
          <a:ln w="6350">
            <a:solidFill>
              <a:srgbClr val="1A1A28"/>
            </a:solidFill>
            <a:prstDash val="solid"/>
          </a:ln>
        </p:spPr>
        <p:txBody>
          <a:bodyPr/>
          <a:lstStyle/>
          <a:p>
            <a:endParaRPr lang="en-US"/>
          </a:p>
        </p:txBody>
      </p:sp>
      <p:sp>
        <p:nvSpPr>
          <p:cNvPr id="36" name="Text 33"/>
          <p:cNvSpPr/>
          <p:nvPr/>
        </p:nvSpPr>
        <p:spPr>
          <a:xfrm>
            <a:off x="365760" y="4892040"/>
            <a:ext cx="8503920" cy="256032"/>
          </a:xfrm>
          <a:prstGeom prst="rect">
            <a:avLst/>
          </a:prstGeom>
          <a:noFill/>
          <a:ln/>
        </p:spPr>
        <p:txBody>
          <a:bodyPr wrap="square" rtlCol="0" anchor="ctr"/>
          <a:lstStyle/>
          <a:p>
            <a:pPr marL="0" indent="0">
              <a:buNone/>
            </a:pPr>
            <a:r>
              <a:rPr lang="en-US" sz="900" i="1" dirty="0">
                <a:solidFill>
                  <a:srgbClr val="9090C8"/>
                </a:solidFill>
              </a:rPr>
              <a:t>Rating is the 5th most important feature out of 6, confirming that price is driven by popularity signals like photos and location rather than quality ratings. Visibility matters more than taste.</a:t>
            </a:r>
            <a:endParaRPr lang="en-US" sz="900" dirty="0"/>
          </a:p>
        </p:txBody>
      </p:sp>
      <p:sp>
        <p:nvSpPr>
          <p:cNvPr id="37" name="Shape 29">
            <a:extLst>
              <a:ext uri="{FF2B5EF4-FFF2-40B4-BE49-F238E27FC236}">
                <a16:creationId xmlns:a16="http://schemas.microsoft.com/office/drawing/2014/main" id="{06A61BA9-E9ED-1783-37B3-4465990348DF}"/>
              </a:ext>
            </a:extLst>
          </p:cNvPr>
          <p:cNvSpPr/>
          <p:nvPr/>
        </p:nvSpPr>
        <p:spPr>
          <a:xfrm>
            <a:off x="228600" y="4545432"/>
            <a:ext cx="5388603" cy="292608"/>
          </a:xfrm>
          <a:prstGeom prst="rect">
            <a:avLst/>
          </a:prstGeom>
          <a:solidFill>
            <a:srgbClr val="080810"/>
          </a:solidFill>
          <a:ln w="6350">
            <a:solidFill>
              <a:srgbClr val="2A2A44"/>
            </a:solidFill>
            <a:prstDash val="solid"/>
          </a:ln>
        </p:spPr>
        <p:txBody>
          <a:bodyPr/>
          <a:lstStyle/>
          <a:p>
            <a:endParaRPr lang="en-US"/>
          </a:p>
        </p:txBody>
      </p:sp>
      <p:sp>
        <p:nvSpPr>
          <p:cNvPr id="38" name="Text 30">
            <a:extLst>
              <a:ext uri="{FF2B5EF4-FFF2-40B4-BE49-F238E27FC236}">
                <a16:creationId xmlns:a16="http://schemas.microsoft.com/office/drawing/2014/main" id="{A9F0DDBE-38C7-DF2E-E1E7-4C1EFBA238F8}"/>
              </a:ext>
            </a:extLst>
          </p:cNvPr>
          <p:cNvSpPr/>
          <p:nvPr/>
        </p:nvSpPr>
        <p:spPr>
          <a:xfrm>
            <a:off x="320040" y="4545432"/>
            <a:ext cx="5303520" cy="292608"/>
          </a:xfrm>
          <a:prstGeom prst="rect">
            <a:avLst/>
          </a:prstGeom>
          <a:noFill/>
          <a:ln/>
        </p:spPr>
        <p:txBody>
          <a:bodyPr wrap="square" rtlCol="0" anchor="ctr"/>
          <a:lstStyle/>
          <a:p>
            <a:pPr marL="0" indent="0">
              <a:buNone/>
            </a:pPr>
            <a:r>
              <a:rPr lang="en-US" sz="750" dirty="0">
                <a:solidFill>
                  <a:srgbClr val="A0FFA0"/>
                </a:solidFill>
                <a:latin typeface="Consolas" pitchFamily="34" charset="0"/>
                <a:ea typeface="Consolas" pitchFamily="34" charset="-122"/>
                <a:cs typeface="Consolas" pitchFamily="34" charset="-120"/>
              </a:rPr>
              <a:t>feat_imp = pd.Series(rf_model.feature_importances_, index=features).sort_values()</a:t>
            </a:r>
            <a:endParaRPr lang="en-US" sz="750" dirty="0"/>
          </a:p>
          <a:p>
            <a:pPr marL="0" indent="0">
              <a:buNone/>
            </a:pPr>
            <a:r>
              <a:rPr lang="en-US" sz="750" dirty="0">
                <a:solidFill>
                  <a:srgbClr val="A0FFA0"/>
                </a:solidFill>
                <a:latin typeface="Consolas" pitchFamily="34" charset="0"/>
                <a:ea typeface="Consolas" pitchFamily="34" charset="-122"/>
                <a:cs typeface="Consolas" pitchFamily="34" charset="-120"/>
              </a:rPr>
              <a:t>sns.barplot(y=feat_imp.index, x=feat_imp.values)</a:t>
            </a:r>
            <a:endParaRPr lang="en-US" sz="750" dirty="0"/>
          </a:p>
        </p:txBody>
      </p:sp>
      <p:sp>
        <p:nvSpPr>
          <p:cNvPr id="39" name="Text 33">
            <a:extLst>
              <a:ext uri="{FF2B5EF4-FFF2-40B4-BE49-F238E27FC236}">
                <a16:creationId xmlns:a16="http://schemas.microsoft.com/office/drawing/2014/main" id="{739DCD1B-E9B5-B82C-66A0-FA24559A79FB}"/>
              </a:ext>
            </a:extLst>
          </p:cNvPr>
          <p:cNvSpPr/>
          <p:nvPr/>
        </p:nvSpPr>
        <p:spPr>
          <a:xfrm>
            <a:off x="365760" y="4865472"/>
            <a:ext cx="5275159" cy="256032"/>
          </a:xfrm>
          <a:prstGeom prst="rect">
            <a:avLst/>
          </a:prstGeom>
          <a:noFill/>
          <a:ln/>
        </p:spPr>
        <p:txBody>
          <a:bodyPr wrap="square" rtlCol="0" anchor="ctr"/>
          <a:lstStyle/>
          <a:p>
            <a:pPr marL="0" indent="0">
              <a:buNone/>
            </a:pPr>
            <a:r>
              <a:rPr lang="en-US" sz="900" i="1" dirty="0">
                <a:solidFill>
                  <a:srgbClr val="9090C8"/>
                </a:solidFill>
              </a:rPr>
              <a:t>rating is the 5th most important feature out of 6 — confirming that prices are driven by popularity signals (photos, location) not quality ratings.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Text 1"/>
          <p:cNvSpPr/>
          <p:nvPr/>
        </p:nvSpPr>
        <p:spPr>
          <a:xfrm>
            <a:off x="228600" y="256032"/>
            <a:ext cx="8686800" cy="502920"/>
          </a:xfrm>
          <a:prstGeom prst="rect">
            <a:avLst/>
          </a:prstGeom>
          <a:noFill/>
          <a:ln/>
        </p:spPr>
        <p:txBody>
          <a:bodyPr wrap="square" lIns="0" tIns="0" rIns="0" bIns="0" rtlCol="0" anchor="ctr"/>
          <a:lstStyle/>
          <a:p>
            <a:pPr marL="0" indent="0">
              <a:buNone/>
            </a:pPr>
            <a:r>
              <a:rPr lang="en-US" sz="2600" b="1" dirty="0">
                <a:solidFill>
                  <a:srgbClr val="E8E8FF"/>
                </a:solidFill>
                <a:latin typeface="Trebuchet MS" pitchFamily="34" charset="0"/>
                <a:ea typeface="Trebuchet MS" pitchFamily="34" charset="-122"/>
                <a:cs typeface="Trebuchet MS" pitchFamily="34" charset="-120"/>
              </a:rPr>
              <a:t>ML · Key Finding — Why Models Struggled</a:t>
            </a:r>
            <a:endParaRPr lang="en-US" sz="2600" dirty="0"/>
          </a:p>
        </p:txBody>
      </p:sp>
      <p:sp>
        <p:nvSpPr>
          <p:cNvPr id="4" name="Shape 2"/>
          <p:cNvSpPr/>
          <p:nvPr/>
        </p:nvSpPr>
        <p:spPr>
          <a:xfrm>
            <a:off x="228600" y="822960"/>
            <a:ext cx="8686800" cy="1005840"/>
          </a:xfrm>
          <a:prstGeom prst="rect">
            <a:avLst/>
          </a:prstGeom>
          <a:solidFill>
            <a:srgbClr val="12121E"/>
          </a:solidFill>
          <a:ln w="12700">
            <a:solidFill>
              <a:srgbClr val="FF6B35"/>
            </a:solidFill>
            <a:prstDash val="solid"/>
          </a:ln>
        </p:spPr>
        <p:txBody>
          <a:bodyPr/>
          <a:lstStyle/>
          <a:p>
            <a:endParaRPr lang="en-US"/>
          </a:p>
        </p:txBody>
      </p:sp>
      <p:sp>
        <p:nvSpPr>
          <p:cNvPr id="5" name="Text 3"/>
          <p:cNvSpPr/>
          <p:nvPr/>
        </p:nvSpPr>
        <p:spPr>
          <a:xfrm>
            <a:off x="320040" y="868680"/>
            <a:ext cx="8503920" cy="914400"/>
          </a:xfrm>
          <a:prstGeom prst="rect">
            <a:avLst/>
          </a:prstGeom>
          <a:noFill/>
          <a:ln/>
        </p:spPr>
        <p:txBody>
          <a:bodyPr wrap="square" rtlCol="0" anchor="ctr"/>
          <a:lstStyle/>
          <a:p>
            <a:pPr marL="0" indent="0" algn="ctr">
              <a:buNone/>
            </a:pPr>
            <a:r>
              <a:rPr lang="en-US" sz="2200" b="1" dirty="0">
                <a:solidFill>
                  <a:srgbClr val="FF6B35"/>
                </a:solidFill>
                <a:latin typeface="Trebuchet MS" pitchFamily="34" charset="0"/>
                <a:ea typeface="Trebuchet MS" pitchFamily="34" charset="-122"/>
                <a:cs typeface="Trebuchet MS" pitchFamily="34" charset="-120"/>
              </a:rPr>
              <a:t>price_level ↔ all features: correlation ≈ 0.02</a:t>
            </a:r>
            <a:endParaRPr lang="en-US" sz="2200" dirty="0"/>
          </a:p>
        </p:txBody>
      </p:sp>
      <p:sp>
        <p:nvSpPr>
          <p:cNvPr id="6" name="Shape 4"/>
          <p:cNvSpPr/>
          <p:nvPr/>
        </p:nvSpPr>
        <p:spPr>
          <a:xfrm>
            <a:off x="228600" y="1965960"/>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7" name="Text 5"/>
          <p:cNvSpPr/>
          <p:nvPr/>
        </p:nvSpPr>
        <p:spPr>
          <a:xfrm>
            <a:off x="228600" y="1965960"/>
            <a:ext cx="1828800" cy="228600"/>
          </a:xfrm>
          <a:prstGeom prst="rect">
            <a:avLst/>
          </a:prstGeom>
          <a:noFill/>
          <a:ln/>
        </p:spPr>
        <p:txBody>
          <a:bodyPr wrap="square" rtlCol="0" anchor="ctr"/>
          <a:lstStyle/>
          <a:p>
            <a:pPr marL="0" indent="0" algn="ctr">
              <a:buNone/>
            </a:pPr>
            <a:r>
              <a:rPr lang="en-US" sz="800" b="1" kern="0" spc="200" dirty="0">
                <a:solidFill>
                  <a:srgbClr val="FF6B35"/>
                </a:solidFill>
              </a:rPr>
              <a:t>ROOT CAUSE</a:t>
            </a:r>
            <a:endParaRPr lang="en-US" sz="800" dirty="0"/>
          </a:p>
        </p:txBody>
      </p:sp>
      <p:sp>
        <p:nvSpPr>
          <p:cNvPr id="8" name="Shape 6"/>
          <p:cNvSpPr/>
          <p:nvPr/>
        </p:nvSpPr>
        <p:spPr>
          <a:xfrm>
            <a:off x="228600" y="2240280"/>
            <a:ext cx="4251960" cy="233172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9" name="Text 7"/>
          <p:cNvSpPr/>
          <p:nvPr/>
        </p:nvSpPr>
        <p:spPr>
          <a:xfrm>
            <a:off x="365760" y="2331720"/>
            <a:ext cx="3977640" cy="914400"/>
          </a:xfrm>
          <a:prstGeom prst="rect">
            <a:avLst/>
          </a:prstGeom>
          <a:noFill/>
          <a:ln/>
        </p:spPr>
        <p:txBody>
          <a:bodyPr wrap="square" rtlCol="0" anchor="ctr"/>
          <a:lstStyle/>
          <a:p>
            <a:pPr marL="0" indent="0">
              <a:lnSpc>
                <a:spcPct val="150000"/>
              </a:lnSpc>
              <a:buNone/>
            </a:pPr>
            <a:r>
              <a:rPr lang="en-US" sz="1000" dirty="0">
                <a:solidFill>
                  <a:srgbClr val="E8E8FF"/>
                </a:solidFill>
              </a:rPr>
              <a:t>The EDA correlation heatmap showed price_level has near-zero correlation (≈0.02) with all available features. The model attempts to predict pricing from variables that have minimal predictive power.</a:t>
            </a:r>
            <a:endParaRPr lang="en-US" sz="1000" dirty="0"/>
          </a:p>
        </p:txBody>
      </p:sp>
      <p:sp>
        <p:nvSpPr>
          <p:cNvPr id="10" name="Text 8"/>
          <p:cNvSpPr/>
          <p:nvPr/>
        </p:nvSpPr>
        <p:spPr>
          <a:xfrm>
            <a:off x="365760" y="3291840"/>
            <a:ext cx="3977640" cy="320040"/>
          </a:xfrm>
          <a:prstGeom prst="rect">
            <a:avLst/>
          </a:prstGeom>
          <a:noFill/>
          <a:ln/>
        </p:spPr>
        <p:txBody>
          <a:bodyPr wrap="square" rtlCol="0" anchor="ctr"/>
          <a:lstStyle/>
          <a:p>
            <a:pPr marL="0" indent="0">
              <a:buNone/>
            </a:pPr>
            <a:r>
              <a:rPr lang="en-US" sz="950" i="1" dirty="0">
                <a:solidFill>
                  <a:srgbClr val="6060A0"/>
                </a:solidFill>
              </a:rPr>
              <a:t>Pricing in Riyadh is driven by factors not captured in this dataset:</a:t>
            </a:r>
            <a:endParaRPr lang="en-US" sz="950" dirty="0"/>
          </a:p>
        </p:txBody>
      </p:sp>
      <p:sp>
        <p:nvSpPr>
          <p:cNvPr id="11" name="Shape 9"/>
          <p:cNvSpPr/>
          <p:nvPr/>
        </p:nvSpPr>
        <p:spPr>
          <a:xfrm>
            <a:off x="384048" y="3639312"/>
            <a:ext cx="109728" cy="109728"/>
          </a:xfrm>
          <a:prstGeom prst="ellipse">
            <a:avLst/>
          </a:prstGeom>
          <a:solidFill>
            <a:srgbClr val="FF6B35"/>
          </a:solidFill>
          <a:ln w="12700">
            <a:solidFill>
              <a:srgbClr val="FF6B35"/>
            </a:solidFill>
            <a:prstDash val="solid"/>
          </a:ln>
        </p:spPr>
        <p:txBody>
          <a:bodyPr/>
          <a:lstStyle/>
          <a:p>
            <a:endParaRPr lang="en-US"/>
          </a:p>
        </p:txBody>
      </p:sp>
      <p:sp>
        <p:nvSpPr>
          <p:cNvPr id="12" name="Text 10"/>
          <p:cNvSpPr/>
          <p:nvPr/>
        </p:nvSpPr>
        <p:spPr>
          <a:xfrm>
            <a:off x="548640" y="3611880"/>
            <a:ext cx="3840480" cy="274320"/>
          </a:xfrm>
          <a:prstGeom prst="rect">
            <a:avLst/>
          </a:prstGeom>
          <a:noFill/>
          <a:ln/>
        </p:spPr>
        <p:txBody>
          <a:bodyPr wrap="square" rtlCol="0" anchor="ctr"/>
          <a:lstStyle/>
          <a:p>
            <a:pPr marL="0" indent="0">
              <a:buNone/>
            </a:pPr>
            <a:r>
              <a:rPr lang="en-US" sz="900" dirty="0">
                <a:solidFill>
                  <a:srgbClr val="6060A0"/>
                </a:solidFill>
              </a:rPr>
              <a:t>Restaurant brand or chain status</a:t>
            </a:r>
            <a:endParaRPr lang="en-US" sz="900" dirty="0"/>
          </a:p>
        </p:txBody>
      </p:sp>
      <p:sp>
        <p:nvSpPr>
          <p:cNvPr id="13" name="Shape 11"/>
          <p:cNvSpPr/>
          <p:nvPr/>
        </p:nvSpPr>
        <p:spPr>
          <a:xfrm>
            <a:off x="384048" y="3959352"/>
            <a:ext cx="109728" cy="109728"/>
          </a:xfrm>
          <a:prstGeom prst="ellipse">
            <a:avLst/>
          </a:prstGeom>
          <a:solidFill>
            <a:srgbClr val="FF6B35"/>
          </a:solidFill>
          <a:ln w="12700">
            <a:solidFill>
              <a:srgbClr val="FF6B35"/>
            </a:solidFill>
            <a:prstDash val="solid"/>
          </a:ln>
        </p:spPr>
        <p:txBody>
          <a:bodyPr/>
          <a:lstStyle/>
          <a:p>
            <a:endParaRPr lang="en-US"/>
          </a:p>
        </p:txBody>
      </p:sp>
      <p:sp>
        <p:nvSpPr>
          <p:cNvPr id="14" name="Text 12"/>
          <p:cNvSpPr/>
          <p:nvPr/>
        </p:nvSpPr>
        <p:spPr>
          <a:xfrm>
            <a:off x="548640" y="3931920"/>
            <a:ext cx="3840480" cy="274320"/>
          </a:xfrm>
          <a:prstGeom prst="rect">
            <a:avLst/>
          </a:prstGeom>
          <a:noFill/>
          <a:ln/>
        </p:spPr>
        <p:txBody>
          <a:bodyPr wrap="square" rtlCol="0" anchor="ctr"/>
          <a:lstStyle/>
          <a:p>
            <a:pPr marL="0" indent="0">
              <a:buNone/>
            </a:pPr>
            <a:r>
              <a:rPr lang="en-US" sz="900" dirty="0">
                <a:solidFill>
                  <a:srgbClr val="6060A0"/>
                </a:solidFill>
              </a:rPr>
              <a:t>Interior design and ambiance</a:t>
            </a:r>
            <a:endParaRPr lang="en-US" sz="900" dirty="0"/>
          </a:p>
        </p:txBody>
      </p:sp>
      <p:sp>
        <p:nvSpPr>
          <p:cNvPr id="15" name="Shape 13"/>
          <p:cNvSpPr/>
          <p:nvPr/>
        </p:nvSpPr>
        <p:spPr>
          <a:xfrm>
            <a:off x="384048" y="4279392"/>
            <a:ext cx="109728" cy="109728"/>
          </a:xfrm>
          <a:prstGeom prst="ellipse">
            <a:avLst/>
          </a:prstGeom>
          <a:solidFill>
            <a:srgbClr val="FF6B35"/>
          </a:solidFill>
          <a:ln w="12700">
            <a:solidFill>
              <a:srgbClr val="FF6B35"/>
            </a:solidFill>
            <a:prstDash val="solid"/>
          </a:ln>
        </p:spPr>
        <p:txBody>
          <a:bodyPr/>
          <a:lstStyle/>
          <a:p>
            <a:endParaRPr lang="en-US"/>
          </a:p>
        </p:txBody>
      </p:sp>
      <p:sp>
        <p:nvSpPr>
          <p:cNvPr id="16" name="Text 14"/>
          <p:cNvSpPr/>
          <p:nvPr/>
        </p:nvSpPr>
        <p:spPr>
          <a:xfrm>
            <a:off x="548640" y="4251960"/>
            <a:ext cx="3840480" cy="274320"/>
          </a:xfrm>
          <a:prstGeom prst="rect">
            <a:avLst/>
          </a:prstGeom>
          <a:noFill/>
          <a:ln/>
        </p:spPr>
        <p:txBody>
          <a:bodyPr wrap="square" rtlCol="0" anchor="ctr"/>
          <a:lstStyle/>
          <a:p>
            <a:pPr marL="0" indent="0">
              <a:buNone/>
            </a:pPr>
            <a:r>
              <a:rPr lang="en-US" sz="900" dirty="0">
                <a:solidFill>
                  <a:srgbClr val="6060A0"/>
                </a:solidFill>
              </a:rPr>
              <a:t>Location prestige within a neighborhood</a:t>
            </a:r>
            <a:endParaRPr lang="en-US" sz="900" dirty="0"/>
          </a:p>
        </p:txBody>
      </p:sp>
      <p:sp>
        <p:nvSpPr>
          <p:cNvPr id="17" name="Shape 15"/>
          <p:cNvSpPr/>
          <p:nvPr/>
        </p:nvSpPr>
        <p:spPr>
          <a:xfrm>
            <a:off x="384048" y="4599432"/>
            <a:ext cx="109728" cy="109728"/>
          </a:xfrm>
          <a:prstGeom prst="ellipse">
            <a:avLst/>
          </a:prstGeom>
          <a:solidFill>
            <a:srgbClr val="FF6B35"/>
          </a:solidFill>
          <a:ln w="12700">
            <a:solidFill>
              <a:srgbClr val="FF6B35"/>
            </a:solidFill>
            <a:prstDash val="solid"/>
          </a:ln>
        </p:spPr>
        <p:txBody>
          <a:bodyPr/>
          <a:lstStyle/>
          <a:p>
            <a:endParaRPr lang="en-US"/>
          </a:p>
        </p:txBody>
      </p:sp>
      <p:sp>
        <p:nvSpPr>
          <p:cNvPr id="18" name="Text 16"/>
          <p:cNvSpPr/>
          <p:nvPr/>
        </p:nvSpPr>
        <p:spPr>
          <a:xfrm>
            <a:off x="548640" y="4572000"/>
            <a:ext cx="3840480" cy="274320"/>
          </a:xfrm>
          <a:prstGeom prst="rect">
            <a:avLst/>
          </a:prstGeom>
          <a:noFill/>
          <a:ln/>
        </p:spPr>
        <p:txBody>
          <a:bodyPr wrap="square" rtlCol="0" anchor="ctr"/>
          <a:lstStyle/>
          <a:p>
            <a:pPr marL="0" indent="0">
              <a:buNone/>
            </a:pPr>
            <a:r>
              <a:rPr lang="en-US" sz="900" dirty="0">
                <a:solidFill>
                  <a:srgbClr val="6060A0"/>
                </a:solidFill>
              </a:rPr>
              <a:t>Menu offering and cuisine depth</a:t>
            </a:r>
            <a:endParaRPr lang="en-US" sz="900" dirty="0"/>
          </a:p>
        </p:txBody>
      </p:sp>
      <p:sp>
        <p:nvSpPr>
          <p:cNvPr id="19" name="Shape 17"/>
          <p:cNvSpPr/>
          <p:nvPr/>
        </p:nvSpPr>
        <p:spPr>
          <a:xfrm>
            <a:off x="4663440" y="1965960"/>
            <a:ext cx="1828800" cy="228600"/>
          </a:xfrm>
          <a:prstGeom prst="rect">
            <a:avLst/>
          </a:prstGeom>
          <a:solidFill>
            <a:srgbClr val="FF6B35">
              <a:alpha val="20000"/>
            </a:srgbClr>
          </a:solidFill>
          <a:ln w="6350">
            <a:solidFill>
              <a:srgbClr val="FF6B35"/>
            </a:solidFill>
            <a:prstDash val="solid"/>
          </a:ln>
        </p:spPr>
        <p:txBody>
          <a:bodyPr/>
          <a:lstStyle/>
          <a:p>
            <a:endParaRPr lang="en-US"/>
          </a:p>
        </p:txBody>
      </p:sp>
      <p:sp>
        <p:nvSpPr>
          <p:cNvPr id="20" name="Text 18"/>
          <p:cNvSpPr/>
          <p:nvPr/>
        </p:nvSpPr>
        <p:spPr>
          <a:xfrm>
            <a:off x="4663440" y="1965960"/>
            <a:ext cx="1828800" cy="228600"/>
          </a:xfrm>
          <a:prstGeom prst="rect">
            <a:avLst/>
          </a:prstGeom>
          <a:noFill/>
          <a:ln/>
        </p:spPr>
        <p:txBody>
          <a:bodyPr wrap="square" rtlCol="0" anchor="ctr"/>
          <a:lstStyle/>
          <a:p>
            <a:pPr marL="0" indent="0" algn="ctr">
              <a:buNone/>
            </a:pPr>
            <a:r>
              <a:rPr lang="en-US" sz="800" b="1" kern="0" spc="200" dirty="0">
                <a:solidFill>
                  <a:srgbClr val="FF6B35"/>
                </a:solidFill>
              </a:rPr>
              <a:t>BEST MODEL</a:t>
            </a:r>
            <a:endParaRPr lang="en-US" sz="800" dirty="0"/>
          </a:p>
        </p:txBody>
      </p:sp>
      <p:sp>
        <p:nvSpPr>
          <p:cNvPr id="21" name="Shape 19"/>
          <p:cNvSpPr/>
          <p:nvPr/>
        </p:nvSpPr>
        <p:spPr>
          <a:xfrm>
            <a:off x="4663440" y="2240280"/>
            <a:ext cx="4251960" cy="2331720"/>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22" name="Shape 20"/>
          <p:cNvSpPr/>
          <p:nvPr/>
        </p:nvSpPr>
        <p:spPr>
          <a:xfrm>
            <a:off x="4663440" y="2240280"/>
            <a:ext cx="4251960" cy="54864"/>
          </a:xfrm>
          <a:prstGeom prst="rect">
            <a:avLst/>
          </a:prstGeom>
          <a:solidFill>
            <a:srgbClr val="FF6B35"/>
          </a:solidFill>
          <a:ln w="12700">
            <a:solidFill>
              <a:srgbClr val="FF6B35"/>
            </a:solidFill>
            <a:prstDash val="solid"/>
          </a:ln>
        </p:spPr>
        <p:txBody>
          <a:bodyPr/>
          <a:lstStyle/>
          <a:p>
            <a:endParaRPr lang="en-US"/>
          </a:p>
        </p:txBody>
      </p:sp>
      <p:sp>
        <p:nvSpPr>
          <p:cNvPr id="23" name="Text 21"/>
          <p:cNvSpPr/>
          <p:nvPr/>
        </p:nvSpPr>
        <p:spPr>
          <a:xfrm>
            <a:off x="4754880" y="2304288"/>
            <a:ext cx="4023360" cy="411480"/>
          </a:xfrm>
          <a:prstGeom prst="rect">
            <a:avLst/>
          </a:prstGeom>
          <a:noFill/>
          <a:ln/>
        </p:spPr>
        <p:txBody>
          <a:bodyPr wrap="square" rtlCol="0" anchor="ctr"/>
          <a:lstStyle/>
          <a:p>
            <a:pPr marL="0" indent="0">
              <a:buNone/>
            </a:pPr>
            <a:r>
              <a:rPr lang="en-US" sz="1400" b="1" dirty="0">
                <a:solidFill>
                  <a:srgbClr val="4ADE80"/>
                </a:solidFill>
                <a:latin typeface="Trebuchet MS" pitchFamily="34" charset="0"/>
                <a:ea typeface="Trebuchet MS" pitchFamily="34" charset="-122"/>
                <a:cs typeface="Trebuchet MS" pitchFamily="34" charset="-120"/>
              </a:rPr>
              <a:t>✅ Random Forest — 89%</a:t>
            </a:r>
            <a:endParaRPr lang="en-US" sz="1400" dirty="0"/>
          </a:p>
        </p:txBody>
      </p:sp>
      <p:sp>
        <p:nvSpPr>
          <p:cNvPr id="24" name="Shape 22"/>
          <p:cNvSpPr/>
          <p:nvPr/>
        </p:nvSpPr>
        <p:spPr>
          <a:xfrm>
            <a:off x="4663440" y="2743200"/>
            <a:ext cx="4251960" cy="292608"/>
          </a:xfrm>
          <a:prstGeom prst="rect">
            <a:avLst/>
          </a:prstGeom>
          <a:solidFill>
            <a:srgbClr val="12121E"/>
          </a:solidFill>
          <a:ln w="3810">
            <a:solidFill>
              <a:srgbClr val="1A1A28"/>
            </a:solidFill>
            <a:prstDash val="solid"/>
          </a:ln>
        </p:spPr>
        <p:txBody>
          <a:bodyPr/>
          <a:lstStyle/>
          <a:p>
            <a:endParaRPr lang="en-US"/>
          </a:p>
        </p:txBody>
      </p:sp>
      <p:sp>
        <p:nvSpPr>
          <p:cNvPr id="25" name="Text 23"/>
          <p:cNvSpPr/>
          <p:nvPr/>
        </p:nvSpPr>
        <p:spPr>
          <a:xfrm>
            <a:off x="4754880" y="2743200"/>
            <a:ext cx="1097280" cy="292608"/>
          </a:xfrm>
          <a:prstGeom prst="rect">
            <a:avLst/>
          </a:prstGeom>
          <a:noFill/>
          <a:ln/>
        </p:spPr>
        <p:txBody>
          <a:bodyPr wrap="square" rtlCol="0" anchor="ctr"/>
          <a:lstStyle/>
          <a:p>
            <a:pPr marL="0" indent="0">
              <a:buNone/>
            </a:pPr>
            <a:r>
              <a:rPr lang="en-US" sz="850" b="1" dirty="0">
                <a:solidFill>
                  <a:srgbClr val="4ADE80"/>
                </a:solidFill>
              </a:rPr>
              <a:t>Reliable for:</a:t>
            </a:r>
            <a:endParaRPr lang="en-US" sz="850" dirty="0"/>
          </a:p>
        </p:txBody>
      </p:sp>
      <p:sp>
        <p:nvSpPr>
          <p:cNvPr id="26" name="Text 24"/>
          <p:cNvSpPr/>
          <p:nvPr/>
        </p:nvSpPr>
        <p:spPr>
          <a:xfrm>
            <a:off x="5897880" y="2743200"/>
            <a:ext cx="2926080" cy="292608"/>
          </a:xfrm>
          <a:prstGeom prst="rect">
            <a:avLst/>
          </a:prstGeom>
          <a:noFill/>
          <a:ln/>
        </p:spPr>
        <p:txBody>
          <a:bodyPr wrap="square" rtlCol="0" anchor="ctr"/>
          <a:lstStyle/>
          <a:p>
            <a:pPr marL="0" indent="0">
              <a:buNone/>
            </a:pPr>
            <a:r>
              <a:rPr lang="en-US" sz="850" dirty="0">
                <a:solidFill>
                  <a:srgbClr val="6060A0"/>
                </a:solidFill>
              </a:rPr>
              <a:t>Identifying budget ($) restaurants (F1: 0.93)</a:t>
            </a:r>
            <a:endParaRPr lang="en-US" sz="850" dirty="0"/>
          </a:p>
        </p:txBody>
      </p:sp>
      <p:sp>
        <p:nvSpPr>
          <p:cNvPr id="27" name="Shape 25"/>
          <p:cNvSpPr/>
          <p:nvPr/>
        </p:nvSpPr>
        <p:spPr>
          <a:xfrm>
            <a:off x="4663440" y="3063240"/>
            <a:ext cx="4251960" cy="292608"/>
          </a:xfrm>
          <a:prstGeom prst="rect">
            <a:avLst/>
          </a:prstGeom>
          <a:solidFill>
            <a:srgbClr val="0F0F1E"/>
          </a:solidFill>
          <a:ln w="3810">
            <a:solidFill>
              <a:srgbClr val="1A1A28"/>
            </a:solidFill>
            <a:prstDash val="solid"/>
          </a:ln>
        </p:spPr>
        <p:txBody>
          <a:bodyPr/>
          <a:lstStyle/>
          <a:p>
            <a:endParaRPr lang="en-US"/>
          </a:p>
        </p:txBody>
      </p:sp>
      <p:sp>
        <p:nvSpPr>
          <p:cNvPr id="28" name="Text 26"/>
          <p:cNvSpPr/>
          <p:nvPr/>
        </p:nvSpPr>
        <p:spPr>
          <a:xfrm>
            <a:off x="4754880" y="3063240"/>
            <a:ext cx="1097280" cy="292608"/>
          </a:xfrm>
          <a:prstGeom prst="rect">
            <a:avLst/>
          </a:prstGeom>
          <a:noFill/>
          <a:ln/>
        </p:spPr>
        <p:txBody>
          <a:bodyPr wrap="square" rtlCol="0" anchor="ctr"/>
          <a:lstStyle/>
          <a:p>
            <a:pPr marL="0" indent="0">
              <a:buNone/>
            </a:pPr>
            <a:r>
              <a:rPr lang="en-US" sz="850" b="1" dirty="0">
                <a:solidFill>
                  <a:srgbClr val="FACC15"/>
                </a:solidFill>
              </a:rPr>
              <a:t>Caution on:</a:t>
            </a:r>
            <a:endParaRPr lang="en-US" sz="850" dirty="0"/>
          </a:p>
        </p:txBody>
      </p:sp>
      <p:sp>
        <p:nvSpPr>
          <p:cNvPr id="29" name="Text 27"/>
          <p:cNvSpPr/>
          <p:nvPr/>
        </p:nvSpPr>
        <p:spPr>
          <a:xfrm>
            <a:off x="5897880" y="3063240"/>
            <a:ext cx="2926080" cy="292608"/>
          </a:xfrm>
          <a:prstGeom prst="rect">
            <a:avLst/>
          </a:prstGeom>
          <a:noFill/>
          <a:ln/>
        </p:spPr>
        <p:txBody>
          <a:bodyPr wrap="square" rtlCol="0" anchor="ctr"/>
          <a:lstStyle/>
          <a:p>
            <a:pPr marL="0" indent="0">
              <a:buNone/>
            </a:pPr>
            <a:r>
              <a:rPr lang="en-US" sz="850" dirty="0">
                <a:solidFill>
                  <a:srgbClr val="6060A0"/>
                </a:solidFill>
              </a:rPr>
              <a:t>Mid-range (F1: 0.79) and premium (F1: 0.44) predictions</a:t>
            </a:r>
            <a:endParaRPr lang="en-US" sz="850" dirty="0"/>
          </a:p>
        </p:txBody>
      </p:sp>
      <p:sp>
        <p:nvSpPr>
          <p:cNvPr id="30" name="Shape 28"/>
          <p:cNvSpPr/>
          <p:nvPr/>
        </p:nvSpPr>
        <p:spPr>
          <a:xfrm>
            <a:off x="4663440" y="3383280"/>
            <a:ext cx="4251960" cy="292608"/>
          </a:xfrm>
          <a:prstGeom prst="rect">
            <a:avLst/>
          </a:prstGeom>
          <a:solidFill>
            <a:srgbClr val="12121E"/>
          </a:solidFill>
          <a:ln w="3810">
            <a:solidFill>
              <a:srgbClr val="1A1A28"/>
            </a:solidFill>
            <a:prstDash val="solid"/>
          </a:ln>
        </p:spPr>
        <p:txBody>
          <a:bodyPr/>
          <a:lstStyle/>
          <a:p>
            <a:endParaRPr lang="en-US"/>
          </a:p>
        </p:txBody>
      </p:sp>
      <p:sp>
        <p:nvSpPr>
          <p:cNvPr id="31" name="Text 29"/>
          <p:cNvSpPr/>
          <p:nvPr/>
        </p:nvSpPr>
        <p:spPr>
          <a:xfrm>
            <a:off x="4754880" y="3383280"/>
            <a:ext cx="1097280" cy="292608"/>
          </a:xfrm>
          <a:prstGeom prst="rect">
            <a:avLst/>
          </a:prstGeom>
          <a:noFill/>
          <a:ln/>
        </p:spPr>
        <p:txBody>
          <a:bodyPr wrap="square" rtlCol="0" anchor="ctr"/>
          <a:lstStyle/>
          <a:p>
            <a:pPr marL="0" indent="0">
              <a:buNone/>
            </a:pPr>
            <a:r>
              <a:rPr lang="en-US" sz="850" b="1" dirty="0">
                <a:solidFill>
                  <a:srgbClr val="FF6B35"/>
                </a:solidFill>
              </a:rPr>
              <a:t>Class 1 F1:</a:t>
            </a:r>
            <a:endParaRPr lang="en-US" sz="850" dirty="0"/>
          </a:p>
        </p:txBody>
      </p:sp>
      <p:sp>
        <p:nvSpPr>
          <p:cNvPr id="32" name="Text 30"/>
          <p:cNvSpPr/>
          <p:nvPr/>
        </p:nvSpPr>
        <p:spPr>
          <a:xfrm>
            <a:off x="5897880" y="3383280"/>
            <a:ext cx="2926080" cy="292608"/>
          </a:xfrm>
          <a:prstGeom prst="rect">
            <a:avLst/>
          </a:prstGeom>
          <a:noFill/>
          <a:ln/>
        </p:spPr>
        <p:txBody>
          <a:bodyPr wrap="square" rtlCol="0" anchor="ctr"/>
          <a:lstStyle/>
          <a:p>
            <a:pPr marL="0" indent="0">
              <a:buNone/>
            </a:pPr>
            <a:r>
              <a:rPr lang="en-US" sz="850" dirty="0">
                <a:solidFill>
                  <a:srgbClr val="6060A0"/>
                </a:solidFill>
              </a:rPr>
              <a:t>0.93 — strong on majority class</a:t>
            </a:r>
            <a:endParaRPr lang="en-US" sz="850" dirty="0"/>
          </a:p>
        </p:txBody>
      </p:sp>
      <p:sp>
        <p:nvSpPr>
          <p:cNvPr id="33" name="Shape 31"/>
          <p:cNvSpPr/>
          <p:nvPr/>
        </p:nvSpPr>
        <p:spPr>
          <a:xfrm>
            <a:off x="4663440" y="3703320"/>
            <a:ext cx="4251960" cy="292608"/>
          </a:xfrm>
          <a:prstGeom prst="rect">
            <a:avLst/>
          </a:prstGeom>
          <a:solidFill>
            <a:srgbClr val="0F0F1E"/>
          </a:solidFill>
          <a:ln w="3810">
            <a:solidFill>
              <a:srgbClr val="1A1A28"/>
            </a:solidFill>
            <a:prstDash val="solid"/>
          </a:ln>
        </p:spPr>
        <p:txBody>
          <a:bodyPr/>
          <a:lstStyle/>
          <a:p>
            <a:endParaRPr lang="en-US"/>
          </a:p>
        </p:txBody>
      </p:sp>
      <p:sp>
        <p:nvSpPr>
          <p:cNvPr id="34" name="Text 32"/>
          <p:cNvSpPr/>
          <p:nvPr/>
        </p:nvSpPr>
        <p:spPr>
          <a:xfrm>
            <a:off x="4754880" y="3703320"/>
            <a:ext cx="1097280" cy="292608"/>
          </a:xfrm>
          <a:prstGeom prst="rect">
            <a:avLst/>
          </a:prstGeom>
          <a:noFill/>
          <a:ln/>
        </p:spPr>
        <p:txBody>
          <a:bodyPr wrap="square" rtlCol="0" anchor="ctr"/>
          <a:lstStyle/>
          <a:p>
            <a:pPr marL="0" indent="0">
              <a:buNone/>
            </a:pPr>
            <a:r>
              <a:rPr lang="en-US" sz="850" b="1" dirty="0">
                <a:solidFill>
                  <a:srgbClr val="F472B6"/>
                </a:solidFill>
              </a:rPr>
              <a:t>Class 3 F1:</a:t>
            </a:r>
            <a:endParaRPr lang="en-US" sz="850" dirty="0"/>
          </a:p>
        </p:txBody>
      </p:sp>
      <p:sp>
        <p:nvSpPr>
          <p:cNvPr id="35" name="Text 33"/>
          <p:cNvSpPr/>
          <p:nvPr/>
        </p:nvSpPr>
        <p:spPr>
          <a:xfrm>
            <a:off x="5897880" y="3703320"/>
            <a:ext cx="2926080" cy="292608"/>
          </a:xfrm>
          <a:prstGeom prst="rect">
            <a:avLst/>
          </a:prstGeom>
          <a:noFill/>
          <a:ln/>
        </p:spPr>
        <p:txBody>
          <a:bodyPr wrap="square" rtlCol="0" anchor="ctr"/>
          <a:lstStyle/>
          <a:p>
            <a:pPr marL="0" indent="0">
              <a:buNone/>
            </a:pPr>
            <a:r>
              <a:rPr lang="en-US" sz="850" dirty="0">
                <a:solidFill>
                  <a:srgbClr val="6060A0"/>
                </a:solidFill>
              </a:rPr>
              <a:t>0.44 — moderate performance on premium</a:t>
            </a:r>
            <a:endParaRPr lang="en-US" sz="850" dirty="0"/>
          </a:p>
        </p:txBody>
      </p:sp>
      <p:sp>
        <p:nvSpPr>
          <p:cNvPr id="36" name="Shape 34"/>
          <p:cNvSpPr/>
          <p:nvPr/>
        </p:nvSpPr>
        <p:spPr>
          <a:xfrm>
            <a:off x="4663440" y="4023360"/>
            <a:ext cx="4251960" cy="292608"/>
          </a:xfrm>
          <a:prstGeom prst="rect">
            <a:avLst/>
          </a:prstGeom>
          <a:solidFill>
            <a:srgbClr val="12121E"/>
          </a:solidFill>
          <a:ln w="3810">
            <a:solidFill>
              <a:srgbClr val="1A1A28"/>
            </a:solidFill>
            <a:prstDash val="solid"/>
          </a:ln>
        </p:spPr>
        <p:txBody>
          <a:bodyPr/>
          <a:lstStyle/>
          <a:p>
            <a:endParaRPr lang="en-US"/>
          </a:p>
        </p:txBody>
      </p:sp>
      <p:sp>
        <p:nvSpPr>
          <p:cNvPr id="37" name="Text 35"/>
          <p:cNvSpPr/>
          <p:nvPr/>
        </p:nvSpPr>
        <p:spPr>
          <a:xfrm>
            <a:off x="4754880" y="4023360"/>
            <a:ext cx="1097280" cy="292608"/>
          </a:xfrm>
          <a:prstGeom prst="rect">
            <a:avLst/>
          </a:prstGeom>
          <a:noFill/>
          <a:ln/>
        </p:spPr>
        <p:txBody>
          <a:bodyPr wrap="square" rtlCol="0" anchor="ctr"/>
          <a:lstStyle/>
          <a:p>
            <a:pPr marL="0" indent="0">
              <a:buNone/>
            </a:pPr>
            <a:r>
              <a:rPr lang="en-US" sz="850" b="1" dirty="0">
                <a:solidFill>
                  <a:srgbClr val="00D4FF"/>
                </a:solidFill>
              </a:rPr>
              <a:t>Best feature:</a:t>
            </a:r>
            <a:endParaRPr lang="en-US" sz="850" dirty="0"/>
          </a:p>
        </p:txBody>
      </p:sp>
      <p:sp>
        <p:nvSpPr>
          <p:cNvPr id="38" name="Text 36"/>
          <p:cNvSpPr/>
          <p:nvPr/>
        </p:nvSpPr>
        <p:spPr>
          <a:xfrm>
            <a:off x="5897880" y="4023360"/>
            <a:ext cx="2926080" cy="292608"/>
          </a:xfrm>
          <a:prstGeom prst="rect">
            <a:avLst/>
          </a:prstGeom>
          <a:noFill/>
          <a:ln/>
        </p:spPr>
        <p:txBody>
          <a:bodyPr wrap="square" rtlCol="0" anchor="ctr"/>
          <a:lstStyle/>
          <a:p>
            <a:pPr marL="0" indent="0">
              <a:buNone/>
            </a:pPr>
            <a:r>
              <a:rPr lang="en-US" sz="850" dirty="0">
                <a:solidFill>
                  <a:srgbClr val="6060A0"/>
                </a:solidFill>
              </a:rPr>
              <a:t>total_photos (importance: 0.24)</a:t>
            </a:r>
            <a:endParaRPr lang="en-US" sz="850" dirty="0"/>
          </a:p>
        </p:txBody>
      </p:sp>
      <p:sp>
        <p:nvSpPr>
          <p:cNvPr id="39" name="Shape 37"/>
          <p:cNvSpPr/>
          <p:nvPr/>
        </p:nvSpPr>
        <p:spPr>
          <a:xfrm>
            <a:off x="4663440" y="4343400"/>
            <a:ext cx="4251960" cy="292608"/>
          </a:xfrm>
          <a:prstGeom prst="rect">
            <a:avLst/>
          </a:prstGeom>
          <a:solidFill>
            <a:srgbClr val="0F0F1E"/>
          </a:solidFill>
          <a:ln w="3810">
            <a:solidFill>
              <a:srgbClr val="1A1A28"/>
            </a:solidFill>
            <a:prstDash val="solid"/>
          </a:ln>
        </p:spPr>
        <p:txBody>
          <a:bodyPr/>
          <a:lstStyle/>
          <a:p>
            <a:endParaRPr lang="en-US"/>
          </a:p>
        </p:txBody>
      </p:sp>
      <p:sp>
        <p:nvSpPr>
          <p:cNvPr id="40" name="Text 38"/>
          <p:cNvSpPr/>
          <p:nvPr/>
        </p:nvSpPr>
        <p:spPr>
          <a:xfrm>
            <a:off x="4754880" y="4343400"/>
            <a:ext cx="1097280" cy="292608"/>
          </a:xfrm>
          <a:prstGeom prst="rect">
            <a:avLst/>
          </a:prstGeom>
          <a:noFill/>
          <a:ln/>
        </p:spPr>
        <p:txBody>
          <a:bodyPr wrap="square" rtlCol="0" anchor="ctr"/>
          <a:lstStyle/>
          <a:p>
            <a:pPr marL="0" indent="0">
              <a:buNone/>
            </a:pPr>
            <a:r>
              <a:rPr lang="en-US" sz="850" b="1" dirty="0">
                <a:solidFill>
                  <a:srgbClr val="6060A0"/>
                </a:solidFill>
              </a:rPr>
              <a:t>Conclusion:</a:t>
            </a:r>
            <a:endParaRPr lang="en-US" sz="850" dirty="0"/>
          </a:p>
        </p:txBody>
      </p:sp>
      <p:sp>
        <p:nvSpPr>
          <p:cNvPr id="41" name="Text 39"/>
          <p:cNvSpPr/>
          <p:nvPr/>
        </p:nvSpPr>
        <p:spPr>
          <a:xfrm>
            <a:off x="5897880" y="4343400"/>
            <a:ext cx="2926080" cy="292608"/>
          </a:xfrm>
          <a:prstGeom prst="rect">
            <a:avLst/>
          </a:prstGeom>
          <a:noFill/>
          <a:ln/>
        </p:spPr>
        <p:txBody>
          <a:bodyPr wrap="square" rtlCol="0" anchor="ctr"/>
          <a:lstStyle/>
          <a:p>
            <a:pPr marL="0" indent="0">
              <a:buNone/>
            </a:pPr>
            <a:r>
              <a:rPr lang="en-US" sz="850" dirty="0">
                <a:solidFill>
                  <a:srgbClr val="6060A0"/>
                </a:solidFill>
              </a:rPr>
              <a:t>Additional features needed to improve predictions</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0D0D12"/>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Shape 1"/>
          <p:cNvSpPr/>
          <p:nvPr/>
        </p:nvSpPr>
        <p:spPr>
          <a:xfrm>
            <a:off x="6583680" y="0"/>
            <a:ext cx="2560320" cy="5143500"/>
          </a:xfrm>
          <a:prstGeom prst="rect">
            <a:avLst/>
          </a:prstGeom>
          <a:solidFill>
            <a:srgbClr val="07070D"/>
          </a:solidFill>
          <a:ln w="12700">
            <a:solidFill>
              <a:srgbClr val="07070D"/>
            </a:solidFill>
            <a:prstDash val="solid"/>
          </a:ln>
        </p:spPr>
        <p:txBody>
          <a:bodyPr/>
          <a:lstStyle/>
          <a:p>
            <a:endParaRPr lang="en-US"/>
          </a:p>
        </p:txBody>
      </p:sp>
      <p:sp>
        <p:nvSpPr>
          <p:cNvPr id="4" name="Shape 2"/>
          <p:cNvSpPr/>
          <p:nvPr/>
        </p:nvSpPr>
        <p:spPr>
          <a:xfrm>
            <a:off x="6583680" y="0"/>
            <a:ext cx="36576" cy="5143500"/>
          </a:xfrm>
          <a:prstGeom prst="rect">
            <a:avLst/>
          </a:prstGeom>
          <a:solidFill>
            <a:srgbClr val="1A1A28"/>
          </a:solidFill>
          <a:ln w="12700">
            <a:solidFill>
              <a:srgbClr val="1A1A28"/>
            </a:solidFill>
            <a:prstDash val="solid"/>
          </a:ln>
        </p:spPr>
        <p:txBody>
          <a:bodyPr/>
          <a:lstStyle/>
          <a:p>
            <a:endParaRPr lang="en-US"/>
          </a:p>
        </p:txBody>
      </p:sp>
      <p:sp>
        <p:nvSpPr>
          <p:cNvPr id="5" name="Text 3"/>
          <p:cNvSpPr/>
          <p:nvPr/>
        </p:nvSpPr>
        <p:spPr>
          <a:xfrm>
            <a:off x="228600" y="274320"/>
            <a:ext cx="6126480" cy="548640"/>
          </a:xfrm>
          <a:prstGeom prst="rect">
            <a:avLst/>
          </a:prstGeom>
          <a:noFill/>
          <a:ln/>
        </p:spPr>
        <p:txBody>
          <a:bodyPr wrap="square" rtlCol="0" anchor="ctr"/>
          <a:lstStyle/>
          <a:p>
            <a:pPr marL="0" indent="0">
              <a:buNone/>
            </a:pPr>
            <a:r>
              <a:rPr lang="en-US" sz="2800" b="1" dirty="0">
                <a:solidFill>
                  <a:srgbClr val="E8E8FF"/>
                </a:solidFill>
                <a:latin typeface="Trebuchet MS" pitchFamily="34" charset="0"/>
                <a:ea typeface="Trebuchet MS" pitchFamily="34" charset="-122"/>
                <a:cs typeface="Trebuchet MS" pitchFamily="34" charset="-120"/>
              </a:rPr>
              <a:t>Key Conclusions</a:t>
            </a:r>
            <a:endParaRPr lang="en-US" sz="2800" dirty="0"/>
          </a:p>
        </p:txBody>
      </p:sp>
      <p:sp>
        <p:nvSpPr>
          <p:cNvPr id="6" name="Shape 4"/>
          <p:cNvSpPr/>
          <p:nvPr/>
        </p:nvSpPr>
        <p:spPr>
          <a:xfrm>
            <a:off x="228600" y="1005840"/>
            <a:ext cx="3017520" cy="1115568"/>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7" name="Shape 5"/>
          <p:cNvSpPr/>
          <p:nvPr/>
        </p:nvSpPr>
        <p:spPr>
          <a:xfrm>
            <a:off x="228600" y="1005840"/>
            <a:ext cx="54864" cy="1115568"/>
          </a:xfrm>
          <a:prstGeom prst="rect">
            <a:avLst/>
          </a:prstGeom>
          <a:solidFill>
            <a:srgbClr val="FF6B35"/>
          </a:solidFill>
          <a:ln w="12700">
            <a:solidFill>
              <a:srgbClr val="FF6B35"/>
            </a:solidFill>
            <a:prstDash val="solid"/>
          </a:ln>
        </p:spPr>
        <p:txBody>
          <a:bodyPr/>
          <a:lstStyle/>
          <a:p>
            <a:endParaRPr lang="en-US"/>
          </a:p>
        </p:txBody>
      </p:sp>
      <p:sp>
        <p:nvSpPr>
          <p:cNvPr id="8" name="Shape 6"/>
          <p:cNvSpPr/>
          <p:nvPr/>
        </p:nvSpPr>
        <p:spPr>
          <a:xfrm>
            <a:off x="338328" y="1143000"/>
            <a:ext cx="384048" cy="384048"/>
          </a:xfrm>
          <a:prstGeom prst="rect">
            <a:avLst/>
          </a:prstGeom>
          <a:solidFill>
            <a:srgbClr val="FF6B35">
              <a:alpha val="25000"/>
            </a:srgbClr>
          </a:solidFill>
          <a:ln w="6350">
            <a:solidFill>
              <a:srgbClr val="FF6B35"/>
            </a:solidFill>
            <a:prstDash val="solid"/>
          </a:ln>
        </p:spPr>
        <p:txBody>
          <a:bodyPr/>
          <a:lstStyle/>
          <a:p>
            <a:endParaRPr lang="en-US"/>
          </a:p>
        </p:txBody>
      </p:sp>
      <p:sp>
        <p:nvSpPr>
          <p:cNvPr id="9" name="Text 7"/>
          <p:cNvSpPr/>
          <p:nvPr/>
        </p:nvSpPr>
        <p:spPr>
          <a:xfrm>
            <a:off x="338328" y="1143000"/>
            <a:ext cx="384048" cy="384048"/>
          </a:xfrm>
          <a:prstGeom prst="rect">
            <a:avLst/>
          </a:prstGeom>
          <a:noFill/>
          <a:ln/>
        </p:spPr>
        <p:txBody>
          <a:bodyPr wrap="square" rtlCol="0" anchor="ctr"/>
          <a:lstStyle/>
          <a:p>
            <a:pPr marL="0" indent="0" algn="ctr">
              <a:buNone/>
            </a:pPr>
            <a:r>
              <a:rPr lang="en-US" sz="900" b="1" dirty="0">
                <a:solidFill>
                  <a:srgbClr val="FF6B35"/>
                </a:solidFill>
              </a:rPr>
              <a:t>☕</a:t>
            </a:r>
            <a:endParaRPr lang="en-US" sz="900" dirty="0"/>
          </a:p>
        </p:txBody>
      </p:sp>
      <p:sp>
        <p:nvSpPr>
          <p:cNvPr id="10" name="Text 8"/>
          <p:cNvSpPr/>
          <p:nvPr/>
        </p:nvSpPr>
        <p:spPr>
          <a:xfrm>
            <a:off x="822960" y="1078992"/>
            <a:ext cx="2286000" cy="347472"/>
          </a:xfrm>
          <a:prstGeom prst="rect">
            <a:avLst/>
          </a:prstGeom>
          <a:noFill/>
          <a:ln/>
        </p:spPr>
        <p:txBody>
          <a:bodyPr wrap="square" rtlCol="0" anchor="ctr"/>
          <a:lstStyle/>
          <a:p>
            <a:pPr marL="0" indent="0">
              <a:buNone/>
            </a:pPr>
            <a:r>
              <a:rPr lang="en-US" sz="1000" b="1" dirty="0">
                <a:solidFill>
                  <a:srgbClr val="FF6B35"/>
                </a:solidFill>
              </a:rPr>
              <a:t>Café Culture Dominates</a:t>
            </a:r>
            <a:endParaRPr lang="en-US" sz="1000" dirty="0"/>
          </a:p>
        </p:txBody>
      </p:sp>
      <p:sp>
        <p:nvSpPr>
          <p:cNvPr id="11" name="Text 9"/>
          <p:cNvSpPr/>
          <p:nvPr/>
        </p:nvSpPr>
        <p:spPr>
          <a:xfrm>
            <a:off x="822960" y="1463040"/>
            <a:ext cx="2331720" cy="566928"/>
          </a:xfrm>
          <a:prstGeom prst="rect">
            <a:avLst/>
          </a:prstGeom>
          <a:noFill/>
          <a:ln/>
        </p:spPr>
        <p:txBody>
          <a:bodyPr wrap="square" rtlCol="0" anchor="ctr"/>
          <a:lstStyle/>
          <a:p>
            <a:pPr marL="0" indent="0">
              <a:lnSpc>
                <a:spcPct val="140000"/>
              </a:lnSpc>
              <a:buNone/>
            </a:pPr>
            <a:r>
              <a:rPr lang="en-US" sz="850" dirty="0">
                <a:solidFill>
                  <a:srgbClr val="6060A0"/>
                </a:solidFill>
              </a:rPr>
              <a:t>Coffee Shop dominates with over 2,000 venues — more than triple Burger Joint</a:t>
            </a:r>
            <a:endParaRPr lang="en-US" sz="850" dirty="0"/>
          </a:p>
        </p:txBody>
      </p:sp>
      <p:sp>
        <p:nvSpPr>
          <p:cNvPr id="12" name="Shape 10"/>
          <p:cNvSpPr/>
          <p:nvPr/>
        </p:nvSpPr>
        <p:spPr>
          <a:xfrm>
            <a:off x="3383280" y="1005840"/>
            <a:ext cx="3017520" cy="1115568"/>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13" name="Shape 11"/>
          <p:cNvSpPr/>
          <p:nvPr/>
        </p:nvSpPr>
        <p:spPr>
          <a:xfrm>
            <a:off x="3383280" y="1005840"/>
            <a:ext cx="54864" cy="1115568"/>
          </a:xfrm>
          <a:prstGeom prst="rect">
            <a:avLst/>
          </a:prstGeom>
          <a:solidFill>
            <a:srgbClr val="00D4FF"/>
          </a:solidFill>
          <a:ln w="12700">
            <a:solidFill>
              <a:srgbClr val="00D4FF"/>
            </a:solidFill>
            <a:prstDash val="solid"/>
          </a:ln>
        </p:spPr>
        <p:txBody>
          <a:bodyPr/>
          <a:lstStyle/>
          <a:p>
            <a:endParaRPr lang="en-US"/>
          </a:p>
        </p:txBody>
      </p:sp>
      <p:sp>
        <p:nvSpPr>
          <p:cNvPr id="14" name="Shape 12"/>
          <p:cNvSpPr/>
          <p:nvPr/>
        </p:nvSpPr>
        <p:spPr>
          <a:xfrm>
            <a:off x="3493008" y="1143000"/>
            <a:ext cx="384048" cy="384048"/>
          </a:xfrm>
          <a:prstGeom prst="rect">
            <a:avLst/>
          </a:prstGeom>
          <a:solidFill>
            <a:srgbClr val="00D4FF">
              <a:alpha val="25000"/>
            </a:srgbClr>
          </a:solidFill>
          <a:ln w="6350">
            <a:solidFill>
              <a:srgbClr val="00D4FF"/>
            </a:solidFill>
            <a:prstDash val="solid"/>
          </a:ln>
        </p:spPr>
        <p:txBody>
          <a:bodyPr/>
          <a:lstStyle/>
          <a:p>
            <a:endParaRPr lang="en-US"/>
          </a:p>
        </p:txBody>
      </p:sp>
      <p:sp>
        <p:nvSpPr>
          <p:cNvPr id="15" name="Text 13"/>
          <p:cNvSpPr/>
          <p:nvPr/>
        </p:nvSpPr>
        <p:spPr>
          <a:xfrm>
            <a:off x="3493008" y="1143000"/>
            <a:ext cx="384048" cy="384048"/>
          </a:xfrm>
          <a:prstGeom prst="rect">
            <a:avLst/>
          </a:prstGeom>
          <a:noFill/>
          <a:ln/>
        </p:spPr>
        <p:txBody>
          <a:bodyPr wrap="square" rtlCol="0" anchor="ctr"/>
          <a:lstStyle/>
          <a:p>
            <a:pPr marL="0" indent="0" algn="ctr">
              <a:buNone/>
            </a:pPr>
            <a:r>
              <a:rPr lang="en-US" sz="900" b="1" dirty="0">
                <a:solidFill>
                  <a:srgbClr val="00D4FF"/>
                </a:solidFill>
              </a:rPr>
              <a:t>📍</a:t>
            </a:r>
            <a:endParaRPr lang="en-US" sz="900" dirty="0"/>
          </a:p>
        </p:txBody>
      </p:sp>
      <p:sp>
        <p:nvSpPr>
          <p:cNvPr id="16" name="Text 14"/>
          <p:cNvSpPr/>
          <p:nvPr/>
        </p:nvSpPr>
        <p:spPr>
          <a:xfrm>
            <a:off x="3977640" y="1078992"/>
            <a:ext cx="2286000" cy="347472"/>
          </a:xfrm>
          <a:prstGeom prst="rect">
            <a:avLst/>
          </a:prstGeom>
          <a:noFill/>
          <a:ln/>
        </p:spPr>
        <p:txBody>
          <a:bodyPr wrap="square" rtlCol="0" anchor="ctr"/>
          <a:lstStyle/>
          <a:p>
            <a:pPr marL="0" indent="0">
              <a:buNone/>
            </a:pPr>
            <a:r>
              <a:rPr lang="en-US" sz="1000" b="1" dirty="0">
                <a:solidFill>
                  <a:srgbClr val="00D4FF"/>
                </a:solidFill>
              </a:rPr>
              <a:t>Northern Concentration</a:t>
            </a:r>
            <a:endParaRPr lang="en-US" sz="1000" dirty="0"/>
          </a:p>
        </p:txBody>
      </p:sp>
      <p:sp>
        <p:nvSpPr>
          <p:cNvPr id="17" name="Text 15"/>
          <p:cNvSpPr/>
          <p:nvPr/>
        </p:nvSpPr>
        <p:spPr>
          <a:xfrm>
            <a:off x="3977640" y="1463040"/>
            <a:ext cx="2331720" cy="566928"/>
          </a:xfrm>
          <a:prstGeom prst="rect">
            <a:avLst/>
          </a:prstGeom>
          <a:noFill/>
          <a:ln/>
        </p:spPr>
        <p:txBody>
          <a:bodyPr wrap="square" rtlCol="0" anchor="ctr"/>
          <a:lstStyle/>
          <a:p>
            <a:pPr marL="0" indent="0">
              <a:lnSpc>
                <a:spcPct val="140000"/>
              </a:lnSpc>
              <a:buNone/>
            </a:pPr>
            <a:r>
              <a:rPr lang="en-US" sz="850" dirty="0">
                <a:solidFill>
                  <a:srgbClr val="6060A0"/>
                </a:solidFill>
              </a:rPr>
              <a:t>Hiteen, Dhahrat Laban, Al Malqa hold the highest dining density</a:t>
            </a:r>
            <a:endParaRPr lang="en-US" sz="850" dirty="0"/>
          </a:p>
        </p:txBody>
      </p:sp>
      <p:sp>
        <p:nvSpPr>
          <p:cNvPr id="18" name="Shape 16"/>
          <p:cNvSpPr/>
          <p:nvPr/>
        </p:nvSpPr>
        <p:spPr>
          <a:xfrm>
            <a:off x="228600" y="2267712"/>
            <a:ext cx="3017520" cy="1115568"/>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19" name="Shape 17"/>
          <p:cNvSpPr/>
          <p:nvPr/>
        </p:nvSpPr>
        <p:spPr>
          <a:xfrm>
            <a:off x="228600" y="2267712"/>
            <a:ext cx="54864" cy="1115568"/>
          </a:xfrm>
          <a:prstGeom prst="rect">
            <a:avLst/>
          </a:prstGeom>
          <a:solidFill>
            <a:srgbClr val="4ADE80"/>
          </a:solidFill>
          <a:ln w="12700">
            <a:solidFill>
              <a:srgbClr val="4ADE80"/>
            </a:solidFill>
            <a:prstDash val="solid"/>
          </a:ln>
        </p:spPr>
        <p:txBody>
          <a:bodyPr/>
          <a:lstStyle/>
          <a:p>
            <a:endParaRPr lang="en-US"/>
          </a:p>
        </p:txBody>
      </p:sp>
      <p:sp>
        <p:nvSpPr>
          <p:cNvPr id="20" name="Shape 18"/>
          <p:cNvSpPr/>
          <p:nvPr/>
        </p:nvSpPr>
        <p:spPr>
          <a:xfrm>
            <a:off x="338328" y="2404872"/>
            <a:ext cx="384048" cy="384048"/>
          </a:xfrm>
          <a:prstGeom prst="rect">
            <a:avLst/>
          </a:prstGeom>
          <a:solidFill>
            <a:srgbClr val="4ADE80">
              <a:alpha val="25000"/>
            </a:srgbClr>
          </a:solidFill>
          <a:ln w="6350">
            <a:solidFill>
              <a:srgbClr val="4ADE80"/>
            </a:solidFill>
            <a:prstDash val="solid"/>
          </a:ln>
        </p:spPr>
        <p:txBody>
          <a:bodyPr/>
          <a:lstStyle/>
          <a:p>
            <a:endParaRPr lang="en-US"/>
          </a:p>
        </p:txBody>
      </p:sp>
      <p:sp>
        <p:nvSpPr>
          <p:cNvPr id="21" name="Text 19"/>
          <p:cNvSpPr/>
          <p:nvPr/>
        </p:nvSpPr>
        <p:spPr>
          <a:xfrm>
            <a:off x="338328" y="2404872"/>
            <a:ext cx="384048" cy="384048"/>
          </a:xfrm>
          <a:prstGeom prst="rect">
            <a:avLst/>
          </a:prstGeom>
          <a:noFill/>
          <a:ln/>
        </p:spPr>
        <p:txBody>
          <a:bodyPr wrap="square" rtlCol="0" anchor="ctr"/>
          <a:lstStyle/>
          <a:p>
            <a:pPr marL="0" indent="0" algn="ctr">
              <a:buNone/>
            </a:pPr>
            <a:r>
              <a:rPr lang="en-US" sz="900" b="1" dirty="0">
                <a:solidFill>
                  <a:srgbClr val="4ADE80"/>
                </a:solidFill>
              </a:rPr>
              <a:t>★</a:t>
            </a:r>
            <a:endParaRPr lang="en-US" sz="900" dirty="0"/>
          </a:p>
        </p:txBody>
      </p:sp>
      <p:sp>
        <p:nvSpPr>
          <p:cNvPr id="22" name="Text 20"/>
          <p:cNvSpPr/>
          <p:nvPr/>
        </p:nvSpPr>
        <p:spPr>
          <a:xfrm>
            <a:off x="822960" y="2340864"/>
            <a:ext cx="2286000" cy="347472"/>
          </a:xfrm>
          <a:prstGeom prst="rect">
            <a:avLst/>
          </a:prstGeom>
          <a:noFill/>
          <a:ln/>
        </p:spPr>
        <p:txBody>
          <a:bodyPr wrap="square" rtlCol="0" anchor="ctr"/>
          <a:lstStyle/>
          <a:p>
            <a:pPr marL="0" indent="0">
              <a:buNone/>
            </a:pPr>
            <a:r>
              <a:rPr lang="en-US" sz="1000" b="1" dirty="0">
                <a:solidFill>
                  <a:srgbClr val="4ADE80"/>
                </a:solidFill>
              </a:rPr>
              <a:t>Price ≠ Quality</a:t>
            </a:r>
            <a:endParaRPr lang="en-US" sz="1000" dirty="0"/>
          </a:p>
        </p:txBody>
      </p:sp>
      <p:sp>
        <p:nvSpPr>
          <p:cNvPr id="23" name="Text 21"/>
          <p:cNvSpPr/>
          <p:nvPr/>
        </p:nvSpPr>
        <p:spPr>
          <a:xfrm>
            <a:off x="822960" y="2724912"/>
            <a:ext cx="2331720" cy="566928"/>
          </a:xfrm>
          <a:prstGeom prst="rect">
            <a:avLst/>
          </a:prstGeom>
          <a:noFill/>
          <a:ln/>
        </p:spPr>
        <p:txBody>
          <a:bodyPr wrap="square" rtlCol="0" anchor="ctr"/>
          <a:lstStyle/>
          <a:p>
            <a:pPr marL="0" indent="0">
              <a:lnSpc>
                <a:spcPct val="140000"/>
              </a:lnSpc>
              <a:buNone/>
            </a:pPr>
            <a:r>
              <a:rPr lang="en-US" sz="850" dirty="0">
                <a:solidFill>
                  <a:srgbClr val="6060A0"/>
                </a:solidFill>
              </a:rPr>
              <a:t>Budget restaurants achieve comparable ratings to premium venues</a:t>
            </a:r>
            <a:endParaRPr lang="en-US" sz="850" dirty="0"/>
          </a:p>
        </p:txBody>
      </p:sp>
      <p:sp>
        <p:nvSpPr>
          <p:cNvPr id="24" name="Shape 22"/>
          <p:cNvSpPr/>
          <p:nvPr/>
        </p:nvSpPr>
        <p:spPr>
          <a:xfrm>
            <a:off x="3383280" y="2267712"/>
            <a:ext cx="3017520" cy="1115568"/>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25" name="Shape 23"/>
          <p:cNvSpPr/>
          <p:nvPr/>
        </p:nvSpPr>
        <p:spPr>
          <a:xfrm>
            <a:off x="3383280" y="2267712"/>
            <a:ext cx="54864" cy="1115568"/>
          </a:xfrm>
          <a:prstGeom prst="rect">
            <a:avLst/>
          </a:prstGeom>
          <a:solidFill>
            <a:srgbClr val="FACC15"/>
          </a:solidFill>
          <a:ln w="12700">
            <a:solidFill>
              <a:srgbClr val="FACC15"/>
            </a:solidFill>
            <a:prstDash val="solid"/>
          </a:ln>
        </p:spPr>
        <p:txBody>
          <a:bodyPr/>
          <a:lstStyle/>
          <a:p>
            <a:endParaRPr lang="en-US"/>
          </a:p>
        </p:txBody>
      </p:sp>
      <p:sp>
        <p:nvSpPr>
          <p:cNvPr id="26" name="Shape 24"/>
          <p:cNvSpPr/>
          <p:nvPr/>
        </p:nvSpPr>
        <p:spPr>
          <a:xfrm>
            <a:off x="3493008" y="2404872"/>
            <a:ext cx="384048" cy="384048"/>
          </a:xfrm>
          <a:prstGeom prst="rect">
            <a:avLst/>
          </a:prstGeom>
          <a:solidFill>
            <a:srgbClr val="FACC15">
              <a:alpha val="25000"/>
            </a:srgbClr>
          </a:solidFill>
          <a:ln w="6350">
            <a:solidFill>
              <a:srgbClr val="FACC15"/>
            </a:solidFill>
            <a:prstDash val="solid"/>
          </a:ln>
        </p:spPr>
        <p:txBody>
          <a:bodyPr/>
          <a:lstStyle/>
          <a:p>
            <a:endParaRPr lang="en-US"/>
          </a:p>
        </p:txBody>
      </p:sp>
      <p:sp>
        <p:nvSpPr>
          <p:cNvPr id="27" name="Text 25"/>
          <p:cNvSpPr/>
          <p:nvPr/>
        </p:nvSpPr>
        <p:spPr>
          <a:xfrm>
            <a:off x="3493008" y="2404872"/>
            <a:ext cx="384048" cy="384048"/>
          </a:xfrm>
          <a:prstGeom prst="rect">
            <a:avLst/>
          </a:prstGeom>
          <a:noFill/>
          <a:ln/>
        </p:spPr>
        <p:txBody>
          <a:bodyPr wrap="square" rtlCol="0" anchor="ctr"/>
          <a:lstStyle/>
          <a:p>
            <a:pPr marL="0" indent="0" algn="ctr">
              <a:buNone/>
            </a:pPr>
            <a:r>
              <a:rPr lang="en-US" sz="900" b="1" dirty="0">
                <a:solidFill>
                  <a:srgbClr val="FACC15"/>
                </a:solidFill>
              </a:rPr>
              <a:t>◉</a:t>
            </a:r>
            <a:endParaRPr lang="en-US" sz="900" dirty="0"/>
          </a:p>
        </p:txBody>
      </p:sp>
      <p:sp>
        <p:nvSpPr>
          <p:cNvPr id="28" name="Text 26"/>
          <p:cNvSpPr/>
          <p:nvPr/>
        </p:nvSpPr>
        <p:spPr>
          <a:xfrm>
            <a:off x="3977640" y="2340864"/>
            <a:ext cx="2286000" cy="347472"/>
          </a:xfrm>
          <a:prstGeom prst="rect">
            <a:avLst/>
          </a:prstGeom>
          <a:noFill/>
          <a:ln/>
        </p:spPr>
        <p:txBody>
          <a:bodyPr wrap="square" rtlCol="0" anchor="ctr"/>
          <a:lstStyle/>
          <a:p>
            <a:pPr marL="0" indent="0">
              <a:buNone/>
            </a:pPr>
            <a:r>
              <a:rPr lang="en-US" sz="1000" b="1" dirty="0">
                <a:solidFill>
                  <a:srgbClr val="FACC15"/>
                </a:solidFill>
              </a:rPr>
              <a:t>Popularity Correlation</a:t>
            </a:r>
            <a:endParaRPr lang="en-US" sz="1000" dirty="0"/>
          </a:p>
        </p:txBody>
      </p:sp>
      <p:sp>
        <p:nvSpPr>
          <p:cNvPr id="29" name="Text 27"/>
          <p:cNvSpPr/>
          <p:nvPr/>
        </p:nvSpPr>
        <p:spPr>
          <a:xfrm>
            <a:off x="3977640" y="2724912"/>
            <a:ext cx="2331720" cy="566928"/>
          </a:xfrm>
          <a:prstGeom prst="rect">
            <a:avLst/>
          </a:prstGeom>
          <a:noFill/>
          <a:ln/>
        </p:spPr>
        <p:txBody>
          <a:bodyPr wrap="square" rtlCol="0" anchor="ctr"/>
          <a:lstStyle/>
          <a:p>
            <a:pPr marL="0" indent="0">
              <a:lnSpc>
                <a:spcPct val="140000"/>
              </a:lnSpc>
              <a:buNone/>
            </a:pPr>
            <a:r>
              <a:rPr lang="en-US" sz="850" dirty="0">
                <a:solidFill>
                  <a:srgbClr val="6060A0"/>
                </a:solidFill>
              </a:rPr>
              <a:t>Photos ↔ Ratings (0.62) — both signals of restaurant visibility</a:t>
            </a:r>
            <a:endParaRPr lang="en-US" sz="850" dirty="0"/>
          </a:p>
        </p:txBody>
      </p:sp>
      <p:sp>
        <p:nvSpPr>
          <p:cNvPr id="30" name="Shape 28"/>
          <p:cNvSpPr/>
          <p:nvPr/>
        </p:nvSpPr>
        <p:spPr>
          <a:xfrm>
            <a:off x="228600" y="3529584"/>
            <a:ext cx="3017520" cy="1115568"/>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31" name="Shape 29"/>
          <p:cNvSpPr/>
          <p:nvPr/>
        </p:nvSpPr>
        <p:spPr>
          <a:xfrm>
            <a:off x="228600" y="3529584"/>
            <a:ext cx="54864" cy="1115568"/>
          </a:xfrm>
          <a:prstGeom prst="rect">
            <a:avLst/>
          </a:prstGeom>
          <a:solidFill>
            <a:srgbClr val="F472B6"/>
          </a:solidFill>
          <a:ln w="12700">
            <a:solidFill>
              <a:srgbClr val="F472B6"/>
            </a:solidFill>
            <a:prstDash val="solid"/>
          </a:ln>
        </p:spPr>
        <p:txBody>
          <a:bodyPr/>
          <a:lstStyle/>
          <a:p>
            <a:endParaRPr lang="en-US"/>
          </a:p>
        </p:txBody>
      </p:sp>
      <p:sp>
        <p:nvSpPr>
          <p:cNvPr id="32" name="Shape 30"/>
          <p:cNvSpPr/>
          <p:nvPr/>
        </p:nvSpPr>
        <p:spPr>
          <a:xfrm>
            <a:off x="338328" y="3666744"/>
            <a:ext cx="384048" cy="384048"/>
          </a:xfrm>
          <a:prstGeom prst="rect">
            <a:avLst/>
          </a:prstGeom>
          <a:solidFill>
            <a:srgbClr val="F472B6">
              <a:alpha val="25000"/>
            </a:srgbClr>
          </a:solidFill>
          <a:ln w="6350">
            <a:solidFill>
              <a:srgbClr val="F472B6"/>
            </a:solidFill>
            <a:prstDash val="solid"/>
          </a:ln>
        </p:spPr>
        <p:txBody>
          <a:bodyPr/>
          <a:lstStyle/>
          <a:p>
            <a:endParaRPr lang="en-US"/>
          </a:p>
        </p:txBody>
      </p:sp>
      <p:sp>
        <p:nvSpPr>
          <p:cNvPr id="33" name="Text 31"/>
          <p:cNvSpPr/>
          <p:nvPr/>
        </p:nvSpPr>
        <p:spPr>
          <a:xfrm>
            <a:off x="338328" y="3666744"/>
            <a:ext cx="384048" cy="384048"/>
          </a:xfrm>
          <a:prstGeom prst="rect">
            <a:avLst/>
          </a:prstGeom>
          <a:noFill/>
          <a:ln/>
        </p:spPr>
        <p:txBody>
          <a:bodyPr wrap="square" rtlCol="0" anchor="ctr"/>
          <a:lstStyle/>
          <a:p>
            <a:pPr marL="0" indent="0" algn="ctr">
              <a:buNone/>
            </a:pPr>
            <a:r>
              <a:rPr lang="en-US" sz="900" b="1" dirty="0">
                <a:solidFill>
                  <a:srgbClr val="F472B6"/>
                </a:solidFill>
              </a:rPr>
              <a:t>◈</a:t>
            </a:r>
            <a:endParaRPr lang="en-US" sz="900" dirty="0"/>
          </a:p>
        </p:txBody>
      </p:sp>
      <p:sp>
        <p:nvSpPr>
          <p:cNvPr id="34" name="Text 32"/>
          <p:cNvSpPr/>
          <p:nvPr/>
        </p:nvSpPr>
        <p:spPr>
          <a:xfrm>
            <a:off x="822960" y="3602736"/>
            <a:ext cx="2286000" cy="347472"/>
          </a:xfrm>
          <a:prstGeom prst="rect">
            <a:avLst/>
          </a:prstGeom>
          <a:noFill/>
          <a:ln/>
        </p:spPr>
        <p:txBody>
          <a:bodyPr wrap="square" rtlCol="0" anchor="ctr"/>
          <a:lstStyle/>
          <a:p>
            <a:pPr marL="0" indent="0">
              <a:buNone/>
            </a:pPr>
            <a:r>
              <a:rPr lang="en-US" sz="1000" b="1" dirty="0">
                <a:solidFill>
                  <a:srgbClr val="F472B6"/>
                </a:solidFill>
              </a:rPr>
              <a:t>Variety = Affordable</a:t>
            </a:r>
            <a:endParaRPr lang="en-US" sz="1000" dirty="0"/>
          </a:p>
        </p:txBody>
      </p:sp>
      <p:sp>
        <p:nvSpPr>
          <p:cNvPr id="35" name="Text 33"/>
          <p:cNvSpPr/>
          <p:nvPr/>
        </p:nvSpPr>
        <p:spPr>
          <a:xfrm>
            <a:off x="822960" y="3986784"/>
            <a:ext cx="2331720" cy="566928"/>
          </a:xfrm>
          <a:prstGeom prst="rect">
            <a:avLst/>
          </a:prstGeom>
          <a:noFill/>
          <a:ln/>
        </p:spPr>
        <p:txBody>
          <a:bodyPr wrap="square" rtlCol="0" anchor="ctr"/>
          <a:lstStyle/>
          <a:p>
            <a:pPr marL="0" indent="0">
              <a:lnSpc>
                <a:spcPct val="140000"/>
              </a:lnSpc>
              <a:buNone/>
            </a:pPr>
            <a:r>
              <a:rPr lang="en-US" sz="850" dirty="0">
                <a:solidFill>
                  <a:srgbClr val="6060A0"/>
                </a:solidFill>
              </a:rPr>
              <a:t>Price level 1 is consistently most diverse — premium lacks variety</a:t>
            </a:r>
            <a:endParaRPr lang="en-US" sz="850" dirty="0"/>
          </a:p>
        </p:txBody>
      </p:sp>
      <p:sp>
        <p:nvSpPr>
          <p:cNvPr id="36" name="Shape 34"/>
          <p:cNvSpPr/>
          <p:nvPr/>
        </p:nvSpPr>
        <p:spPr>
          <a:xfrm>
            <a:off x="3383280" y="3529584"/>
            <a:ext cx="3017520" cy="1115568"/>
          </a:xfrm>
          <a:prstGeom prst="rect">
            <a:avLst/>
          </a:prstGeom>
          <a:solidFill>
            <a:srgbClr val="12121E"/>
          </a:solidFill>
          <a:ln w="6350">
            <a:solidFill>
              <a:srgbClr val="1A1A28"/>
            </a:solidFill>
            <a:prstDash val="solid"/>
          </a:ln>
          <a:effectLst>
            <a:outerShdw blurRad="101600" dist="38100" dir="8100000" algn="bl" rotWithShape="0">
              <a:srgbClr val="000000">
                <a:alpha val="25000"/>
              </a:srgbClr>
            </a:outerShdw>
          </a:effectLst>
        </p:spPr>
        <p:txBody>
          <a:bodyPr/>
          <a:lstStyle/>
          <a:p>
            <a:endParaRPr lang="en-US"/>
          </a:p>
        </p:txBody>
      </p:sp>
      <p:sp>
        <p:nvSpPr>
          <p:cNvPr id="37" name="Shape 35"/>
          <p:cNvSpPr/>
          <p:nvPr/>
        </p:nvSpPr>
        <p:spPr>
          <a:xfrm>
            <a:off x="3383280" y="3529584"/>
            <a:ext cx="54864" cy="1115568"/>
          </a:xfrm>
          <a:prstGeom prst="rect">
            <a:avLst/>
          </a:prstGeom>
          <a:solidFill>
            <a:srgbClr val="A78BFA"/>
          </a:solidFill>
          <a:ln w="12700">
            <a:solidFill>
              <a:srgbClr val="A78BFA"/>
            </a:solidFill>
            <a:prstDash val="solid"/>
          </a:ln>
        </p:spPr>
        <p:txBody>
          <a:bodyPr/>
          <a:lstStyle/>
          <a:p>
            <a:endParaRPr lang="en-US"/>
          </a:p>
        </p:txBody>
      </p:sp>
      <p:sp>
        <p:nvSpPr>
          <p:cNvPr id="38" name="Shape 36"/>
          <p:cNvSpPr/>
          <p:nvPr/>
        </p:nvSpPr>
        <p:spPr>
          <a:xfrm>
            <a:off x="3493008" y="3666744"/>
            <a:ext cx="384048" cy="384048"/>
          </a:xfrm>
          <a:prstGeom prst="rect">
            <a:avLst/>
          </a:prstGeom>
          <a:solidFill>
            <a:srgbClr val="A78BFA">
              <a:alpha val="25000"/>
            </a:srgbClr>
          </a:solidFill>
          <a:ln w="6350">
            <a:solidFill>
              <a:srgbClr val="A78BFA"/>
            </a:solidFill>
            <a:prstDash val="solid"/>
          </a:ln>
        </p:spPr>
        <p:txBody>
          <a:bodyPr/>
          <a:lstStyle/>
          <a:p>
            <a:endParaRPr lang="en-US"/>
          </a:p>
        </p:txBody>
      </p:sp>
      <p:sp>
        <p:nvSpPr>
          <p:cNvPr id="39" name="Text 37"/>
          <p:cNvSpPr/>
          <p:nvPr/>
        </p:nvSpPr>
        <p:spPr>
          <a:xfrm>
            <a:off x="3493008" y="3666744"/>
            <a:ext cx="384048" cy="384048"/>
          </a:xfrm>
          <a:prstGeom prst="rect">
            <a:avLst/>
          </a:prstGeom>
          <a:noFill/>
          <a:ln/>
        </p:spPr>
        <p:txBody>
          <a:bodyPr wrap="square" rtlCol="0" anchor="ctr"/>
          <a:lstStyle/>
          <a:p>
            <a:pPr marL="0" indent="0" algn="ctr">
              <a:buNone/>
            </a:pPr>
            <a:r>
              <a:rPr lang="en-US" sz="900" b="1" dirty="0">
                <a:solidFill>
                  <a:srgbClr val="A78BFA"/>
                </a:solidFill>
              </a:rPr>
              <a:t>⚙</a:t>
            </a:r>
            <a:endParaRPr lang="en-US" sz="900" dirty="0"/>
          </a:p>
        </p:txBody>
      </p:sp>
      <p:sp>
        <p:nvSpPr>
          <p:cNvPr id="40" name="Text 38"/>
          <p:cNvSpPr/>
          <p:nvPr/>
        </p:nvSpPr>
        <p:spPr>
          <a:xfrm>
            <a:off x="3977640" y="3602736"/>
            <a:ext cx="2286000" cy="347472"/>
          </a:xfrm>
          <a:prstGeom prst="rect">
            <a:avLst/>
          </a:prstGeom>
          <a:noFill/>
          <a:ln/>
        </p:spPr>
        <p:txBody>
          <a:bodyPr wrap="square" rtlCol="0" anchor="ctr"/>
          <a:lstStyle/>
          <a:p>
            <a:pPr marL="0" indent="0">
              <a:buNone/>
            </a:pPr>
            <a:r>
              <a:rPr lang="en-US" sz="1000" b="1" dirty="0">
                <a:solidFill>
                  <a:srgbClr val="A78BFA"/>
                </a:solidFill>
              </a:rPr>
              <a:t>ML Limitation</a:t>
            </a:r>
            <a:endParaRPr lang="en-US" sz="1000" dirty="0"/>
          </a:p>
        </p:txBody>
      </p:sp>
      <p:sp>
        <p:nvSpPr>
          <p:cNvPr id="41" name="Text 39"/>
          <p:cNvSpPr/>
          <p:nvPr/>
        </p:nvSpPr>
        <p:spPr>
          <a:xfrm>
            <a:off x="3977640" y="3986784"/>
            <a:ext cx="2331720" cy="566928"/>
          </a:xfrm>
          <a:prstGeom prst="rect">
            <a:avLst/>
          </a:prstGeom>
          <a:noFill/>
          <a:ln/>
        </p:spPr>
        <p:txBody>
          <a:bodyPr wrap="square" rtlCol="0" anchor="ctr"/>
          <a:lstStyle/>
          <a:p>
            <a:pPr marL="0" indent="0">
              <a:lnSpc>
                <a:spcPct val="140000"/>
              </a:lnSpc>
              <a:buNone/>
            </a:pPr>
            <a:r>
              <a:rPr lang="en-US" sz="850" dirty="0">
                <a:solidFill>
                  <a:srgbClr val="6060A0"/>
                </a:solidFill>
              </a:rPr>
              <a:t>Random Forest achieves 89% accuracy — pricing determined by unmeasured factors</a:t>
            </a:r>
            <a:endParaRPr lang="en-US" sz="850" dirty="0"/>
          </a:p>
        </p:txBody>
      </p:sp>
      <p:sp>
        <p:nvSpPr>
          <p:cNvPr id="42" name="Text 40"/>
          <p:cNvSpPr/>
          <p:nvPr/>
        </p:nvSpPr>
        <p:spPr>
          <a:xfrm>
            <a:off x="6675120" y="365760"/>
            <a:ext cx="2377440" cy="640080"/>
          </a:xfrm>
          <a:prstGeom prst="rect">
            <a:avLst/>
          </a:prstGeom>
          <a:noFill/>
          <a:ln/>
        </p:spPr>
        <p:txBody>
          <a:bodyPr wrap="square" rtlCol="0" anchor="ctr"/>
          <a:lstStyle/>
          <a:p>
            <a:pPr marL="0" indent="0" algn="ctr">
              <a:buNone/>
            </a:pPr>
            <a:r>
              <a:rPr lang="en-US" sz="1400" b="1" dirty="0">
                <a:solidFill>
                  <a:srgbClr val="E8E8FF"/>
                </a:solidFill>
              </a:rPr>
              <a:t>Project</a:t>
            </a:r>
            <a:endParaRPr lang="en-US" sz="1400" dirty="0"/>
          </a:p>
          <a:p>
            <a:pPr marL="0" indent="0" algn="ctr">
              <a:buNone/>
            </a:pPr>
            <a:r>
              <a:rPr lang="en-US" sz="1400" b="1" dirty="0">
                <a:solidFill>
                  <a:srgbClr val="E8E8FF"/>
                </a:solidFill>
              </a:rPr>
              <a:t>Links</a:t>
            </a:r>
            <a:endParaRPr lang="en-US" sz="1400" dirty="0"/>
          </a:p>
        </p:txBody>
      </p:sp>
      <p:sp>
        <p:nvSpPr>
          <p:cNvPr id="43" name="Shape 41"/>
          <p:cNvSpPr/>
          <p:nvPr/>
        </p:nvSpPr>
        <p:spPr>
          <a:xfrm>
            <a:off x="6675120" y="1097280"/>
            <a:ext cx="2331720" cy="1005840"/>
          </a:xfrm>
          <a:prstGeom prst="rect">
            <a:avLst/>
          </a:prstGeom>
          <a:solidFill>
            <a:srgbClr val="12121E"/>
          </a:solidFill>
          <a:ln w="6350">
            <a:solidFill>
              <a:srgbClr val="1A1A28"/>
            </a:solidFill>
            <a:prstDash val="solid"/>
          </a:ln>
        </p:spPr>
        <p:txBody>
          <a:bodyPr/>
          <a:lstStyle/>
          <a:p>
            <a:endParaRPr lang="en-US"/>
          </a:p>
        </p:txBody>
      </p:sp>
      <p:sp>
        <p:nvSpPr>
          <p:cNvPr id="44" name="Text 42"/>
          <p:cNvSpPr/>
          <p:nvPr/>
        </p:nvSpPr>
        <p:spPr>
          <a:xfrm>
            <a:off x="6675120" y="1143000"/>
            <a:ext cx="2331720" cy="320040"/>
          </a:xfrm>
          <a:prstGeom prst="rect">
            <a:avLst/>
          </a:prstGeom>
          <a:noFill/>
          <a:ln/>
        </p:spPr>
        <p:txBody>
          <a:bodyPr wrap="square" rtlCol="0" anchor="ctr"/>
          <a:lstStyle/>
          <a:p>
            <a:pPr marL="0" indent="0" algn="ctr">
              <a:buNone/>
            </a:pPr>
            <a:r>
              <a:rPr lang="en-US" sz="1000" b="1" dirty="0">
                <a:solidFill>
                  <a:srgbClr val="FF6B35"/>
                </a:solidFill>
              </a:rPr>
              <a:t>📓 Notebook</a:t>
            </a:r>
            <a:endParaRPr lang="en-US" sz="1000" dirty="0"/>
          </a:p>
        </p:txBody>
      </p:sp>
      <p:sp>
        <p:nvSpPr>
          <p:cNvPr id="45" name="Text 43"/>
          <p:cNvSpPr/>
          <p:nvPr/>
        </p:nvSpPr>
        <p:spPr>
          <a:xfrm>
            <a:off x="6675120" y="1481328"/>
            <a:ext cx="2331720" cy="502920"/>
          </a:xfrm>
          <a:prstGeom prst="rect">
            <a:avLst/>
          </a:prstGeom>
          <a:noFill/>
          <a:ln/>
        </p:spPr>
        <p:txBody>
          <a:bodyPr wrap="square" rtlCol="0" anchor="ctr"/>
          <a:lstStyle/>
          <a:p>
            <a:pPr marL="0" indent="0" algn="ctr">
              <a:lnSpc>
                <a:spcPct val="140000"/>
              </a:lnSpc>
              <a:buNone/>
            </a:pPr>
            <a:r>
              <a:rPr lang="en-US" sz="800" dirty="0">
                <a:solidFill>
                  <a:srgbClr val="6060A0"/>
                </a:solidFill>
              </a:rPr>
              <a:t>GitHub: AbdulrahmanB-25</a:t>
            </a:r>
            <a:endParaRPr lang="en-US" sz="800" dirty="0"/>
          </a:p>
          <a:p>
            <a:pPr marL="0" indent="0" algn="ctr">
              <a:lnSpc>
                <a:spcPct val="140000"/>
              </a:lnSpc>
              <a:buNone/>
            </a:pPr>
            <a:r>
              <a:rPr lang="en-US" sz="800" dirty="0">
                <a:solidFill>
                  <a:srgbClr val="6060A0"/>
                </a:solidFill>
              </a:rPr>
              <a:t>/EDA_Project</a:t>
            </a:r>
            <a:endParaRPr lang="en-US" sz="800" dirty="0"/>
          </a:p>
        </p:txBody>
      </p:sp>
      <p:sp>
        <p:nvSpPr>
          <p:cNvPr id="46" name="Shape 44"/>
          <p:cNvSpPr/>
          <p:nvPr/>
        </p:nvSpPr>
        <p:spPr>
          <a:xfrm>
            <a:off x="6675120" y="2286000"/>
            <a:ext cx="2331720" cy="1005840"/>
          </a:xfrm>
          <a:prstGeom prst="rect">
            <a:avLst/>
          </a:prstGeom>
          <a:solidFill>
            <a:srgbClr val="12121E"/>
          </a:solidFill>
          <a:ln w="6350">
            <a:solidFill>
              <a:srgbClr val="1A1A28"/>
            </a:solidFill>
            <a:prstDash val="solid"/>
          </a:ln>
        </p:spPr>
        <p:txBody>
          <a:bodyPr/>
          <a:lstStyle/>
          <a:p>
            <a:endParaRPr lang="en-US"/>
          </a:p>
        </p:txBody>
      </p:sp>
      <p:sp>
        <p:nvSpPr>
          <p:cNvPr id="47" name="Text 45"/>
          <p:cNvSpPr/>
          <p:nvPr/>
        </p:nvSpPr>
        <p:spPr>
          <a:xfrm>
            <a:off x="6675120" y="2331720"/>
            <a:ext cx="2331720" cy="320040"/>
          </a:xfrm>
          <a:prstGeom prst="rect">
            <a:avLst/>
          </a:prstGeom>
          <a:noFill/>
          <a:ln/>
        </p:spPr>
        <p:txBody>
          <a:bodyPr wrap="square" rtlCol="0" anchor="ctr"/>
          <a:lstStyle/>
          <a:p>
            <a:pPr marL="0" indent="0" algn="ctr">
              <a:buNone/>
            </a:pPr>
            <a:r>
              <a:rPr lang="en-US" sz="1000" b="1" dirty="0">
                <a:solidFill>
                  <a:srgbClr val="FF6B35"/>
                </a:solidFill>
              </a:rPr>
              <a:t>🌐 Live App</a:t>
            </a:r>
            <a:endParaRPr lang="en-US" sz="1000" dirty="0"/>
          </a:p>
        </p:txBody>
      </p:sp>
      <p:sp>
        <p:nvSpPr>
          <p:cNvPr id="48" name="Text 46"/>
          <p:cNvSpPr/>
          <p:nvPr/>
        </p:nvSpPr>
        <p:spPr>
          <a:xfrm>
            <a:off x="6675120" y="2670048"/>
            <a:ext cx="2331720" cy="502920"/>
          </a:xfrm>
          <a:prstGeom prst="rect">
            <a:avLst/>
          </a:prstGeom>
          <a:noFill/>
          <a:ln/>
        </p:spPr>
        <p:txBody>
          <a:bodyPr wrap="square" rtlCol="0" anchor="ctr"/>
          <a:lstStyle/>
          <a:p>
            <a:pPr marL="0" indent="0" algn="ctr">
              <a:lnSpc>
                <a:spcPct val="140000"/>
              </a:lnSpc>
              <a:buNone/>
            </a:pPr>
            <a:r>
              <a:rPr lang="en-US" sz="800" dirty="0">
                <a:solidFill>
                  <a:srgbClr val="6060A0"/>
                </a:solidFill>
              </a:rPr>
              <a:t>riyadh-restaurant-eda</a:t>
            </a:r>
            <a:endParaRPr lang="en-US" sz="800" dirty="0"/>
          </a:p>
          <a:p>
            <a:pPr marL="0" indent="0" algn="ctr">
              <a:lnSpc>
                <a:spcPct val="140000"/>
              </a:lnSpc>
              <a:buNone/>
            </a:pPr>
            <a:r>
              <a:rPr lang="en-US" sz="800" dirty="0">
                <a:solidFill>
                  <a:srgbClr val="6060A0"/>
                </a:solidFill>
              </a:rPr>
              <a:t>.streamlit.app</a:t>
            </a:r>
            <a:endParaRPr lang="en-US" sz="800" dirty="0"/>
          </a:p>
        </p:txBody>
      </p:sp>
      <p:sp>
        <p:nvSpPr>
          <p:cNvPr id="49" name="Shape 47"/>
          <p:cNvSpPr/>
          <p:nvPr/>
        </p:nvSpPr>
        <p:spPr>
          <a:xfrm>
            <a:off x="6675120" y="3474720"/>
            <a:ext cx="2331720" cy="1005840"/>
          </a:xfrm>
          <a:prstGeom prst="rect">
            <a:avLst/>
          </a:prstGeom>
          <a:solidFill>
            <a:srgbClr val="12121E"/>
          </a:solidFill>
          <a:ln w="6350">
            <a:solidFill>
              <a:srgbClr val="1A1A28"/>
            </a:solidFill>
            <a:prstDash val="solid"/>
          </a:ln>
        </p:spPr>
        <p:txBody>
          <a:bodyPr/>
          <a:lstStyle/>
          <a:p>
            <a:endParaRPr lang="en-US"/>
          </a:p>
        </p:txBody>
      </p:sp>
      <p:sp>
        <p:nvSpPr>
          <p:cNvPr id="50" name="Text 48"/>
          <p:cNvSpPr/>
          <p:nvPr/>
        </p:nvSpPr>
        <p:spPr>
          <a:xfrm>
            <a:off x="6675120" y="3520440"/>
            <a:ext cx="2331720" cy="320040"/>
          </a:xfrm>
          <a:prstGeom prst="rect">
            <a:avLst/>
          </a:prstGeom>
          <a:noFill/>
          <a:ln/>
        </p:spPr>
        <p:txBody>
          <a:bodyPr wrap="square" rtlCol="0" anchor="ctr"/>
          <a:lstStyle/>
          <a:p>
            <a:pPr marL="0" indent="0" algn="ctr">
              <a:buNone/>
            </a:pPr>
            <a:r>
              <a:rPr lang="en-US" sz="1000" b="1" dirty="0">
                <a:solidFill>
                  <a:srgbClr val="FF6B35"/>
                </a:solidFill>
              </a:rPr>
              <a:t>📊 Dataset</a:t>
            </a:r>
            <a:endParaRPr lang="en-US" sz="1000" dirty="0"/>
          </a:p>
        </p:txBody>
      </p:sp>
      <p:sp>
        <p:nvSpPr>
          <p:cNvPr id="51" name="Text 49"/>
          <p:cNvSpPr/>
          <p:nvPr/>
        </p:nvSpPr>
        <p:spPr>
          <a:xfrm>
            <a:off x="6675120" y="3858768"/>
            <a:ext cx="2331720" cy="502920"/>
          </a:xfrm>
          <a:prstGeom prst="rect">
            <a:avLst/>
          </a:prstGeom>
          <a:noFill/>
          <a:ln/>
        </p:spPr>
        <p:txBody>
          <a:bodyPr wrap="square" rtlCol="0" anchor="ctr"/>
          <a:lstStyle/>
          <a:p>
            <a:pPr marL="0" indent="0" algn="ctr">
              <a:lnSpc>
                <a:spcPct val="140000"/>
              </a:lnSpc>
              <a:buNone/>
            </a:pPr>
            <a:r>
              <a:rPr lang="en-US" sz="800" dirty="0">
                <a:solidFill>
                  <a:srgbClr val="6060A0"/>
                </a:solidFill>
              </a:rPr>
              <a:t>Kaggle: mohammedaldakhil</a:t>
            </a:r>
            <a:endParaRPr lang="en-US" sz="800" dirty="0"/>
          </a:p>
          <a:p>
            <a:pPr marL="0" indent="0" algn="ctr">
              <a:lnSpc>
                <a:spcPct val="140000"/>
              </a:lnSpc>
              <a:buNone/>
            </a:pPr>
            <a:r>
              <a:rPr lang="en-US" sz="800" dirty="0">
                <a:solidFill>
                  <a:srgbClr val="6060A0"/>
                </a:solidFill>
              </a:rPr>
              <a:t>/27k-riyadh-places-raw</a:t>
            </a:r>
            <a:endParaRPr lang="en-US" sz="800" dirty="0"/>
          </a:p>
        </p:txBody>
      </p:sp>
      <p:sp>
        <p:nvSpPr>
          <p:cNvPr id="52" name="Text 50"/>
          <p:cNvSpPr/>
          <p:nvPr/>
        </p:nvSpPr>
        <p:spPr>
          <a:xfrm>
            <a:off x="228600" y="4892040"/>
            <a:ext cx="6126480" cy="228600"/>
          </a:xfrm>
          <a:prstGeom prst="rect">
            <a:avLst/>
          </a:prstGeom>
          <a:noFill/>
          <a:ln/>
        </p:spPr>
        <p:txBody>
          <a:bodyPr wrap="square" rtlCol="0" anchor="ctr"/>
          <a:lstStyle/>
          <a:p>
            <a:pPr marL="0" indent="0">
              <a:buNone/>
            </a:pPr>
            <a:r>
              <a:rPr lang="en-US" sz="750" dirty="0">
                <a:solidFill>
                  <a:srgbClr val="2A2A40"/>
                </a:solidFill>
              </a:rPr>
              <a:t>Unit 3 Final Project · Riyadh Restaurant EDA · Data: Kaggle / Foursquare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4715</Words>
  <Application>Microsoft Office PowerPoint</Application>
  <PresentationFormat>On-screen Show (16:9)</PresentationFormat>
  <Paragraphs>714</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Riyadh Restaurant EDA Project</dc:title>
  <dc:subject>PptxGenJS Presentation</dc:subject>
  <dc:creator>PptxGenJS</dc:creator>
  <cp:lastModifiedBy>Hmnae B</cp:lastModifiedBy>
  <cp:revision>5</cp:revision>
  <dcterms:created xsi:type="dcterms:W3CDTF">2026-03-11T02:25:00Z</dcterms:created>
  <dcterms:modified xsi:type="dcterms:W3CDTF">2026-03-29T13:42:06Z</dcterms:modified>
</cp:coreProperties>
</file>